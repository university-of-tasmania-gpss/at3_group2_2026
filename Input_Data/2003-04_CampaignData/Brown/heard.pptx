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9" r:id="rId1"/>
  </p:sldMasterIdLst>
  <p:sldIdLst>
    <p:sldId id="277" r:id="rId2"/>
    <p:sldId id="285" r:id="rId3"/>
    <p:sldId id="256" r:id="rId4"/>
    <p:sldId id="257" r:id="rId5"/>
    <p:sldId id="258" r:id="rId6"/>
    <p:sldId id="259" r:id="rId7"/>
    <p:sldId id="276" r:id="rId8"/>
    <p:sldId id="262" r:id="rId9"/>
    <p:sldId id="283" r:id="rId10"/>
    <p:sldId id="267" r:id="rId11"/>
    <p:sldId id="279" r:id="rId12"/>
    <p:sldId id="280" r:id="rId13"/>
    <p:sldId id="278" r:id="rId14"/>
    <p:sldId id="284" r:id="rId15"/>
    <p:sldId id="275" r:id="rId16"/>
    <p:sldId id="281" r:id="rId17"/>
    <p:sldId id="265" r:id="rId18"/>
    <p:sldId id="263" r:id="rId19"/>
    <p:sldId id="266" r:id="rId20"/>
    <p:sldId id="272" r:id="rId21"/>
    <p:sldId id="271" r:id="rId22"/>
    <p:sldId id="269" r:id="rId23"/>
    <p:sldId id="273" r:id="rId24"/>
    <p:sldId id="270" r:id="rId25"/>
    <p:sldId id="274" r:id="rId26"/>
    <p:sldId id="292" r:id="rId27"/>
    <p:sldId id="261" r:id="rId28"/>
    <p:sldId id="288" r:id="rId29"/>
    <p:sldId id="289" r:id="rId30"/>
    <p:sldId id="290" r:id="rId31"/>
    <p:sldId id="282" r:id="rId32"/>
    <p:sldId id="287" r:id="rId33"/>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CC00"/>
    <a:srgbClr val="000000"/>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1277" y="67"/>
      </p:cViewPr>
      <p:guideLst>
        <p:guide orient="horz" pos="2160"/>
        <p:guide pos="2880"/>
      </p:guideLst>
    </p:cSldViewPr>
  </p:slideViewPr>
  <p:notesTextViewPr>
    <p:cViewPr>
      <p:scale>
        <a:sx n="1" d="1"/>
        <a:sy n="1" d="1"/>
      </p:scale>
      <p:origin x="0" y="0"/>
    </p:cViewPr>
  </p:notesTextViewPr>
  <p:sorterViewPr>
    <p:cViewPr>
      <p:scale>
        <a:sx n="66" d="100"/>
        <a:sy n="66" d="100"/>
      </p:scale>
      <p:origin x="0" y="344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image" Target="../media/image24.e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image" Target="../media/image26.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9.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0.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3074" name="Rectangle 2"/>
          <p:cNvSpPr>
            <a:spLocks noChangeArrowheads="1"/>
          </p:cNvSpPr>
          <p:nvPr/>
        </p:nvSpPr>
        <p:spPr bwMode="ltGray">
          <a:xfrm>
            <a:off x="0" y="0"/>
            <a:ext cx="825500" cy="6858000"/>
          </a:xfrm>
          <a:prstGeom prst="rect">
            <a:avLst/>
          </a:prstGeom>
          <a:solidFill>
            <a:schemeClr val="tx2">
              <a:alpha val="50000"/>
            </a:schemeClr>
          </a:solidFill>
          <a:ln>
            <a:noFill/>
          </a:ln>
          <a:extLst>
            <a:ext uri="{91240B29-F687-4F45-9708-019B960494DF}">
              <a14:hiddenLine xmlns:a14="http://schemas.microsoft.com/office/drawing/2010/main" w="9525">
                <a:solidFill>
                  <a:schemeClr val="bg1"/>
                </a:solidFill>
                <a:miter lim="800000"/>
                <a:headEnd/>
                <a:tailEnd/>
              </a14:hiddenLine>
            </a:ext>
          </a:extLst>
        </p:spPr>
        <p:txBody>
          <a:bodyPr wrap="none" anchor="ctr"/>
          <a:lstStyle/>
          <a:p>
            <a:endParaRPr lang="en-AU"/>
          </a:p>
        </p:txBody>
      </p:sp>
      <p:sp>
        <p:nvSpPr>
          <p:cNvPr id="3075" name="Rectangle 3"/>
          <p:cNvSpPr>
            <a:spLocks noGrp="1" noChangeArrowheads="1"/>
          </p:cNvSpPr>
          <p:nvPr>
            <p:ph type="ctrTitle"/>
          </p:nvPr>
        </p:nvSpPr>
        <p:spPr>
          <a:xfrm>
            <a:off x="685800" y="2133600"/>
            <a:ext cx="7772400" cy="1143000"/>
          </a:xfrm>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a:lvl1pPr>
          </a:lstStyle>
          <a:p>
            <a:pPr lvl="0"/>
            <a:r>
              <a:rPr lang="en-US" altLang="en-US" noProof="0" smtClean="0"/>
              <a:t>Click to edit Master title style</a:t>
            </a:r>
          </a:p>
        </p:txBody>
      </p:sp>
      <p:sp>
        <p:nvSpPr>
          <p:cNvPr id="3076" name="Rectangle 4"/>
          <p:cNvSpPr>
            <a:spLocks noGrp="1" noChangeArrowheads="1"/>
          </p:cNvSpPr>
          <p:nvPr>
            <p:ph type="subTitle" idx="1"/>
          </p:nvPr>
        </p:nvSpPr>
        <p:spPr>
          <a:xfrm>
            <a:off x="1447800" y="3886200"/>
            <a:ext cx="6400800" cy="1752600"/>
          </a:xfrm>
        </p:spPr>
        <p:txBody>
          <a:bodyPr/>
          <a:lstStyle>
            <a:lvl1pPr marL="0" indent="0" algn="ctr">
              <a:buFont typeface="Monotype Sorts" pitchFamily="2" charset="2"/>
              <a:buNone/>
              <a:defRPr/>
            </a:lvl1pPr>
          </a:lstStyle>
          <a:p>
            <a:pPr lvl="0"/>
            <a:r>
              <a:rPr lang="en-US" altLang="en-US" noProof="0" smtClean="0"/>
              <a:t>Click to edit Master subtitle style</a:t>
            </a:r>
          </a:p>
        </p:txBody>
      </p:sp>
      <p:sp>
        <p:nvSpPr>
          <p:cNvPr id="3077" name="Rectangle 5"/>
          <p:cNvSpPr>
            <a:spLocks noGrp="1" noChangeArrowheads="1"/>
          </p:cNvSpPr>
          <p:nvPr>
            <p:ph type="dt" sz="half" idx="2"/>
          </p:nvPr>
        </p:nvSpPr>
        <p:spPr/>
        <p:txBody>
          <a:bodyPr/>
          <a:lstStyle>
            <a:lvl1pPr>
              <a:defRPr>
                <a:solidFill>
                  <a:srgbClr val="CCECFF"/>
                </a:solidFill>
              </a:defRPr>
            </a:lvl1pPr>
          </a:lstStyle>
          <a:p>
            <a:endParaRPr lang="en-US" altLang="en-US"/>
          </a:p>
        </p:txBody>
      </p:sp>
      <p:sp>
        <p:nvSpPr>
          <p:cNvPr id="3078" name="Rectangle 6"/>
          <p:cNvSpPr>
            <a:spLocks noGrp="1" noChangeArrowheads="1"/>
          </p:cNvSpPr>
          <p:nvPr>
            <p:ph type="ftr" sz="quarter" idx="3"/>
          </p:nvPr>
        </p:nvSpPr>
        <p:spPr/>
        <p:txBody>
          <a:bodyPr/>
          <a:lstStyle>
            <a:lvl1pPr>
              <a:defRPr>
                <a:solidFill>
                  <a:srgbClr val="CCECFF"/>
                </a:solidFill>
              </a:defRPr>
            </a:lvl1pPr>
          </a:lstStyle>
          <a:p>
            <a:endParaRPr lang="en-US" altLang="en-US"/>
          </a:p>
        </p:txBody>
      </p:sp>
      <p:sp>
        <p:nvSpPr>
          <p:cNvPr id="3079" name="Rectangle 7"/>
          <p:cNvSpPr>
            <a:spLocks noGrp="1" noChangeArrowheads="1"/>
          </p:cNvSpPr>
          <p:nvPr>
            <p:ph type="sldNum" sz="quarter" idx="4"/>
          </p:nvPr>
        </p:nvSpPr>
        <p:spPr/>
        <p:txBody>
          <a:bodyPr/>
          <a:lstStyle>
            <a:lvl1pPr>
              <a:defRPr>
                <a:solidFill>
                  <a:srgbClr val="CCECFF"/>
                </a:solidFill>
              </a:defRPr>
            </a:lvl1pPr>
          </a:lstStyle>
          <a:p>
            <a:fld id="{BE6FFA80-DBA0-42E7-8161-339EC5081A32}" type="slidenum">
              <a:rPr lang="en-US" altLang="en-US"/>
              <a:pPr/>
              <a:t>‹#›</a:t>
            </a:fld>
            <a:endParaRPr lang="en-US" altLang="en-US"/>
          </a:p>
        </p:txBody>
      </p:sp>
      <p:sp>
        <p:nvSpPr>
          <p:cNvPr id="3080" name="Rectangle 8"/>
          <p:cNvSpPr>
            <a:spLocks noChangeArrowheads="1"/>
          </p:cNvSpPr>
          <p:nvPr/>
        </p:nvSpPr>
        <p:spPr bwMode="ltGray">
          <a:xfrm>
            <a:off x="0" y="3543300"/>
            <a:ext cx="3343275" cy="122238"/>
          </a:xfrm>
          <a:prstGeom prst="rect">
            <a:avLst/>
          </a:prstGeom>
          <a:solidFill>
            <a:schemeClr val="bg2">
              <a:alpha val="50000"/>
            </a:schemeClr>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en-AU"/>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2000"/>
                                  </p:stCondLst>
                                  <p:childTnLst>
                                    <p:set>
                                      <p:cBhvr>
                                        <p:cTn id="6" dur="1" fill="hold">
                                          <p:stCondLst>
                                            <p:cond delay="0"/>
                                          </p:stCondLst>
                                        </p:cTn>
                                        <p:tgtEl>
                                          <p:spTgt spid="3074"/>
                                        </p:tgtEl>
                                        <p:attrNameLst>
                                          <p:attrName>style.visibility</p:attrName>
                                        </p:attrNameLst>
                                      </p:cBhvr>
                                      <p:to>
                                        <p:strVal val="visible"/>
                                      </p:to>
                                    </p:set>
                                    <p:animEffect transition="in" filter="wipe(up)">
                                      <p:cBhvr>
                                        <p:cTn id="7" dur="500"/>
                                        <p:tgtEl>
                                          <p:spTgt spid="3074"/>
                                        </p:tgtEl>
                                      </p:cBhvr>
                                    </p:animEffect>
                                  </p:childTnLst>
                                </p:cTn>
                              </p:par>
                            </p:childTnLst>
                          </p:cTn>
                        </p:par>
                        <p:par>
                          <p:cTn id="8" fill="hold" nodeType="afterGroup">
                            <p:stCondLst>
                              <p:cond delay="2500"/>
                            </p:stCondLst>
                            <p:childTnLst>
                              <p:par>
                                <p:cTn id="9" presetID="22" presetClass="entr" presetSubtype="2" fill="hold" nodeType="afterEffect">
                                  <p:stCondLst>
                                    <p:cond delay="3000"/>
                                  </p:stCondLst>
                                  <p:childTnLst>
                                    <p:set>
                                      <p:cBhvr>
                                        <p:cTn id="10" dur="1" fill="hold">
                                          <p:stCondLst>
                                            <p:cond delay="0"/>
                                          </p:stCondLst>
                                        </p:cTn>
                                        <p:tgtEl>
                                          <p:spTgt spid="3080"/>
                                        </p:tgtEl>
                                        <p:attrNameLst>
                                          <p:attrName>style.visibility</p:attrName>
                                        </p:attrNameLst>
                                      </p:cBhvr>
                                      <p:to>
                                        <p:strVal val="visible"/>
                                      </p:to>
                                    </p:set>
                                    <p:animEffect transition="in" filter="wipe(right)">
                                      <p:cBhvr>
                                        <p:cTn id="11" dur="500"/>
                                        <p:tgtEl>
                                          <p:spTgt spid="30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lvl1pPr>
              <a:defRPr/>
            </a:lvl1pPr>
          </a:lstStyle>
          <a:p>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1E277A59-4AAA-4425-80D1-589724FF44D1}" type="slidenum">
              <a:rPr lang="en-US" altLang="en-US"/>
              <a:pPr/>
              <a:t>‹#›</a:t>
            </a:fld>
            <a:endParaRPr lang="en-US" altLang="en-US"/>
          </a:p>
        </p:txBody>
      </p:sp>
    </p:spTree>
    <p:extLst>
      <p:ext uri="{BB962C8B-B14F-4D97-AF65-F5344CB8AC3E}">
        <p14:creationId xmlns:p14="http://schemas.microsoft.com/office/powerpoint/2010/main" val="41119547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Edit Master text styles</a:t>
            </a:r>
          </a:p>
        </p:txBody>
      </p:sp>
      <p:sp>
        <p:nvSpPr>
          <p:cNvPr id="4" name="Date Placeholder 3"/>
          <p:cNvSpPr>
            <a:spLocks noGrp="1"/>
          </p:cNvSpPr>
          <p:nvPr>
            <p:ph type="dt" sz="half" idx="10"/>
          </p:nvPr>
        </p:nvSpPr>
        <p:spPr/>
        <p:txBody>
          <a:bodyPr/>
          <a:lstStyle>
            <a:lvl1pPr>
              <a:defRPr/>
            </a:lvl1pPr>
          </a:lstStyle>
          <a:p>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42A9552E-4AFF-4734-A8A3-49347440AC77}" type="slidenum">
              <a:rPr lang="en-US" altLang="en-US"/>
              <a:pPr/>
              <a:t>‹#›</a:t>
            </a:fld>
            <a:endParaRPr lang="en-US" altLang="en-US"/>
          </a:p>
        </p:txBody>
      </p:sp>
    </p:spTree>
    <p:extLst>
      <p:ext uri="{BB962C8B-B14F-4D97-AF65-F5344CB8AC3E}">
        <p14:creationId xmlns:p14="http://schemas.microsoft.com/office/powerpoint/2010/main" val="36793739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685800" y="1981200"/>
            <a:ext cx="3810000" cy="41148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48200" y="1981200"/>
            <a:ext cx="3810000" cy="41148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lvl1pPr>
              <a:defRPr/>
            </a:lvl1pPr>
          </a:lstStyle>
          <a:p>
            <a:endParaRPr lang="en-US" altLang="en-US"/>
          </a:p>
        </p:txBody>
      </p:sp>
      <p:sp>
        <p:nvSpPr>
          <p:cNvPr id="6" name="Footer Placeholder 5"/>
          <p:cNvSpPr>
            <a:spLocks noGrp="1"/>
          </p:cNvSpPr>
          <p:nvPr>
            <p:ph type="ftr" sz="quarter" idx="11"/>
          </p:nvPr>
        </p:nvSpPr>
        <p:spPr/>
        <p:txBody>
          <a:bodyPr/>
          <a:lstStyle>
            <a:lvl1pPr>
              <a:defRPr/>
            </a:lvl1pPr>
          </a:lstStyle>
          <a:p>
            <a:endParaRPr lang="en-US" altLang="en-US"/>
          </a:p>
        </p:txBody>
      </p:sp>
      <p:sp>
        <p:nvSpPr>
          <p:cNvPr id="7" name="Slide Number Placeholder 6"/>
          <p:cNvSpPr>
            <a:spLocks noGrp="1"/>
          </p:cNvSpPr>
          <p:nvPr>
            <p:ph type="sldNum" sz="quarter" idx="12"/>
          </p:nvPr>
        </p:nvSpPr>
        <p:spPr/>
        <p:txBody>
          <a:bodyPr/>
          <a:lstStyle>
            <a:lvl1pPr>
              <a:defRPr/>
            </a:lvl1pPr>
          </a:lstStyle>
          <a:p>
            <a:fld id="{D9103706-DB7A-4039-A70C-04C5C28ADA74}" type="slidenum">
              <a:rPr lang="en-US" altLang="en-US"/>
              <a:pPr/>
              <a:t>‹#›</a:t>
            </a:fld>
            <a:endParaRPr lang="en-US" altLang="en-US"/>
          </a:p>
        </p:txBody>
      </p:sp>
    </p:spTree>
    <p:extLst>
      <p:ext uri="{BB962C8B-B14F-4D97-AF65-F5344CB8AC3E}">
        <p14:creationId xmlns:p14="http://schemas.microsoft.com/office/powerpoint/2010/main" val="3122236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lvl1pPr>
              <a:defRPr/>
            </a:lvl1pPr>
          </a:lstStyle>
          <a:p>
            <a:endParaRPr lang="en-US" altLang="en-US"/>
          </a:p>
        </p:txBody>
      </p:sp>
      <p:sp>
        <p:nvSpPr>
          <p:cNvPr id="8" name="Footer Placeholder 7"/>
          <p:cNvSpPr>
            <a:spLocks noGrp="1"/>
          </p:cNvSpPr>
          <p:nvPr>
            <p:ph type="ftr" sz="quarter" idx="11"/>
          </p:nvPr>
        </p:nvSpPr>
        <p:spPr/>
        <p:txBody>
          <a:bodyPr/>
          <a:lstStyle>
            <a:lvl1pPr>
              <a:defRPr/>
            </a:lvl1pPr>
          </a:lstStyle>
          <a:p>
            <a:endParaRPr lang="en-US" altLang="en-US"/>
          </a:p>
        </p:txBody>
      </p:sp>
      <p:sp>
        <p:nvSpPr>
          <p:cNvPr id="9" name="Slide Number Placeholder 8"/>
          <p:cNvSpPr>
            <a:spLocks noGrp="1"/>
          </p:cNvSpPr>
          <p:nvPr>
            <p:ph type="sldNum" sz="quarter" idx="12"/>
          </p:nvPr>
        </p:nvSpPr>
        <p:spPr/>
        <p:txBody>
          <a:bodyPr/>
          <a:lstStyle>
            <a:lvl1pPr>
              <a:defRPr/>
            </a:lvl1pPr>
          </a:lstStyle>
          <a:p>
            <a:fld id="{8E80A398-62B7-449D-9EAF-8A1614D7BBFC}" type="slidenum">
              <a:rPr lang="en-US" altLang="en-US"/>
              <a:pPr/>
              <a:t>‹#›</a:t>
            </a:fld>
            <a:endParaRPr lang="en-US" altLang="en-US"/>
          </a:p>
        </p:txBody>
      </p:sp>
    </p:spTree>
    <p:extLst>
      <p:ext uri="{BB962C8B-B14F-4D97-AF65-F5344CB8AC3E}">
        <p14:creationId xmlns:p14="http://schemas.microsoft.com/office/powerpoint/2010/main" val="3006008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lvl1pPr>
              <a:defRPr/>
            </a:lvl1pPr>
          </a:lstStyle>
          <a:p>
            <a:endParaRPr lang="en-US" altLang="en-US"/>
          </a:p>
        </p:txBody>
      </p:sp>
      <p:sp>
        <p:nvSpPr>
          <p:cNvPr id="4" name="Footer Placeholder 3"/>
          <p:cNvSpPr>
            <a:spLocks noGrp="1"/>
          </p:cNvSpPr>
          <p:nvPr>
            <p:ph type="ftr" sz="quarter" idx="11"/>
          </p:nvPr>
        </p:nvSpPr>
        <p:spPr/>
        <p:txBody>
          <a:bodyPr/>
          <a:lstStyle>
            <a:lvl1pPr>
              <a:defRPr/>
            </a:lvl1pPr>
          </a:lstStyle>
          <a:p>
            <a:endParaRPr lang="en-US" altLang="en-US"/>
          </a:p>
        </p:txBody>
      </p:sp>
      <p:sp>
        <p:nvSpPr>
          <p:cNvPr id="5" name="Slide Number Placeholder 4"/>
          <p:cNvSpPr>
            <a:spLocks noGrp="1"/>
          </p:cNvSpPr>
          <p:nvPr>
            <p:ph type="sldNum" sz="quarter" idx="12"/>
          </p:nvPr>
        </p:nvSpPr>
        <p:spPr/>
        <p:txBody>
          <a:bodyPr/>
          <a:lstStyle>
            <a:lvl1pPr>
              <a:defRPr/>
            </a:lvl1pPr>
          </a:lstStyle>
          <a:p>
            <a:fld id="{889932A7-F5DE-4137-9CDE-01B29A69A0E5}" type="slidenum">
              <a:rPr lang="en-US" altLang="en-US"/>
              <a:pPr/>
              <a:t>‹#›</a:t>
            </a:fld>
            <a:endParaRPr lang="en-US" altLang="en-US"/>
          </a:p>
        </p:txBody>
      </p:sp>
    </p:spTree>
    <p:extLst>
      <p:ext uri="{BB962C8B-B14F-4D97-AF65-F5344CB8AC3E}">
        <p14:creationId xmlns:p14="http://schemas.microsoft.com/office/powerpoint/2010/main" val="20325610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ltLang="en-US"/>
          </a:p>
        </p:txBody>
      </p:sp>
      <p:sp>
        <p:nvSpPr>
          <p:cNvPr id="3" name="Footer Placeholder 2"/>
          <p:cNvSpPr>
            <a:spLocks noGrp="1"/>
          </p:cNvSpPr>
          <p:nvPr>
            <p:ph type="ftr" sz="quarter" idx="11"/>
          </p:nvPr>
        </p:nvSpPr>
        <p:spPr/>
        <p:txBody>
          <a:bodyPr/>
          <a:lstStyle>
            <a:lvl1pPr>
              <a:defRPr/>
            </a:lvl1pPr>
          </a:lstStyle>
          <a:p>
            <a:endParaRPr lang="en-US" altLang="en-US"/>
          </a:p>
        </p:txBody>
      </p:sp>
      <p:sp>
        <p:nvSpPr>
          <p:cNvPr id="4" name="Slide Number Placeholder 3"/>
          <p:cNvSpPr>
            <a:spLocks noGrp="1"/>
          </p:cNvSpPr>
          <p:nvPr>
            <p:ph type="sldNum" sz="quarter" idx="12"/>
          </p:nvPr>
        </p:nvSpPr>
        <p:spPr/>
        <p:txBody>
          <a:bodyPr/>
          <a:lstStyle>
            <a:lvl1pPr>
              <a:defRPr/>
            </a:lvl1pPr>
          </a:lstStyle>
          <a:p>
            <a:fld id="{5F4F4BCF-C336-4476-B415-53FB66FA3EA9}" type="slidenum">
              <a:rPr lang="en-US" altLang="en-US"/>
              <a:pPr/>
              <a:t>‹#›</a:t>
            </a:fld>
            <a:endParaRPr lang="en-US" altLang="en-US"/>
          </a:p>
        </p:txBody>
      </p:sp>
    </p:spTree>
    <p:extLst>
      <p:ext uri="{BB962C8B-B14F-4D97-AF65-F5344CB8AC3E}">
        <p14:creationId xmlns:p14="http://schemas.microsoft.com/office/powerpoint/2010/main" val="1440544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lvl1pPr>
              <a:defRPr/>
            </a:lvl1pPr>
          </a:lstStyle>
          <a:p>
            <a:endParaRPr lang="en-US" altLang="en-US"/>
          </a:p>
        </p:txBody>
      </p:sp>
      <p:sp>
        <p:nvSpPr>
          <p:cNvPr id="6" name="Footer Placeholder 5"/>
          <p:cNvSpPr>
            <a:spLocks noGrp="1"/>
          </p:cNvSpPr>
          <p:nvPr>
            <p:ph type="ftr" sz="quarter" idx="11"/>
          </p:nvPr>
        </p:nvSpPr>
        <p:spPr/>
        <p:txBody>
          <a:bodyPr/>
          <a:lstStyle>
            <a:lvl1pPr>
              <a:defRPr/>
            </a:lvl1pPr>
          </a:lstStyle>
          <a:p>
            <a:endParaRPr lang="en-US" altLang="en-US"/>
          </a:p>
        </p:txBody>
      </p:sp>
      <p:sp>
        <p:nvSpPr>
          <p:cNvPr id="7" name="Slide Number Placeholder 6"/>
          <p:cNvSpPr>
            <a:spLocks noGrp="1"/>
          </p:cNvSpPr>
          <p:nvPr>
            <p:ph type="sldNum" sz="quarter" idx="12"/>
          </p:nvPr>
        </p:nvSpPr>
        <p:spPr/>
        <p:txBody>
          <a:bodyPr/>
          <a:lstStyle>
            <a:lvl1pPr>
              <a:defRPr/>
            </a:lvl1pPr>
          </a:lstStyle>
          <a:p>
            <a:fld id="{3078CDCC-52C3-40BD-BFBD-DA7889FB18E5}" type="slidenum">
              <a:rPr lang="en-US" altLang="en-US"/>
              <a:pPr/>
              <a:t>‹#›</a:t>
            </a:fld>
            <a:endParaRPr lang="en-US" altLang="en-US"/>
          </a:p>
        </p:txBody>
      </p:sp>
    </p:spTree>
    <p:extLst>
      <p:ext uri="{BB962C8B-B14F-4D97-AF65-F5344CB8AC3E}">
        <p14:creationId xmlns:p14="http://schemas.microsoft.com/office/powerpoint/2010/main" val="5154936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lvl1pPr>
              <a:defRPr/>
            </a:lvl1pPr>
          </a:lstStyle>
          <a:p>
            <a:endParaRPr lang="en-US" altLang="en-US"/>
          </a:p>
        </p:txBody>
      </p:sp>
      <p:sp>
        <p:nvSpPr>
          <p:cNvPr id="6" name="Footer Placeholder 5"/>
          <p:cNvSpPr>
            <a:spLocks noGrp="1"/>
          </p:cNvSpPr>
          <p:nvPr>
            <p:ph type="ftr" sz="quarter" idx="11"/>
          </p:nvPr>
        </p:nvSpPr>
        <p:spPr/>
        <p:txBody>
          <a:bodyPr/>
          <a:lstStyle>
            <a:lvl1pPr>
              <a:defRPr/>
            </a:lvl1pPr>
          </a:lstStyle>
          <a:p>
            <a:endParaRPr lang="en-US" altLang="en-US"/>
          </a:p>
        </p:txBody>
      </p:sp>
      <p:sp>
        <p:nvSpPr>
          <p:cNvPr id="7" name="Slide Number Placeholder 6"/>
          <p:cNvSpPr>
            <a:spLocks noGrp="1"/>
          </p:cNvSpPr>
          <p:nvPr>
            <p:ph type="sldNum" sz="quarter" idx="12"/>
          </p:nvPr>
        </p:nvSpPr>
        <p:spPr/>
        <p:txBody>
          <a:bodyPr/>
          <a:lstStyle>
            <a:lvl1pPr>
              <a:defRPr/>
            </a:lvl1pPr>
          </a:lstStyle>
          <a:p>
            <a:fld id="{562A56E8-3336-427F-878E-2A3BB6090D9F}" type="slidenum">
              <a:rPr lang="en-US" altLang="en-US"/>
              <a:pPr/>
              <a:t>‹#›</a:t>
            </a:fld>
            <a:endParaRPr lang="en-US" altLang="en-US"/>
          </a:p>
        </p:txBody>
      </p:sp>
    </p:spTree>
    <p:extLst>
      <p:ext uri="{BB962C8B-B14F-4D97-AF65-F5344CB8AC3E}">
        <p14:creationId xmlns:p14="http://schemas.microsoft.com/office/powerpoint/2010/main" val="20916022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lvl1pPr>
              <a:defRPr/>
            </a:lvl1pPr>
          </a:lstStyle>
          <a:p>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06F65F18-69EE-4D13-A430-B5E81577BF66}" type="slidenum">
              <a:rPr lang="en-US" altLang="en-US"/>
              <a:pPr/>
              <a:t>‹#›</a:t>
            </a:fld>
            <a:endParaRPr lang="en-US" altLang="en-US"/>
          </a:p>
        </p:txBody>
      </p:sp>
    </p:spTree>
    <p:extLst>
      <p:ext uri="{BB962C8B-B14F-4D97-AF65-F5344CB8AC3E}">
        <p14:creationId xmlns:p14="http://schemas.microsoft.com/office/powerpoint/2010/main" val="6787384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00800" y="457200"/>
            <a:ext cx="2057400" cy="5638800"/>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228600" y="457200"/>
            <a:ext cx="6019800" cy="563880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lvl1pPr>
              <a:defRPr/>
            </a:lvl1pPr>
          </a:lstStyle>
          <a:p>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B6B86A5B-9E7A-4644-A32D-C2EE3F2C8F19}" type="slidenum">
              <a:rPr lang="en-US" altLang="en-US"/>
              <a:pPr/>
              <a:t>‹#›</a:t>
            </a:fld>
            <a:endParaRPr lang="en-US" altLang="en-US"/>
          </a:p>
        </p:txBody>
      </p:sp>
    </p:spTree>
    <p:extLst>
      <p:ext uri="{BB962C8B-B14F-4D97-AF65-F5344CB8AC3E}">
        <p14:creationId xmlns:p14="http://schemas.microsoft.com/office/powerpoint/2010/main" val="2371536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228600" y="457200"/>
            <a:ext cx="7772400"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smtClean="0"/>
              <a:t>Click to edit Master title style</a:t>
            </a:r>
          </a:p>
        </p:txBody>
      </p:sp>
      <p:sp>
        <p:nvSpPr>
          <p:cNvPr id="2051"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2052" name="Rectangle 4"/>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50000"/>
              </a:spcBef>
              <a:defRPr sz="1400"/>
            </a:lvl1pPr>
          </a:lstStyle>
          <a:p>
            <a:endParaRPr lang="en-US" altLang="en-US"/>
          </a:p>
        </p:txBody>
      </p:sp>
      <p:sp>
        <p:nvSpPr>
          <p:cNvPr id="2053" name="Rectangle 5"/>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ctr">
              <a:spcBef>
                <a:spcPct val="50000"/>
              </a:spcBef>
              <a:defRPr sz="1400"/>
            </a:lvl1pPr>
          </a:lstStyle>
          <a:p>
            <a:endParaRPr lang="en-US" altLang="en-US"/>
          </a:p>
        </p:txBody>
      </p:sp>
      <p:sp>
        <p:nvSpPr>
          <p:cNvPr id="2054" name="Rectangle 6"/>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spcBef>
                <a:spcPct val="50000"/>
              </a:spcBef>
              <a:defRPr sz="1400"/>
            </a:lvl1pPr>
          </a:lstStyle>
          <a:p>
            <a:fld id="{4232B06A-4BCE-449C-9347-7EEA369D20E1}" type="slidenum">
              <a:rPr lang="en-US" altLang="en-US"/>
              <a:pPr/>
              <a:t>‹#›</a:t>
            </a:fld>
            <a:endParaRPr lang="en-US" altLang="en-US"/>
          </a:p>
        </p:txBody>
      </p:sp>
    </p:spTree>
  </p:cSld>
  <p:clrMap bg1="dk2" tx1="lt1" bg2="dk1"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ctr" rtl="0" eaLnBrk="0" fontAlgn="base" hangingPunct="0">
        <a:spcBef>
          <a:spcPct val="0"/>
        </a:spcBef>
        <a:spcAft>
          <a:spcPct val="0"/>
        </a:spcAft>
        <a:defRPr kumimoji="1" sz="4400" kern="12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defRPr>
      </a:lvl2pPr>
      <a:lvl3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defRPr>
      </a:lvl3pPr>
      <a:lvl4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defRPr>
      </a:lvl4pPr>
      <a:lvl5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defRPr>
      </a:lvl5pPr>
      <a:lvl6pPr marL="457200"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defRPr>
      </a:lvl6pPr>
      <a:lvl7pPr marL="914400"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defRPr>
      </a:lvl7pPr>
      <a:lvl8pPr marL="1371600"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defRPr>
      </a:lvl8pPr>
      <a:lvl9pPr marL="1828800"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defRPr>
      </a:lvl9pPr>
    </p:titleStyle>
    <p:bodyStyle>
      <a:lvl1pPr marL="342900" indent="-342900" algn="l" rtl="0" eaLnBrk="0" fontAlgn="base" hangingPunct="0">
        <a:spcBef>
          <a:spcPct val="20000"/>
        </a:spcBef>
        <a:spcAft>
          <a:spcPct val="0"/>
        </a:spcAft>
        <a:buClr>
          <a:schemeClr val="folHlink"/>
        </a:buClr>
        <a:buSzPct val="75000"/>
        <a:buFont typeface="Monotype Sorts" pitchFamily="2" charset="2"/>
        <a:buChar char="n"/>
        <a:defRPr kumimoji="1" sz="3200" kern="1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Char char="–"/>
        <a:defRPr kumimoji="1" sz="2800" kern="1200">
          <a:solidFill>
            <a:schemeClr val="tx1"/>
          </a:solidFill>
          <a:effectLst>
            <a:outerShdw blurRad="38100" dist="38100" dir="2700000" algn="tl">
              <a:srgbClr val="000000"/>
            </a:outerShdw>
          </a:effectLst>
          <a:latin typeface="+mn-lt"/>
          <a:ea typeface="+mn-ea"/>
          <a:cs typeface="+mn-cs"/>
        </a:defRPr>
      </a:lvl2pPr>
      <a:lvl3pPr marL="1143000" indent="-228600" algn="l" rtl="0" eaLnBrk="0" fontAlgn="base" hangingPunct="0">
        <a:spcBef>
          <a:spcPct val="20000"/>
        </a:spcBef>
        <a:spcAft>
          <a:spcPct val="0"/>
        </a:spcAft>
        <a:buClr>
          <a:schemeClr val="folHlink"/>
        </a:buClr>
        <a:buSzPct val="60000"/>
        <a:buFont typeface="Monotype Sorts" pitchFamily="2" charset="2"/>
        <a:buChar char="n"/>
        <a:defRPr kumimoji="1" sz="2400" kern="1200">
          <a:solidFill>
            <a:schemeClr val="tx1"/>
          </a:solidFill>
          <a:effectLst>
            <a:outerShdw blurRad="38100" dist="38100" dir="2700000" algn="tl">
              <a:srgbClr val="000000"/>
            </a:outerShdw>
          </a:effectLst>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effectLst>
            <a:outerShdw blurRad="38100" dist="38100" dir="2700000" algn="tl">
              <a:srgbClr val="000000"/>
            </a:outerShdw>
          </a:effectLst>
          <a:latin typeface="+mn-lt"/>
          <a:ea typeface="+mn-ea"/>
          <a:cs typeface="+mn-cs"/>
        </a:defRPr>
      </a:lvl4pPr>
      <a:lvl5pPr marL="2057400" indent="-228600" algn="l" rtl="0" eaLnBrk="0" fontAlgn="base" hangingPunct="0">
        <a:spcBef>
          <a:spcPct val="20000"/>
        </a:spcBef>
        <a:spcAft>
          <a:spcPct val="0"/>
        </a:spcAft>
        <a:buClr>
          <a:schemeClr val="folHlink"/>
        </a:buClr>
        <a:buSzPct val="50000"/>
        <a:buFont typeface="Monotype Sorts" pitchFamily="2" charset="2"/>
        <a:buChar char="n"/>
        <a:defRPr kumimoji="1" sz="2000" kern="1200">
          <a:solidFill>
            <a:schemeClr val="tx1"/>
          </a:solidFill>
          <a:effectLst>
            <a:outerShdw blurRad="38100" dist="38100" dir="2700000" algn="tl">
              <a:srgbClr val="00000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18.e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19.e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20.e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4.vml"/><Relationship Id="rId4" Type="http://schemas.openxmlformats.org/officeDocument/2006/relationships/image" Target="../media/image21.e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5.vml"/><Relationship Id="rId4" Type="http://schemas.openxmlformats.org/officeDocument/2006/relationships/image" Target="../media/image22.e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6.vml"/><Relationship Id="rId4" Type="http://schemas.openxmlformats.org/officeDocument/2006/relationships/image" Target="../media/image23.e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7.vml"/><Relationship Id="rId4" Type="http://schemas.openxmlformats.org/officeDocument/2006/relationships/image" Target="../media/image19.e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25.emf"/><Relationship Id="rId5" Type="http://schemas.openxmlformats.org/officeDocument/2006/relationships/oleObject" Target="../embeddings/oleObject9.bin"/><Relationship Id="rId4" Type="http://schemas.openxmlformats.org/officeDocument/2006/relationships/image" Target="../media/image24.e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27.emf"/><Relationship Id="rId5" Type="http://schemas.openxmlformats.org/officeDocument/2006/relationships/oleObject" Target="../embeddings/oleObject11.bin"/><Relationship Id="rId4" Type="http://schemas.openxmlformats.org/officeDocument/2006/relationships/image" Target="../media/image26.e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7.xml"/><Relationship Id="rId1" Type="http://schemas.openxmlformats.org/officeDocument/2006/relationships/vmlDrawing" Target="../drawings/vmlDrawing10.vml"/><Relationship Id="rId4" Type="http://schemas.openxmlformats.org/officeDocument/2006/relationships/image" Target="../media/image29.e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7.xml"/><Relationship Id="rId1" Type="http://schemas.openxmlformats.org/officeDocument/2006/relationships/vmlDrawing" Target="../drawings/vmlDrawing11.vml"/><Relationship Id="rId4" Type="http://schemas.openxmlformats.org/officeDocument/2006/relationships/image" Target="../media/image30.emf"/></Relationships>
</file>

<file path=ppt/slides/_rels/slide31.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6626" name="Text Box 2"/>
          <p:cNvSpPr txBox="1">
            <a:spLocks noChangeArrowheads="1"/>
          </p:cNvSpPr>
          <p:nvPr/>
        </p:nvSpPr>
        <p:spPr bwMode="auto">
          <a:xfrm>
            <a:off x="1335088" y="534988"/>
            <a:ext cx="6569075"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11700">
                <a:effectLst>
                  <a:outerShdw blurRad="38100" dist="38100" dir="2700000" algn="tl">
                    <a:srgbClr val="000000"/>
                  </a:outerShdw>
                </a:effectLst>
                <a:latin typeface="Smudger LET" pitchFamily="2" charset="0"/>
              </a:rPr>
              <a:t>Heard Island</a:t>
            </a:r>
          </a:p>
          <a:p>
            <a:pPr algn="ctr"/>
            <a:r>
              <a:rPr lang="en-US" altLang="en-US" sz="11700">
                <a:effectLst>
                  <a:outerShdw blurRad="38100" dist="38100" dir="2700000" algn="tl">
                    <a:srgbClr val="000000"/>
                  </a:outerShdw>
                </a:effectLst>
                <a:latin typeface="Smudger LET" pitchFamily="2" charset="0"/>
              </a:rPr>
              <a:t>2000</a:t>
            </a:r>
            <a:endParaRPr lang="en-US" altLang="en-US">
              <a:effectLst>
                <a:outerShdw blurRad="38100" dist="38100" dir="2700000" algn="tl">
                  <a:srgbClr val="000000"/>
                </a:outerShdw>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4819" name="Picture 3" descr="C:\Documents and Settings\dthost\My Documents\My Pictures\SMH_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550" y="600075"/>
            <a:ext cx="8586788" cy="5735638"/>
          </a:xfrm>
          <a:prstGeom prst="rect">
            <a:avLst/>
          </a:prstGeom>
          <a:noFill/>
          <a:extLst>
            <a:ext uri="{909E8E84-426E-40DD-AFC4-6F175D3DCCD1}">
              <a14:hiddenFill xmlns:a14="http://schemas.microsoft.com/office/drawing/2010/main">
                <a:solidFill>
                  <a:srgbClr val="FFFFFF"/>
                </a:solidFill>
              </a14:hiddenFill>
            </a:ext>
          </a:extLst>
        </p:spPr>
      </p:pic>
      <p:sp>
        <p:nvSpPr>
          <p:cNvPr id="34820" name="Oval 4"/>
          <p:cNvSpPr>
            <a:spLocks noChangeArrowheads="1"/>
          </p:cNvSpPr>
          <p:nvPr/>
        </p:nvSpPr>
        <p:spPr bwMode="auto">
          <a:xfrm>
            <a:off x="1708150" y="3662363"/>
            <a:ext cx="884238" cy="409575"/>
          </a:xfrm>
          <a:prstGeom prst="ellipse">
            <a:avLst/>
          </a:prstGeom>
          <a:noFill/>
          <a:ln w="25400">
            <a:solidFill>
              <a:srgbClr val="FF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4821" name="Text Box 5"/>
          <p:cNvSpPr txBox="1">
            <a:spLocks noChangeArrowheads="1"/>
          </p:cNvSpPr>
          <p:nvPr/>
        </p:nvSpPr>
        <p:spPr bwMode="auto">
          <a:xfrm>
            <a:off x="5000625" y="6372225"/>
            <a:ext cx="39751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t>Sydney Morning Herald, March 30, 2001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48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US" altLang="en-US"/>
              <a:t>Heard Island 2000</a:t>
            </a:r>
          </a:p>
        </p:txBody>
      </p:sp>
      <p:sp>
        <p:nvSpPr>
          <p:cNvPr id="4099" name="Rectangle 3"/>
          <p:cNvSpPr>
            <a:spLocks noGrp="1" noChangeArrowheads="1"/>
          </p:cNvSpPr>
          <p:nvPr>
            <p:ph type="body" idx="1"/>
          </p:nvPr>
        </p:nvSpPr>
        <p:spPr/>
        <p:txBody>
          <a:bodyPr/>
          <a:lstStyle/>
          <a:p>
            <a:r>
              <a:rPr lang="en-US" altLang="en-US"/>
              <a:t>Study of the Brown Glacier</a:t>
            </a:r>
          </a:p>
          <a:p>
            <a:r>
              <a:rPr lang="en-US" altLang="en-US"/>
              <a:t>Introduction</a:t>
            </a:r>
          </a:p>
          <a:p>
            <a:r>
              <a:rPr lang="en-US" altLang="en-US"/>
              <a:t>Why the Brown Glacier?</a:t>
            </a:r>
          </a:p>
          <a:p>
            <a:r>
              <a:rPr lang="en-US" altLang="en-US"/>
              <a:t>What we did</a:t>
            </a:r>
          </a:p>
          <a:p>
            <a:r>
              <a:rPr lang="en-US" altLang="en-US"/>
              <a:t>Weather data &amp; results</a:t>
            </a:r>
          </a:p>
          <a:p>
            <a:r>
              <a:rPr lang="en-US" altLang="en-US"/>
              <a:t>Herr Truffer … (the Australian Scientist)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099">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4099">
                                            <p:txEl>
                                              <p:pRg st="0" end="0"/>
                                            </p:txEl>
                                          </p:spTgt>
                                        </p:tgtEl>
                                        <p:attrNameLst>
                                          <p:attrName>ppt_c</p:attrName>
                                        </p:attrNameLst>
                                      </p:cBhvr>
                                      <p:to>
                                        <a:schemeClr val="bg1"/>
                                      </p:to>
                                    </p:animClr>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099">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4099">
                                            <p:txEl>
                                              <p:pRg st="1" end="1"/>
                                            </p:txEl>
                                          </p:spTgt>
                                        </p:tgtEl>
                                        <p:attrNameLst>
                                          <p:attrName>ppt_c</p:attrName>
                                        </p:attrNameLst>
                                      </p:cBhvr>
                                      <p:to>
                                        <a:schemeClr val="bg1"/>
                                      </p:to>
                                    </p:animClr>
                                  </p:sub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099">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4099">
                                            <p:txEl>
                                              <p:pRg st="2" end="2"/>
                                            </p:txEl>
                                          </p:spTgt>
                                        </p:tgtEl>
                                        <p:attrNameLst>
                                          <p:attrName>ppt_c</p:attrName>
                                        </p:attrNameLst>
                                      </p:cBhvr>
                                      <p:to>
                                        <a:schemeClr val="bg1"/>
                                      </p:to>
                                    </p:animClr>
                                  </p:sub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099">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4099">
                                            <p:txEl>
                                              <p:pRg st="3" end="3"/>
                                            </p:txEl>
                                          </p:spTgt>
                                        </p:tgtEl>
                                        <p:attrNameLst>
                                          <p:attrName>ppt_c</p:attrName>
                                        </p:attrNameLst>
                                      </p:cBhvr>
                                      <p:to>
                                        <a:schemeClr val="bg1"/>
                                      </p:to>
                                    </p:animClr>
                                  </p:sub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4099">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4099">
                                            <p:txEl>
                                              <p:pRg st="4" end="4"/>
                                            </p:txEl>
                                          </p:spTgt>
                                        </p:tgtEl>
                                        <p:attrNameLst>
                                          <p:attrName>ppt_c</p:attrName>
                                        </p:attrNameLst>
                                      </p:cBhvr>
                                      <p:to>
                                        <a:schemeClr val="bg1"/>
                                      </p:to>
                                    </p:animClr>
                                  </p:sub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4099">
                                            <p:txEl>
                                              <p:pRg st="5" end="5"/>
                                            </p:txEl>
                                          </p:spTgt>
                                        </p:tgtEl>
                                        <p:attrNameLst>
                                          <p:attrName>style.visibility</p:attrName>
                                        </p:attrNameLst>
                                      </p:cBhvr>
                                      <p:to>
                                        <p:strVal val="visible"/>
                                      </p:to>
                                    </p:set>
                                  </p:childTnLst>
                                  <p:subTnLst>
                                    <p:animClr clrSpc="rgb" dir="cw">
                                      <p:cBhvr override="childStyle">
                                        <p:cTn dur="1" fill="hold" display="0" masterRel="nextClick" afterEffect="1"/>
                                        <p:tgtEl>
                                          <p:spTgt spid="4099">
                                            <p:txEl>
                                              <p:pRg st="5" end="5"/>
                                            </p:txEl>
                                          </p:spTgt>
                                        </p:tgtEl>
                                        <p:attrNameLst>
                                          <p:attrName>ppt_c</p:attrName>
                                        </p:attrNameLst>
                                      </p:cBhvr>
                                      <p:to>
                                        <a:schemeClr val="bg1"/>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build="p" autoUpdateAnimBg="0"/>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altLang="en-US"/>
              <a:t>Heard Island 2000</a:t>
            </a:r>
          </a:p>
        </p:txBody>
      </p:sp>
      <p:sp>
        <p:nvSpPr>
          <p:cNvPr id="5123" name="Rectangle 3"/>
          <p:cNvSpPr>
            <a:spLocks noGrp="1" noChangeArrowheads="1"/>
          </p:cNvSpPr>
          <p:nvPr>
            <p:ph type="body" idx="1"/>
          </p:nvPr>
        </p:nvSpPr>
        <p:spPr/>
        <p:txBody>
          <a:bodyPr/>
          <a:lstStyle/>
          <a:p>
            <a:r>
              <a:rPr lang="en-US" altLang="en-US"/>
              <a:t>Location</a:t>
            </a:r>
          </a:p>
          <a:p>
            <a:r>
              <a:rPr lang="en-US" altLang="en-US"/>
              <a:t>53 S</a:t>
            </a:r>
          </a:p>
          <a:p>
            <a:r>
              <a:rPr lang="en-US" altLang="en-US"/>
              <a:t>73.5 E</a:t>
            </a:r>
          </a:p>
          <a:p>
            <a:endParaRPr lang="en-US" altLang="en-US"/>
          </a:p>
        </p:txBody>
      </p:sp>
      <p:pic>
        <p:nvPicPr>
          <p:cNvPr id="5124" name="Picture 4" descr="C:\Documents and Settings\dthost\My Documents\My Pictures\heard island\above_heard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1905000"/>
            <a:ext cx="4775200" cy="4775200"/>
          </a:xfrm>
          <a:prstGeom prst="rect">
            <a:avLst/>
          </a:prstGeom>
          <a:noFill/>
          <a:extLst>
            <a:ext uri="{909E8E84-426E-40DD-AFC4-6F175D3DCCD1}">
              <a14:hiddenFill xmlns:a14="http://schemas.microsoft.com/office/drawing/2010/main">
                <a:solidFill>
                  <a:srgbClr val="FFFFFF"/>
                </a:solidFill>
              </a14:hiddenFill>
            </a:ext>
          </a:extLst>
        </p:spPr>
      </p:pic>
      <p:sp>
        <p:nvSpPr>
          <p:cNvPr id="5125" name="Oval 5"/>
          <p:cNvSpPr>
            <a:spLocks noChangeArrowheads="1"/>
          </p:cNvSpPr>
          <p:nvPr/>
        </p:nvSpPr>
        <p:spPr bwMode="auto">
          <a:xfrm>
            <a:off x="5334000" y="4191000"/>
            <a:ext cx="228600" cy="228600"/>
          </a:xfrm>
          <a:prstGeom prst="ellipse">
            <a:avLst/>
          </a:prstGeom>
          <a:noFill/>
          <a:ln w="19050">
            <a:solidFill>
              <a:srgbClr val="FF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5127" name="Freeform 7"/>
          <p:cNvSpPr>
            <a:spLocks/>
          </p:cNvSpPr>
          <p:nvPr/>
        </p:nvSpPr>
        <p:spPr bwMode="auto">
          <a:xfrm>
            <a:off x="3886200" y="4191000"/>
            <a:ext cx="2921000" cy="2387600"/>
          </a:xfrm>
          <a:custGeom>
            <a:avLst/>
            <a:gdLst>
              <a:gd name="T0" fmla="*/ 432 w 1840"/>
              <a:gd name="T1" fmla="*/ 1392 h 1504"/>
              <a:gd name="T2" fmla="*/ 192 w 1840"/>
              <a:gd name="T3" fmla="*/ 1248 h 1504"/>
              <a:gd name="T4" fmla="*/ 96 w 1840"/>
              <a:gd name="T5" fmla="*/ 1152 h 1504"/>
              <a:gd name="T6" fmla="*/ 48 w 1840"/>
              <a:gd name="T7" fmla="*/ 1056 h 1504"/>
              <a:gd name="T8" fmla="*/ 0 w 1840"/>
              <a:gd name="T9" fmla="*/ 912 h 1504"/>
              <a:gd name="T10" fmla="*/ 48 w 1840"/>
              <a:gd name="T11" fmla="*/ 576 h 1504"/>
              <a:gd name="T12" fmla="*/ 96 w 1840"/>
              <a:gd name="T13" fmla="*/ 336 h 1504"/>
              <a:gd name="T14" fmla="*/ 240 w 1840"/>
              <a:gd name="T15" fmla="*/ 144 h 1504"/>
              <a:gd name="T16" fmla="*/ 528 w 1840"/>
              <a:gd name="T17" fmla="*/ 48 h 1504"/>
              <a:gd name="T18" fmla="*/ 816 w 1840"/>
              <a:gd name="T19" fmla="*/ 48 h 1504"/>
              <a:gd name="T20" fmla="*/ 1008 w 1840"/>
              <a:gd name="T21" fmla="*/ 0 h 1504"/>
              <a:gd name="T22" fmla="*/ 1200 w 1840"/>
              <a:gd name="T23" fmla="*/ 48 h 1504"/>
              <a:gd name="T24" fmla="*/ 1392 w 1840"/>
              <a:gd name="T25" fmla="*/ 96 h 1504"/>
              <a:gd name="T26" fmla="*/ 1584 w 1840"/>
              <a:gd name="T27" fmla="*/ 288 h 1504"/>
              <a:gd name="T28" fmla="*/ 1728 w 1840"/>
              <a:gd name="T29" fmla="*/ 480 h 1504"/>
              <a:gd name="T30" fmla="*/ 1824 w 1840"/>
              <a:gd name="T31" fmla="*/ 720 h 1504"/>
              <a:gd name="T32" fmla="*/ 1824 w 1840"/>
              <a:gd name="T33" fmla="*/ 864 h 1504"/>
              <a:gd name="T34" fmla="*/ 1776 w 1840"/>
              <a:gd name="T35" fmla="*/ 1008 h 1504"/>
              <a:gd name="T36" fmla="*/ 1728 w 1840"/>
              <a:gd name="T37" fmla="*/ 1152 h 1504"/>
              <a:gd name="T38" fmla="*/ 1584 w 1840"/>
              <a:gd name="T39" fmla="*/ 1296 h 1504"/>
              <a:gd name="T40" fmla="*/ 1392 w 1840"/>
              <a:gd name="T41" fmla="*/ 1392 h 1504"/>
              <a:gd name="T42" fmla="*/ 1152 w 1840"/>
              <a:gd name="T43" fmla="*/ 1488 h 1504"/>
              <a:gd name="T44" fmla="*/ 912 w 1840"/>
              <a:gd name="T45" fmla="*/ 1488 h 1504"/>
              <a:gd name="T46" fmla="*/ 720 w 1840"/>
              <a:gd name="T47" fmla="*/ 1488 h 1504"/>
              <a:gd name="T48" fmla="*/ 432 w 1840"/>
              <a:gd name="T49" fmla="*/ 1392 h 1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40" h="1504">
                <a:moveTo>
                  <a:pt x="432" y="1392"/>
                </a:moveTo>
                <a:cubicBezTo>
                  <a:pt x="344" y="1352"/>
                  <a:pt x="248" y="1288"/>
                  <a:pt x="192" y="1248"/>
                </a:cubicBezTo>
                <a:cubicBezTo>
                  <a:pt x="136" y="1208"/>
                  <a:pt x="120" y="1184"/>
                  <a:pt x="96" y="1152"/>
                </a:cubicBezTo>
                <a:cubicBezTo>
                  <a:pt x="72" y="1120"/>
                  <a:pt x="64" y="1096"/>
                  <a:pt x="48" y="1056"/>
                </a:cubicBezTo>
                <a:cubicBezTo>
                  <a:pt x="32" y="1016"/>
                  <a:pt x="0" y="992"/>
                  <a:pt x="0" y="912"/>
                </a:cubicBezTo>
                <a:cubicBezTo>
                  <a:pt x="0" y="832"/>
                  <a:pt x="32" y="672"/>
                  <a:pt x="48" y="576"/>
                </a:cubicBezTo>
                <a:cubicBezTo>
                  <a:pt x="64" y="480"/>
                  <a:pt x="64" y="408"/>
                  <a:pt x="96" y="336"/>
                </a:cubicBezTo>
                <a:cubicBezTo>
                  <a:pt x="128" y="264"/>
                  <a:pt x="168" y="192"/>
                  <a:pt x="240" y="144"/>
                </a:cubicBezTo>
                <a:cubicBezTo>
                  <a:pt x="312" y="96"/>
                  <a:pt x="432" y="64"/>
                  <a:pt x="528" y="48"/>
                </a:cubicBezTo>
                <a:cubicBezTo>
                  <a:pt x="624" y="32"/>
                  <a:pt x="736" y="56"/>
                  <a:pt x="816" y="48"/>
                </a:cubicBezTo>
                <a:cubicBezTo>
                  <a:pt x="896" y="40"/>
                  <a:pt x="944" y="0"/>
                  <a:pt x="1008" y="0"/>
                </a:cubicBezTo>
                <a:cubicBezTo>
                  <a:pt x="1072" y="0"/>
                  <a:pt x="1136" y="32"/>
                  <a:pt x="1200" y="48"/>
                </a:cubicBezTo>
                <a:cubicBezTo>
                  <a:pt x="1264" y="64"/>
                  <a:pt x="1328" y="56"/>
                  <a:pt x="1392" y="96"/>
                </a:cubicBezTo>
                <a:cubicBezTo>
                  <a:pt x="1456" y="136"/>
                  <a:pt x="1528" y="224"/>
                  <a:pt x="1584" y="288"/>
                </a:cubicBezTo>
                <a:cubicBezTo>
                  <a:pt x="1640" y="352"/>
                  <a:pt x="1688" y="408"/>
                  <a:pt x="1728" y="480"/>
                </a:cubicBezTo>
                <a:cubicBezTo>
                  <a:pt x="1768" y="552"/>
                  <a:pt x="1808" y="656"/>
                  <a:pt x="1824" y="720"/>
                </a:cubicBezTo>
                <a:cubicBezTo>
                  <a:pt x="1840" y="784"/>
                  <a:pt x="1832" y="816"/>
                  <a:pt x="1824" y="864"/>
                </a:cubicBezTo>
                <a:cubicBezTo>
                  <a:pt x="1816" y="912"/>
                  <a:pt x="1792" y="960"/>
                  <a:pt x="1776" y="1008"/>
                </a:cubicBezTo>
                <a:cubicBezTo>
                  <a:pt x="1760" y="1056"/>
                  <a:pt x="1760" y="1104"/>
                  <a:pt x="1728" y="1152"/>
                </a:cubicBezTo>
                <a:cubicBezTo>
                  <a:pt x="1696" y="1200"/>
                  <a:pt x="1640" y="1256"/>
                  <a:pt x="1584" y="1296"/>
                </a:cubicBezTo>
                <a:cubicBezTo>
                  <a:pt x="1528" y="1336"/>
                  <a:pt x="1464" y="1360"/>
                  <a:pt x="1392" y="1392"/>
                </a:cubicBezTo>
                <a:cubicBezTo>
                  <a:pt x="1320" y="1424"/>
                  <a:pt x="1232" y="1472"/>
                  <a:pt x="1152" y="1488"/>
                </a:cubicBezTo>
                <a:cubicBezTo>
                  <a:pt x="1072" y="1504"/>
                  <a:pt x="984" y="1488"/>
                  <a:pt x="912" y="1488"/>
                </a:cubicBezTo>
                <a:cubicBezTo>
                  <a:pt x="840" y="1488"/>
                  <a:pt x="800" y="1504"/>
                  <a:pt x="720" y="1488"/>
                </a:cubicBezTo>
                <a:cubicBezTo>
                  <a:pt x="640" y="1472"/>
                  <a:pt x="520" y="1432"/>
                  <a:pt x="432" y="1392"/>
                </a:cubicBezTo>
                <a:close/>
              </a:path>
            </a:pathLst>
          </a:custGeom>
          <a:noFill/>
          <a:ln w="2540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pic>
        <p:nvPicPr>
          <p:cNvPr id="5128" name="Picture 8" descr="C:\Documents and Settings\dthost\My Documents\My Pictures\heard island\above_heard1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1905000"/>
            <a:ext cx="4775200" cy="4775200"/>
          </a:xfrm>
          <a:prstGeom prst="rect">
            <a:avLst/>
          </a:prstGeom>
          <a:noFill/>
          <a:extLst>
            <a:ext uri="{909E8E84-426E-40DD-AFC4-6F175D3DCCD1}">
              <a14:hiddenFill xmlns:a14="http://schemas.microsoft.com/office/drawing/2010/main">
                <a:solidFill>
                  <a:srgbClr val="FFFFFF"/>
                </a:solidFill>
              </a14:hiddenFill>
            </a:ext>
          </a:extLst>
        </p:spPr>
      </p:pic>
      <p:grpSp>
        <p:nvGrpSpPr>
          <p:cNvPr id="5135" name="Group 15"/>
          <p:cNvGrpSpPr>
            <a:grpSpLocks/>
          </p:cNvGrpSpPr>
          <p:nvPr/>
        </p:nvGrpSpPr>
        <p:grpSpPr bwMode="auto">
          <a:xfrm>
            <a:off x="4556125" y="3657600"/>
            <a:ext cx="3063875" cy="1905000"/>
            <a:chOff x="2870" y="2304"/>
            <a:chExt cx="1930" cy="1200"/>
          </a:xfrm>
        </p:grpSpPr>
        <p:sp>
          <p:nvSpPr>
            <p:cNvPr id="5129" name="Line 9"/>
            <p:cNvSpPr>
              <a:spLocks noChangeShapeType="1"/>
            </p:cNvSpPr>
            <p:nvPr/>
          </p:nvSpPr>
          <p:spPr bwMode="auto">
            <a:xfrm flipV="1">
              <a:off x="3456" y="2304"/>
              <a:ext cx="1344" cy="384"/>
            </a:xfrm>
            <a:prstGeom prst="line">
              <a:avLst/>
            </a:prstGeom>
            <a:noFill/>
            <a:ln w="9525">
              <a:solidFill>
                <a:srgbClr val="FF66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5130" name="Line 10"/>
            <p:cNvSpPr>
              <a:spLocks noChangeShapeType="1"/>
            </p:cNvSpPr>
            <p:nvPr/>
          </p:nvSpPr>
          <p:spPr bwMode="auto">
            <a:xfrm flipH="1" flipV="1">
              <a:off x="3408" y="2736"/>
              <a:ext cx="48" cy="768"/>
            </a:xfrm>
            <a:prstGeom prst="line">
              <a:avLst/>
            </a:prstGeom>
            <a:noFill/>
            <a:ln w="9525">
              <a:solidFill>
                <a:srgbClr val="FF66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5131" name="Line 11"/>
            <p:cNvSpPr>
              <a:spLocks noChangeShapeType="1"/>
            </p:cNvSpPr>
            <p:nvPr/>
          </p:nvSpPr>
          <p:spPr bwMode="auto">
            <a:xfrm>
              <a:off x="3312" y="2544"/>
              <a:ext cx="96" cy="144"/>
            </a:xfrm>
            <a:prstGeom prst="line">
              <a:avLst/>
            </a:prstGeom>
            <a:noFill/>
            <a:ln w="9525">
              <a:solidFill>
                <a:srgbClr val="FF66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5132" name="Text Box 12"/>
            <p:cNvSpPr txBox="1">
              <a:spLocks noChangeArrowheads="1"/>
            </p:cNvSpPr>
            <p:nvPr/>
          </p:nvSpPr>
          <p:spPr bwMode="auto">
            <a:xfrm>
              <a:off x="4022" y="2426"/>
              <a:ext cx="5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4122</a:t>
              </a:r>
            </a:p>
          </p:txBody>
        </p:sp>
        <p:sp>
          <p:nvSpPr>
            <p:cNvPr id="5133" name="Text Box 13"/>
            <p:cNvSpPr txBox="1">
              <a:spLocks noChangeArrowheads="1"/>
            </p:cNvSpPr>
            <p:nvPr/>
          </p:nvSpPr>
          <p:spPr bwMode="auto">
            <a:xfrm>
              <a:off x="3494" y="2906"/>
              <a:ext cx="5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1751</a:t>
              </a:r>
            </a:p>
          </p:txBody>
        </p:sp>
        <p:sp>
          <p:nvSpPr>
            <p:cNvPr id="5134" name="Text Box 14"/>
            <p:cNvSpPr txBox="1">
              <a:spLocks noChangeArrowheads="1"/>
            </p:cNvSpPr>
            <p:nvPr/>
          </p:nvSpPr>
          <p:spPr bwMode="auto">
            <a:xfrm>
              <a:off x="2870" y="2426"/>
              <a:ext cx="40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463</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12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12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12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512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5125"/>
                                        </p:tgtEl>
                                        <p:attrNameLst>
                                          <p:attrName>style.visibility</p:attrName>
                                        </p:attrNameLst>
                                      </p:cBhvr>
                                      <p:to>
                                        <p:strVal val="visible"/>
                                      </p:to>
                                    </p:set>
                                  </p:childTnLst>
                                  <p:subTnLst>
                                    <p:set>
                                      <p:cBhvr override="childStyle">
                                        <p:cTn dur="1" fill="hold" display="0" masterRel="nextClick" afterEffect="1"/>
                                        <p:tgtEl>
                                          <p:spTgt spid="5125"/>
                                        </p:tgtEl>
                                        <p:attrNameLst>
                                          <p:attrName>style.visibility</p:attrName>
                                        </p:attrNameLst>
                                      </p:cBhvr>
                                      <p:to>
                                        <p:strVal val="hidden"/>
                                      </p:to>
                                    </p:set>
                                  </p:sub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5127"/>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9" presetClass="entr" presetSubtype="0" fill="hold" nodeType="clickEffect">
                                  <p:stCondLst>
                                    <p:cond delay="0"/>
                                  </p:stCondLst>
                                  <p:childTnLst>
                                    <p:set>
                                      <p:cBhvr>
                                        <p:cTn id="30" dur="1" fill="hold">
                                          <p:stCondLst>
                                            <p:cond delay="0"/>
                                          </p:stCondLst>
                                        </p:cTn>
                                        <p:tgtEl>
                                          <p:spTgt spid="5128"/>
                                        </p:tgtEl>
                                        <p:attrNameLst>
                                          <p:attrName>style.visibility</p:attrName>
                                        </p:attrNameLst>
                                      </p:cBhvr>
                                      <p:to>
                                        <p:strVal val="visible"/>
                                      </p:to>
                                    </p:set>
                                    <p:animEffect transition="in" filter="dissolve">
                                      <p:cBhvr>
                                        <p:cTn id="31" dur="500"/>
                                        <p:tgtEl>
                                          <p:spTgt spid="5128"/>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nodeType="clickEffect">
                                  <p:stCondLst>
                                    <p:cond delay="0"/>
                                  </p:stCondLst>
                                  <p:childTnLst>
                                    <p:set>
                                      <p:cBhvr>
                                        <p:cTn id="35" dur="1" fill="hold">
                                          <p:stCondLst>
                                            <p:cond delay="499"/>
                                          </p:stCondLst>
                                        </p:cTn>
                                        <p:tgtEl>
                                          <p:spTgt spid="51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ltLang="en-US"/>
              <a:t>Heard Island 2000</a:t>
            </a:r>
          </a:p>
        </p:txBody>
      </p:sp>
      <p:sp>
        <p:nvSpPr>
          <p:cNvPr id="6147" name="Rectangle 3"/>
          <p:cNvSpPr>
            <a:spLocks noGrp="1" noChangeArrowheads="1"/>
          </p:cNvSpPr>
          <p:nvPr>
            <p:ph type="body" idx="1"/>
          </p:nvPr>
        </p:nvSpPr>
        <p:spPr/>
        <p:txBody>
          <a:bodyPr/>
          <a:lstStyle/>
          <a:p>
            <a:r>
              <a:rPr lang="en-US" altLang="en-US"/>
              <a:t>Location</a:t>
            </a:r>
          </a:p>
          <a:p>
            <a:endParaRPr lang="en-US" altLang="en-US"/>
          </a:p>
        </p:txBody>
      </p:sp>
      <p:pic>
        <p:nvPicPr>
          <p:cNvPr id="6150" name="Picture 6" descr="C:\Eudora\Attach\heard_island.gif"/>
          <p:cNvPicPr>
            <a:picLocks noChangeAspect="1" noChangeArrowheads="1"/>
          </p:cNvPicPr>
          <p:nvPr/>
        </p:nvPicPr>
        <p:blipFill>
          <a:blip r:embed="rId2">
            <a:extLst>
              <a:ext uri="{28A0092B-C50C-407E-A947-70E740481C1C}">
                <a14:useLocalDpi xmlns:a14="http://schemas.microsoft.com/office/drawing/2010/main" val="0"/>
              </a:ext>
            </a:extLst>
          </a:blip>
          <a:srcRect t="7668"/>
          <a:stretch>
            <a:fillRect/>
          </a:stretch>
        </p:blipFill>
        <p:spPr bwMode="auto">
          <a:xfrm>
            <a:off x="3505200" y="2209800"/>
            <a:ext cx="4667250" cy="3670300"/>
          </a:xfrm>
          <a:prstGeom prst="rect">
            <a:avLst/>
          </a:prstGeom>
          <a:noFill/>
          <a:extLst>
            <a:ext uri="{909E8E84-426E-40DD-AFC4-6F175D3DCCD1}">
              <a14:hiddenFill xmlns:a14="http://schemas.microsoft.com/office/drawing/2010/main">
                <a:solidFill>
                  <a:srgbClr val="FFFFFF"/>
                </a:solidFill>
              </a14:hiddenFill>
            </a:ext>
          </a:extLst>
        </p:spPr>
      </p:pic>
      <p:sp>
        <p:nvSpPr>
          <p:cNvPr id="6152" name="Oval 8"/>
          <p:cNvSpPr>
            <a:spLocks noChangeArrowheads="1"/>
          </p:cNvSpPr>
          <p:nvPr/>
        </p:nvSpPr>
        <p:spPr bwMode="auto">
          <a:xfrm>
            <a:off x="6172200" y="3733800"/>
            <a:ext cx="533400" cy="381000"/>
          </a:xfrm>
          <a:prstGeom prst="ellipse">
            <a:avLst/>
          </a:prstGeom>
          <a:noFill/>
          <a:ln w="25400">
            <a:solidFill>
              <a:srgbClr val="FF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C:\Eudora\Attach\HI47_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066800"/>
            <a:ext cx="8686800" cy="4246563"/>
          </a:xfrm>
          <a:prstGeom prst="rect">
            <a:avLst/>
          </a:prstGeom>
          <a:noFill/>
          <a:extLst>
            <a:ext uri="{909E8E84-426E-40DD-AFC4-6F175D3DCCD1}">
              <a14:hiddenFill xmlns:a14="http://schemas.microsoft.com/office/drawing/2010/main">
                <a:solidFill>
                  <a:srgbClr val="FFFFFF"/>
                </a:solidFill>
              </a14:hiddenFill>
            </a:ext>
          </a:extLst>
        </p:spPr>
      </p:pic>
      <p:sp>
        <p:nvSpPr>
          <p:cNvPr id="8195" name="Text Box 3"/>
          <p:cNvSpPr txBox="1">
            <a:spLocks noChangeArrowheads="1"/>
          </p:cNvSpPr>
          <p:nvPr/>
        </p:nvSpPr>
        <p:spPr bwMode="auto">
          <a:xfrm>
            <a:off x="381000" y="4648200"/>
            <a:ext cx="793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1947</a:t>
            </a:r>
          </a:p>
        </p:txBody>
      </p:sp>
      <p:sp>
        <p:nvSpPr>
          <p:cNvPr id="8196" name="Text Box 4"/>
          <p:cNvSpPr txBox="1">
            <a:spLocks noChangeArrowheads="1"/>
          </p:cNvSpPr>
          <p:nvPr/>
        </p:nvSpPr>
        <p:spPr bwMode="auto">
          <a:xfrm>
            <a:off x="6096000" y="3733800"/>
            <a:ext cx="161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solidFill>
                  <a:srgbClr val="CC6600"/>
                </a:solidFill>
                <a:latin typeface="Arial" panose="020B0604020202020204" pitchFamily="34" charset="0"/>
              </a:rPr>
              <a:t>Brown Glacier</a:t>
            </a:r>
            <a:endParaRPr lang="en-US" altLang="en-US"/>
          </a:p>
        </p:txBody>
      </p:sp>
      <p:sp>
        <p:nvSpPr>
          <p:cNvPr id="8197" name="Text Box 5"/>
          <p:cNvSpPr txBox="1">
            <a:spLocks noChangeArrowheads="1"/>
          </p:cNvSpPr>
          <p:nvPr/>
        </p:nvSpPr>
        <p:spPr bwMode="auto">
          <a:xfrm>
            <a:off x="3048000" y="3048000"/>
            <a:ext cx="1276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solidFill>
                  <a:srgbClr val="CC6600"/>
                </a:solidFill>
                <a:latin typeface="Arial" panose="020B0604020202020204" pitchFamily="34" charset="0"/>
              </a:rPr>
              <a:t>Scarlet Hill</a:t>
            </a:r>
            <a:endParaRPr lang="en-US" altLang="en-US"/>
          </a:p>
        </p:txBody>
      </p:sp>
      <p:sp>
        <p:nvSpPr>
          <p:cNvPr id="8198" name="Text Box 6"/>
          <p:cNvSpPr txBox="1">
            <a:spLocks noChangeArrowheads="1"/>
          </p:cNvSpPr>
          <p:nvPr/>
        </p:nvSpPr>
        <p:spPr bwMode="auto">
          <a:xfrm>
            <a:off x="1981200" y="4267200"/>
            <a:ext cx="14160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solidFill>
                  <a:srgbClr val="CC6600"/>
                </a:solidFill>
                <a:latin typeface="Arial" panose="020B0604020202020204" pitchFamily="34" charset="0"/>
              </a:rPr>
              <a:t>Skua Beach</a:t>
            </a:r>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5602" name="Picture 2" descr="C:\Documents and Settings\dthost\My Documents\My Pictures\HI_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538" y="617538"/>
            <a:ext cx="8696325" cy="5640387"/>
          </a:xfrm>
          <a:prstGeom prst="rect">
            <a:avLst/>
          </a:prstGeom>
          <a:noFill/>
          <a:extLst>
            <a:ext uri="{909E8E84-426E-40DD-AFC4-6F175D3DCCD1}">
              <a14:hiddenFill xmlns:a14="http://schemas.microsoft.com/office/drawing/2010/main">
                <a:solidFill>
                  <a:srgbClr val="FFFFFF"/>
                </a:solidFill>
              </a14:hiddenFill>
            </a:ext>
          </a:extLst>
        </p:spPr>
      </p:pic>
      <p:sp>
        <p:nvSpPr>
          <p:cNvPr id="25603" name="Text Box 3"/>
          <p:cNvSpPr txBox="1">
            <a:spLocks noChangeArrowheads="1"/>
          </p:cNvSpPr>
          <p:nvPr/>
        </p:nvSpPr>
        <p:spPr bwMode="auto">
          <a:xfrm>
            <a:off x="139700" y="6221413"/>
            <a:ext cx="16637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t>November 2000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C:\Eudora\Attach\HI47_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228600"/>
            <a:ext cx="7772400" cy="6332538"/>
          </a:xfrm>
          <a:prstGeom prst="rect">
            <a:avLst/>
          </a:prstGeom>
          <a:noFill/>
          <a:extLst>
            <a:ext uri="{909E8E84-426E-40DD-AFC4-6F175D3DCCD1}">
              <a14:hiddenFill xmlns:a14="http://schemas.microsoft.com/office/drawing/2010/main">
                <a:solidFill>
                  <a:srgbClr val="FFFFFF"/>
                </a:solidFill>
              </a14:hiddenFill>
            </a:ext>
          </a:extLst>
        </p:spPr>
      </p:pic>
      <p:sp>
        <p:nvSpPr>
          <p:cNvPr id="11267" name="Text Box 3"/>
          <p:cNvSpPr txBox="1">
            <a:spLocks noChangeArrowheads="1"/>
          </p:cNvSpPr>
          <p:nvPr/>
        </p:nvSpPr>
        <p:spPr bwMode="auto">
          <a:xfrm>
            <a:off x="914400" y="5943600"/>
            <a:ext cx="793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1947</a:t>
            </a:r>
          </a:p>
        </p:txBody>
      </p:sp>
      <p:grpSp>
        <p:nvGrpSpPr>
          <p:cNvPr id="11270" name="Group 6"/>
          <p:cNvGrpSpPr>
            <a:grpSpLocks/>
          </p:cNvGrpSpPr>
          <p:nvPr/>
        </p:nvGrpSpPr>
        <p:grpSpPr bwMode="auto">
          <a:xfrm>
            <a:off x="4343400" y="3048000"/>
            <a:ext cx="2057400" cy="838200"/>
            <a:chOff x="2736" y="1920"/>
            <a:chExt cx="1296" cy="528"/>
          </a:xfrm>
        </p:grpSpPr>
        <p:sp>
          <p:nvSpPr>
            <p:cNvPr id="11268" name="Oval 4"/>
            <p:cNvSpPr>
              <a:spLocks noChangeArrowheads="1"/>
            </p:cNvSpPr>
            <p:nvPr/>
          </p:nvSpPr>
          <p:spPr bwMode="auto">
            <a:xfrm>
              <a:off x="3312" y="2160"/>
              <a:ext cx="720" cy="288"/>
            </a:xfrm>
            <a:prstGeom prst="ellipse">
              <a:avLst/>
            </a:prstGeom>
            <a:noFill/>
            <a:ln w="25400">
              <a:solidFill>
                <a:srgbClr val="FF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1269" name="Oval 5"/>
            <p:cNvSpPr>
              <a:spLocks noChangeArrowheads="1"/>
            </p:cNvSpPr>
            <p:nvPr/>
          </p:nvSpPr>
          <p:spPr bwMode="auto">
            <a:xfrm>
              <a:off x="2736" y="1920"/>
              <a:ext cx="432" cy="144"/>
            </a:xfrm>
            <a:prstGeom prst="ellipse">
              <a:avLst/>
            </a:prstGeom>
            <a:noFill/>
            <a:ln w="25400">
              <a:solidFill>
                <a:srgbClr val="FF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12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2771" name="Picture 3" descr="C:\Documents and Settings\dthost\My Documents\My Pictures\HI_8.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5275" y="619125"/>
            <a:ext cx="8702675" cy="5729288"/>
          </a:xfrm>
          <a:prstGeom prst="rect">
            <a:avLst/>
          </a:prstGeom>
          <a:noFill/>
          <a:extLst>
            <a:ext uri="{909E8E84-426E-40DD-AFC4-6F175D3DCCD1}">
              <a14:hiddenFill xmlns:a14="http://schemas.microsoft.com/office/drawing/2010/main">
                <a:solidFill>
                  <a:srgbClr val="FFFFFF"/>
                </a:solidFill>
              </a14:hiddenFill>
            </a:ext>
          </a:extLst>
        </p:spPr>
      </p:pic>
      <p:sp>
        <p:nvSpPr>
          <p:cNvPr id="32772" name="Text Box 4"/>
          <p:cNvSpPr txBox="1">
            <a:spLocks noChangeArrowheads="1"/>
          </p:cNvSpPr>
          <p:nvPr/>
        </p:nvSpPr>
        <p:spPr bwMode="auto">
          <a:xfrm>
            <a:off x="234950" y="6316663"/>
            <a:ext cx="16637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t>November 2000</a:t>
            </a:r>
          </a:p>
        </p:txBody>
      </p:sp>
      <p:grpSp>
        <p:nvGrpSpPr>
          <p:cNvPr id="32776" name="Group 8"/>
          <p:cNvGrpSpPr>
            <a:grpSpLocks/>
          </p:cNvGrpSpPr>
          <p:nvPr/>
        </p:nvGrpSpPr>
        <p:grpSpPr bwMode="auto">
          <a:xfrm>
            <a:off x="3468688" y="3270250"/>
            <a:ext cx="4484687" cy="1182688"/>
            <a:chOff x="2185" y="2060"/>
            <a:chExt cx="2825" cy="745"/>
          </a:xfrm>
        </p:grpSpPr>
        <p:sp>
          <p:nvSpPr>
            <p:cNvPr id="32774" name="Oval 6"/>
            <p:cNvSpPr>
              <a:spLocks noChangeArrowheads="1"/>
            </p:cNvSpPr>
            <p:nvPr/>
          </p:nvSpPr>
          <p:spPr bwMode="auto">
            <a:xfrm>
              <a:off x="3552" y="2301"/>
              <a:ext cx="1458" cy="504"/>
            </a:xfrm>
            <a:prstGeom prst="ellipse">
              <a:avLst/>
            </a:prstGeom>
            <a:noFill/>
            <a:ln w="25400">
              <a:solidFill>
                <a:srgbClr val="FF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2775" name="Oval 7"/>
            <p:cNvSpPr>
              <a:spLocks noChangeArrowheads="1"/>
            </p:cNvSpPr>
            <p:nvPr/>
          </p:nvSpPr>
          <p:spPr bwMode="auto">
            <a:xfrm>
              <a:off x="2185" y="2060"/>
              <a:ext cx="602" cy="226"/>
            </a:xfrm>
            <a:prstGeom prst="ellipse">
              <a:avLst/>
            </a:prstGeom>
            <a:noFill/>
            <a:ln w="25400">
              <a:solidFill>
                <a:srgbClr val="FF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grpSp>
      <p:grpSp>
        <p:nvGrpSpPr>
          <p:cNvPr id="32788" name="Group 20"/>
          <p:cNvGrpSpPr>
            <a:grpSpLocks/>
          </p:cNvGrpSpPr>
          <p:nvPr/>
        </p:nvGrpSpPr>
        <p:grpSpPr bwMode="auto">
          <a:xfrm>
            <a:off x="3848100" y="2670175"/>
            <a:ext cx="1797050" cy="2005013"/>
            <a:chOff x="2424" y="1682"/>
            <a:chExt cx="1132" cy="1263"/>
          </a:xfrm>
        </p:grpSpPr>
        <p:sp>
          <p:nvSpPr>
            <p:cNvPr id="32778" name="Text Box 10"/>
            <p:cNvSpPr txBox="1">
              <a:spLocks noChangeArrowheads="1"/>
            </p:cNvSpPr>
            <p:nvPr/>
          </p:nvSpPr>
          <p:spPr bwMode="auto">
            <a:xfrm>
              <a:off x="2466" y="1759"/>
              <a:ext cx="20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CC6600"/>
                  </a:solidFill>
                  <a:sym typeface="Wingdings 3" panose="05040102010807070707" pitchFamily="18" charset="2"/>
                </a:rPr>
                <a:t></a:t>
              </a:r>
              <a:endParaRPr lang="en-US" altLang="en-US"/>
            </a:p>
          </p:txBody>
        </p:sp>
        <p:grpSp>
          <p:nvGrpSpPr>
            <p:cNvPr id="32787" name="Group 19"/>
            <p:cNvGrpSpPr>
              <a:grpSpLocks/>
            </p:cNvGrpSpPr>
            <p:nvPr/>
          </p:nvGrpSpPr>
          <p:grpSpPr bwMode="auto">
            <a:xfrm>
              <a:off x="2424" y="1682"/>
              <a:ext cx="1132" cy="1263"/>
              <a:chOff x="2424" y="1682"/>
              <a:chExt cx="1132" cy="1263"/>
            </a:xfrm>
          </p:grpSpPr>
          <p:sp>
            <p:nvSpPr>
              <p:cNvPr id="32777" name="Text Box 9"/>
              <p:cNvSpPr txBox="1">
                <a:spLocks noChangeArrowheads="1"/>
              </p:cNvSpPr>
              <p:nvPr/>
            </p:nvSpPr>
            <p:spPr bwMode="auto">
              <a:xfrm>
                <a:off x="2424" y="1682"/>
                <a:ext cx="5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CC6600"/>
                    </a:solidFill>
                    <a:sym typeface="Wingdings 3" panose="05040102010807070707" pitchFamily="18" charset="2"/>
                  </a:rPr>
                  <a:t> </a:t>
                </a:r>
                <a:r>
                  <a:rPr lang="en-US" altLang="en-US" sz="1600">
                    <a:solidFill>
                      <a:srgbClr val="000000"/>
                    </a:solidFill>
                    <a:latin typeface="Arial" panose="020B0604020202020204" pitchFamily="34" charset="0"/>
                    <a:sym typeface="Wingdings 3" panose="05040102010807070707" pitchFamily="18" charset="2"/>
                  </a:rPr>
                  <a:t>BG05</a:t>
                </a:r>
                <a:endParaRPr lang="en-US" altLang="en-US"/>
              </a:p>
            </p:txBody>
          </p:sp>
          <p:sp>
            <p:nvSpPr>
              <p:cNvPr id="32779" name="Text Box 11"/>
              <p:cNvSpPr txBox="1">
                <a:spLocks noChangeArrowheads="1"/>
              </p:cNvSpPr>
              <p:nvPr/>
            </p:nvSpPr>
            <p:spPr bwMode="auto">
              <a:xfrm>
                <a:off x="2520" y="1819"/>
                <a:ext cx="20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CC6600"/>
                    </a:solidFill>
                    <a:sym typeface="Wingdings 3" panose="05040102010807070707" pitchFamily="18" charset="2"/>
                  </a:rPr>
                  <a:t></a:t>
                </a:r>
                <a:endParaRPr lang="en-US" altLang="en-US"/>
              </a:p>
            </p:txBody>
          </p:sp>
          <p:sp>
            <p:nvSpPr>
              <p:cNvPr id="32780" name="Text Box 12"/>
              <p:cNvSpPr txBox="1">
                <a:spLocks noChangeArrowheads="1"/>
              </p:cNvSpPr>
              <p:nvPr/>
            </p:nvSpPr>
            <p:spPr bwMode="auto">
              <a:xfrm>
                <a:off x="2647" y="1929"/>
                <a:ext cx="20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CC6600"/>
                    </a:solidFill>
                    <a:sym typeface="Wingdings 3" panose="05040102010807070707" pitchFamily="18" charset="2"/>
                  </a:rPr>
                  <a:t></a:t>
                </a:r>
                <a:endParaRPr lang="en-US" altLang="en-US"/>
              </a:p>
            </p:txBody>
          </p:sp>
          <p:sp>
            <p:nvSpPr>
              <p:cNvPr id="32781" name="Text Box 13"/>
              <p:cNvSpPr txBox="1">
                <a:spLocks noChangeArrowheads="1"/>
              </p:cNvSpPr>
              <p:nvPr/>
            </p:nvSpPr>
            <p:spPr bwMode="auto">
              <a:xfrm>
                <a:off x="2696" y="1983"/>
                <a:ext cx="20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CC6600"/>
                    </a:solidFill>
                    <a:sym typeface="Wingdings 3" panose="05040102010807070707" pitchFamily="18" charset="2"/>
                  </a:rPr>
                  <a:t></a:t>
                </a:r>
                <a:endParaRPr lang="en-US" altLang="en-US"/>
              </a:p>
            </p:txBody>
          </p:sp>
          <p:sp>
            <p:nvSpPr>
              <p:cNvPr id="32782" name="Text Box 14"/>
              <p:cNvSpPr txBox="1">
                <a:spLocks noChangeArrowheads="1"/>
              </p:cNvSpPr>
              <p:nvPr/>
            </p:nvSpPr>
            <p:spPr bwMode="auto">
              <a:xfrm>
                <a:off x="2576" y="1869"/>
                <a:ext cx="20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CC6600"/>
                    </a:solidFill>
                    <a:sym typeface="Wingdings 3" panose="05040102010807070707" pitchFamily="18" charset="2"/>
                  </a:rPr>
                  <a:t></a:t>
                </a:r>
                <a:endParaRPr lang="en-US" altLang="en-US"/>
              </a:p>
            </p:txBody>
          </p:sp>
          <p:sp>
            <p:nvSpPr>
              <p:cNvPr id="32783" name="Text Box 15"/>
              <p:cNvSpPr txBox="1">
                <a:spLocks noChangeArrowheads="1"/>
              </p:cNvSpPr>
              <p:nvPr/>
            </p:nvSpPr>
            <p:spPr bwMode="auto">
              <a:xfrm>
                <a:off x="2707" y="2047"/>
                <a:ext cx="5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CC6600"/>
                    </a:solidFill>
                    <a:sym typeface="Wingdings 3" panose="05040102010807070707" pitchFamily="18" charset="2"/>
                  </a:rPr>
                  <a:t> </a:t>
                </a:r>
                <a:r>
                  <a:rPr lang="en-US" altLang="en-US" sz="1600">
                    <a:solidFill>
                      <a:srgbClr val="000000"/>
                    </a:solidFill>
                    <a:latin typeface="Arial" panose="020B0604020202020204" pitchFamily="34" charset="0"/>
                    <a:sym typeface="Wingdings 3" panose="05040102010807070707" pitchFamily="18" charset="2"/>
                  </a:rPr>
                  <a:t>BG35</a:t>
                </a:r>
              </a:p>
            </p:txBody>
          </p:sp>
          <p:sp>
            <p:nvSpPr>
              <p:cNvPr id="32784" name="Text Box 16"/>
              <p:cNvSpPr txBox="1">
                <a:spLocks noChangeArrowheads="1"/>
              </p:cNvSpPr>
              <p:nvPr/>
            </p:nvSpPr>
            <p:spPr bwMode="auto">
              <a:xfrm>
                <a:off x="2694" y="2167"/>
                <a:ext cx="20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CC6600"/>
                    </a:solidFill>
                    <a:sym typeface="Wingdings 3" panose="05040102010807070707" pitchFamily="18" charset="2"/>
                  </a:rPr>
                  <a:t></a:t>
                </a:r>
                <a:endParaRPr lang="en-US" altLang="en-US"/>
              </a:p>
            </p:txBody>
          </p:sp>
          <p:sp>
            <p:nvSpPr>
              <p:cNvPr id="32785" name="Text Box 17"/>
              <p:cNvSpPr txBox="1">
                <a:spLocks noChangeArrowheads="1"/>
              </p:cNvSpPr>
              <p:nvPr/>
            </p:nvSpPr>
            <p:spPr bwMode="auto">
              <a:xfrm>
                <a:off x="2820" y="2335"/>
                <a:ext cx="20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CC6600"/>
                    </a:solidFill>
                    <a:sym typeface="Wingdings 3" panose="05040102010807070707" pitchFamily="18" charset="2"/>
                  </a:rPr>
                  <a:t></a:t>
                </a:r>
                <a:endParaRPr lang="en-US" altLang="en-US"/>
              </a:p>
            </p:txBody>
          </p:sp>
          <p:sp>
            <p:nvSpPr>
              <p:cNvPr id="32786" name="Text Box 18"/>
              <p:cNvSpPr txBox="1">
                <a:spLocks noChangeArrowheads="1"/>
              </p:cNvSpPr>
              <p:nvPr/>
            </p:nvSpPr>
            <p:spPr bwMode="auto">
              <a:xfrm>
                <a:off x="2972" y="2657"/>
                <a:ext cx="5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CC6600"/>
                    </a:solidFill>
                    <a:sym typeface="Wingdings 3" panose="05040102010807070707" pitchFamily="18" charset="2"/>
                  </a:rPr>
                  <a:t> </a:t>
                </a:r>
                <a:r>
                  <a:rPr lang="en-US" altLang="en-US" sz="1600">
                    <a:solidFill>
                      <a:srgbClr val="000000"/>
                    </a:solidFill>
                    <a:latin typeface="Arial" panose="020B0604020202020204" pitchFamily="34" charset="0"/>
                    <a:sym typeface="Wingdings 3" panose="05040102010807070707" pitchFamily="18" charset="2"/>
                  </a:rPr>
                  <a:t>BG50</a:t>
                </a:r>
              </a:p>
            </p:txBody>
          </p:sp>
        </p:grpSp>
      </p:grpSp>
      <p:sp>
        <p:nvSpPr>
          <p:cNvPr id="32789" name="Text Box 21"/>
          <p:cNvSpPr txBox="1">
            <a:spLocks noChangeArrowheads="1"/>
          </p:cNvSpPr>
          <p:nvPr/>
        </p:nvSpPr>
        <p:spPr bwMode="auto">
          <a:xfrm>
            <a:off x="1909763" y="3070225"/>
            <a:ext cx="13128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CC6600"/>
                </a:solidFill>
                <a:sym typeface="Wingdings 3" panose="05040102010807070707" pitchFamily="18" charset="2"/>
              </a:rPr>
              <a:t></a:t>
            </a:r>
            <a:r>
              <a:rPr lang="en-US" altLang="en-US" sz="1600">
                <a:solidFill>
                  <a:srgbClr val="000000"/>
                </a:solidFill>
                <a:latin typeface="Arial" panose="020B0604020202020204" pitchFamily="34" charset="0"/>
                <a:sym typeface="Wingdings 3" panose="05040102010807070707" pitchFamily="18" charset="2"/>
              </a:rPr>
              <a:t>Rock AWS</a:t>
            </a:r>
            <a:endParaRPr lang="en-US" altLang="en-US">
              <a:solidFill>
                <a:srgbClr val="CC6600"/>
              </a:solidFill>
              <a:sym typeface="Wingdings 3" panose="050401020108070707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2776"/>
                                        </p:tgtEl>
                                        <p:attrNameLst>
                                          <p:attrName>style.visibility</p:attrName>
                                        </p:attrNameLst>
                                      </p:cBhvr>
                                      <p:to>
                                        <p:strVal val="visible"/>
                                      </p:to>
                                    </p:set>
                                  </p:childTnLst>
                                  <p:subTnLst>
                                    <p:set>
                                      <p:cBhvr override="childStyle">
                                        <p:cTn dur="1" fill="hold" display="0" masterRel="nextClick" afterEffect="1"/>
                                        <p:tgtEl>
                                          <p:spTgt spid="32776"/>
                                        </p:tgtEl>
                                        <p:attrNameLst>
                                          <p:attrName>style.visibility</p:attrName>
                                        </p:attrNameLst>
                                      </p:cBhvr>
                                      <p:to>
                                        <p:strVal val="hidden"/>
                                      </p:to>
                                    </p:set>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3278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27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89"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16387" name="Picture 3" descr="C:\Documents and Settings\dthost\My Documents\My Pictures\HI_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438" y="538163"/>
            <a:ext cx="8739187" cy="577691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8674" name="Picture 2" descr="C:\Documents and Settings\dthost\My Documents\My Pictures\HI_4.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738" y="623888"/>
            <a:ext cx="8582025" cy="564991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9698" name="Picture 2" descr="C:\Documents and Settings\dthost\My Documents\My Pictures\HI_5.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225" y="617538"/>
            <a:ext cx="8683625" cy="568166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7650" name="Picture 2" descr="C:\Documents and Settings\dthost\My Documents\My Pictures\HI_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 y="569913"/>
            <a:ext cx="8693150" cy="57737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3794" name="Picture 2" descr="C:\Documents and Settings\dthost\My Documents\My Pictures\HI_9.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650" y="581025"/>
            <a:ext cx="8686800" cy="57197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4579" name="Picture 3" descr="C:\Documents and Settings\dthost\My Documents\My Pictures\HI_1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000" y="584200"/>
            <a:ext cx="8632825" cy="56880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0722" name="Picture 2" descr="C:\Documents and Settings\dthost\My Documents\My Pictures\HI_6.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30475" y="177800"/>
            <a:ext cx="4081463" cy="65008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340" name="Object 4"/>
          <p:cNvGraphicFramePr>
            <a:graphicFrameLocks noChangeAspect="1"/>
          </p:cNvGraphicFramePr>
          <p:nvPr/>
        </p:nvGraphicFramePr>
        <p:xfrm>
          <a:off x="152400" y="887413"/>
          <a:ext cx="8763000" cy="5038725"/>
        </p:xfrm>
        <a:graphic>
          <a:graphicData uri="http://schemas.openxmlformats.org/presentationml/2006/ole">
            <mc:AlternateContent xmlns:mc="http://schemas.openxmlformats.org/markup-compatibility/2006">
              <mc:Choice xmlns:v="urn:schemas-microsoft-com:vml" Requires="v">
                <p:oleObj spid="_x0000_s14341" name="Chart" r:id="rId3" imgW="9532925" imgH="5479247" progId="Excel.Chart.8">
                  <p:embed/>
                </p:oleObj>
              </mc:Choice>
              <mc:Fallback>
                <p:oleObj name="Chart" r:id="rId3" imgW="9532925" imgH="5479247" progId="Excel.Chart.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887413"/>
                        <a:ext cx="8763000" cy="5038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294" name="Object 6"/>
          <p:cNvGraphicFramePr>
            <a:graphicFrameLocks noChangeAspect="1"/>
          </p:cNvGraphicFramePr>
          <p:nvPr/>
        </p:nvGraphicFramePr>
        <p:xfrm>
          <a:off x="182563" y="620713"/>
          <a:ext cx="8780462" cy="5616575"/>
        </p:xfrm>
        <a:graphic>
          <a:graphicData uri="http://schemas.openxmlformats.org/presentationml/2006/ole">
            <mc:AlternateContent xmlns:mc="http://schemas.openxmlformats.org/markup-compatibility/2006">
              <mc:Choice xmlns:v="urn:schemas-microsoft-com:vml" Requires="v">
                <p:oleObj spid="_x0000_s12295" name="Chart" r:id="rId3" imgW="8778545" imgH="5616123" progId="Excel.Chart.8">
                  <p:embed/>
                </p:oleObj>
              </mc:Choice>
              <mc:Fallback>
                <p:oleObj name="Chart" r:id="rId3" imgW="8778545" imgH="5616123" progId="Excel.Chart.8">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563" y="620713"/>
                        <a:ext cx="8780462" cy="561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4"/>
          <p:cNvSpPr>
            <a:spLocks noChangeArrowheads="1"/>
          </p:cNvSpPr>
          <p:nvPr/>
        </p:nvSpPr>
        <p:spPr bwMode="auto">
          <a:xfrm>
            <a:off x="304800" y="1066800"/>
            <a:ext cx="8610600" cy="48006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graphicFrame>
        <p:nvGraphicFramePr>
          <p:cNvPr id="15362" name="Object 2"/>
          <p:cNvGraphicFramePr>
            <a:graphicFrameLocks noChangeAspect="1"/>
          </p:cNvGraphicFramePr>
          <p:nvPr/>
        </p:nvGraphicFramePr>
        <p:xfrm>
          <a:off x="228600" y="976313"/>
          <a:ext cx="8763000" cy="4948237"/>
        </p:xfrm>
        <a:graphic>
          <a:graphicData uri="http://schemas.openxmlformats.org/presentationml/2006/ole">
            <mc:AlternateContent xmlns:mc="http://schemas.openxmlformats.org/markup-compatibility/2006">
              <mc:Choice xmlns:v="urn:schemas-microsoft-com:vml" Requires="v">
                <p:oleObj spid="_x0000_s15365" name="Chart" r:id="rId3" imgW="9548165" imgH="5387564" progId="Excel.Chart.8">
                  <p:embed/>
                </p:oleObj>
              </mc:Choice>
              <mc:Fallback>
                <p:oleObj name="Chart" r:id="rId3" imgW="9548165" imgH="5387564" progId="Excel.Chart.8">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976313"/>
                        <a:ext cx="8763000" cy="4948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ChangeArrowheads="1"/>
          </p:cNvSpPr>
          <p:nvPr/>
        </p:nvSpPr>
        <p:spPr bwMode="auto">
          <a:xfrm>
            <a:off x="304800" y="1066800"/>
            <a:ext cx="8610600" cy="48006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graphicFrame>
        <p:nvGraphicFramePr>
          <p:cNvPr id="21508" name="Object 4"/>
          <p:cNvGraphicFramePr>
            <a:graphicFrameLocks noChangeAspect="1"/>
          </p:cNvGraphicFramePr>
          <p:nvPr/>
        </p:nvGraphicFramePr>
        <p:xfrm>
          <a:off x="590550" y="1181100"/>
          <a:ext cx="7962900" cy="4495800"/>
        </p:xfrm>
        <a:graphic>
          <a:graphicData uri="http://schemas.openxmlformats.org/presentationml/2006/ole">
            <mc:AlternateContent xmlns:mc="http://schemas.openxmlformats.org/markup-compatibility/2006">
              <mc:Choice xmlns:v="urn:schemas-microsoft-com:vml" Requires="v">
                <p:oleObj spid="_x0000_s21511" name="Chart" r:id="rId3" imgW="9548165" imgH="5387564" progId="Excel.Chart.8">
                  <p:embed/>
                </p:oleObj>
              </mc:Choice>
              <mc:Fallback>
                <p:oleObj name="Chart" r:id="rId3" imgW="9548165" imgH="5387564" progId="Excel.Chart.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0550" y="1181100"/>
                        <a:ext cx="7962900"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509" name="Oval 5"/>
          <p:cNvSpPr>
            <a:spLocks noChangeArrowheads="1"/>
          </p:cNvSpPr>
          <p:nvPr/>
        </p:nvSpPr>
        <p:spPr bwMode="auto">
          <a:xfrm>
            <a:off x="1581150" y="3513138"/>
            <a:ext cx="947738" cy="911225"/>
          </a:xfrm>
          <a:prstGeom prst="ellipse">
            <a:avLst/>
          </a:prstGeom>
          <a:noFill/>
          <a:ln w="25400">
            <a:solidFill>
              <a:srgbClr val="FF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1510" name="Oval 6"/>
          <p:cNvSpPr>
            <a:spLocks noChangeArrowheads="1"/>
          </p:cNvSpPr>
          <p:nvPr/>
        </p:nvSpPr>
        <p:spPr bwMode="auto">
          <a:xfrm>
            <a:off x="6592888" y="3116263"/>
            <a:ext cx="947737" cy="911225"/>
          </a:xfrm>
          <a:prstGeom prst="ellipse">
            <a:avLst/>
          </a:prstGeom>
          <a:noFill/>
          <a:ln w="25400">
            <a:solidFill>
              <a:srgbClr val="FF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1509"/>
                                        </p:tgtEl>
                                        <p:attrNameLst>
                                          <p:attrName>style.visibility</p:attrName>
                                        </p:attrNameLst>
                                      </p:cBhvr>
                                      <p:to>
                                        <p:strVal val="visible"/>
                                      </p:to>
                                    </p:set>
                                  </p:childTnLst>
                                </p:cTn>
                              </p:par>
                            </p:childTnLst>
                          </p:cTn>
                        </p:par>
                        <p:par>
                          <p:cTn id="7" fill="hold" nodeType="afterGroup">
                            <p:stCondLst>
                              <p:cond delay="500"/>
                            </p:stCondLst>
                            <p:childTnLst>
                              <p:par>
                                <p:cTn id="8" presetID="1" presetClass="entr" presetSubtype="0" fill="hold" nodeType="afterEffect">
                                  <p:stCondLst>
                                    <p:cond delay="1000"/>
                                  </p:stCondLst>
                                  <p:childTnLst>
                                    <p:set>
                                      <p:cBhvr>
                                        <p:cTn id="9" dur="1" fill="hold">
                                          <p:stCondLst>
                                            <p:cond delay="499"/>
                                          </p:stCondLst>
                                        </p:cTn>
                                        <p:tgtEl>
                                          <p:spTgt spid="215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482" name="Object 2"/>
          <p:cNvGraphicFramePr>
            <a:graphicFrameLocks noChangeAspect="1"/>
          </p:cNvGraphicFramePr>
          <p:nvPr/>
        </p:nvGraphicFramePr>
        <p:xfrm>
          <a:off x="304800" y="784225"/>
          <a:ext cx="8534400" cy="5287963"/>
        </p:xfrm>
        <a:graphic>
          <a:graphicData uri="http://schemas.openxmlformats.org/presentationml/2006/ole">
            <mc:AlternateContent xmlns:mc="http://schemas.openxmlformats.org/markup-compatibility/2006">
              <mc:Choice xmlns:v="urn:schemas-microsoft-com:vml" Requires="v">
                <p:oleObj spid="_x0000_s20500" name="Chart" r:id="rId3" imgW="6271565" imgH="3886484" progId="Excel.Chart.8">
                  <p:embed/>
                </p:oleObj>
              </mc:Choice>
              <mc:Fallback>
                <p:oleObj name="Chart" r:id="rId3" imgW="6271565" imgH="3886484" progId="Excel.Chart.8">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784225"/>
                        <a:ext cx="8534400" cy="5287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0499" name="Group 19"/>
          <p:cNvGrpSpPr>
            <a:grpSpLocks/>
          </p:cNvGrpSpPr>
          <p:nvPr/>
        </p:nvGrpSpPr>
        <p:grpSpPr bwMode="auto">
          <a:xfrm>
            <a:off x="1077913" y="2200275"/>
            <a:ext cx="7386637" cy="2154238"/>
            <a:chOff x="679" y="1386"/>
            <a:chExt cx="4653" cy="1357"/>
          </a:xfrm>
        </p:grpSpPr>
        <p:sp>
          <p:nvSpPr>
            <p:cNvPr id="20484" name="Line 4"/>
            <p:cNvSpPr>
              <a:spLocks noChangeShapeType="1"/>
            </p:cNvSpPr>
            <p:nvPr/>
          </p:nvSpPr>
          <p:spPr bwMode="auto">
            <a:xfrm flipV="1">
              <a:off x="679" y="1481"/>
              <a:ext cx="0" cy="170"/>
            </a:xfrm>
            <a:prstGeom prst="line">
              <a:avLst/>
            </a:prstGeom>
            <a:noFill/>
            <a:ln w="28575">
              <a:solidFill>
                <a:srgbClr val="FFCC00"/>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488" name="Line 8"/>
            <p:cNvSpPr>
              <a:spLocks noChangeShapeType="1"/>
            </p:cNvSpPr>
            <p:nvPr/>
          </p:nvSpPr>
          <p:spPr bwMode="auto">
            <a:xfrm flipV="1">
              <a:off x="1100" y="1386"/>
              <a:ext cx="0" cy="217"/>
            </a:xfrm>
            <a:prstGeom prst="line">
              <a:avLst/>
            </a:prstGeom>
            <a:noFill/>
            <a:ln w="28575">
              <a:solidFill>
                <a:srgbClr val="FFCC00"/>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489" name="Line 9"/>
            <p:cNvSpPr>
              <a:spLocks noChangeShapeType="1"/>
            </p:cNvSpPr>
            <p:nvPr/>
          </p:nvSpPr>
          <p:spPr bwMode="auto">
            <a:xfrm flipV="1">
              <a:off x="1529" y="1400"/>
              <a:ext cx="0" cy="299"/>
            </a:xfrm>
            <a:prstGeom prst="line">
              <a:avLst/>
            </a:prstGeom>
            <a:noFill/>
            <a:ln w="28575">
              <a:solidFill>
                <a:srgbClr val="FFCC00"/>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490" name="Line 10"/>
            <p:cNvSpPr>
              <a:spLocks noChangeShapeType="1"/>
            </p:cNvSpPr>
            <p:nvPr/>
          </p:nvSpPr>
          <p:spPr bwMode="auto">
            <a:xfrm flipV="1">
              <a:off x="1941" y="1572"/>
              <a:ext cx="0" cy="252"/>
            </a:xfrm>
            <a:prstGeom prst="line">
              <a:avLst/>
            </a:prstGeom>
            <a:noFill/>
            <a:ln w="28575">
              <a:solidFill>
                <a:srgbClr val="FFCC00"/>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491" name="Line 11"/>
            <p:cNvSpPr>
              <a:spLocks noChangeShapeType="1"/>
            </p:cNvSpPr>
            <p:nvPr/>
          </p:nvSpPr>
          <p:spPr bwMode="auto">
            <a:xfrm flipV="1">
              <a:off x="2371" y="1862"/>
              <a:ext cx="0" cy="246"/>
            </a:xfrm>
            <a:prstGeom prst="line">
              <a:avLst/>
            </a:prstGeom>
            <a:noFill/>
            <a:ln w="28575">
              <a:solidFill>
                <a:srgbClr val="FFCC00"/>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492" name="Line 12"/>
            <p:cNvSpPr>
              <a:spLocks noChangeShapeType="1"/>
            </p:cNvSpPr>
            <p:nvPr/>
          </p:nvSpPr>
          <p:spPr bwMode="auto">
            <a:xfrm flipV="1">
              <a:off x="2794" y="2215"/>
              <a:ext cx="0" cy="316"/>
            </a:xfrm>
            <a:prstGeom prst="line">
              <a:avLst/>
            </a:prstGeom>
            <a:noFill/>
            <a:ln w="28575">
              <a:solidFill>
                <a:srgbClr val="FFCC00"/>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493" name="Line 13"/>
            <p:cNvSpPr>
              <a:spLocks noChangeShapeType="1"/>
            </p:cNvSpPr>
            <p:nvPr/>
          </p:nvSpPr>
          <p:spPr bwMode="auto">
            <a:xfrm flipV="1">
              <a:off x="3213" y="2295"/>
              <a:ext cx="0" cy="275"/>
            </a:xfrm>
            <a:prstGeom prst="line">
              <a:avLst/>
            </a:prstGeom>
            <a:noFill/>
            <a:ln w="28575">
              <a:solidFill>
                <a:srgbClr val="FFCC00"/>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494" name="Line 14"/>
            <p:cNvSpPr>
              <a:spLocks noChangeShapeType="1"/>
            </p:cNvSpPr>
            <p:nvPr/>
          </p:nvSpPr>
          <p:spPr bwMode="auto">
            <a:xfrm flipV="1">
              <a:off x="3642" y="2466"/>
              <a:ext cx="0" cy="170"/>
            </a:xfrm>
            <a:prstGeom prst="line">
              <a:avLst/>
            </a:prstGeom>
            <a:noFill/>
            <a:ln w="28575">
              <a:solidFill>
                <a:srgbClr val="FFCC00"/>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495" name="Line 15"/>
            <p:cNvSpPr>
              <a:spLocks noChangeShapeType="1"/>
            </p:cNvSpPr>
            <p:nvPr/>
          </p:nvSpPr>
          <p:spPr bwMode="auto">
            <a:xfrm flipH="1" flipV="1">
              <a:off x="4066" y="2456"/>
              <a:ext cx="0" cy="287"/>
            </a:xfrm>
            <a:prstGeom prst="line">
              <a:avLst/>
            </a:prstGeom>
            <a:noFill/>
            <a:ln w="28575">
              <a:solidFill>
                <a:srgbClr val="FFCC00"/>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496" name="Line 16"/>
            <p:cNvSpPr>
              <a:spLocks noChangeShapeType="1"/>
            </p:cNvSpPr>
            <p:nvPr/>
          </p:nvSpPr>
          <p:spPr bwMode="auto">
            <a:xfrm flipV="1">
              <a:off x="4490" y="2207"/>
              <a:ext cx="0" cy="299"/>
            </a:xfrm>
            <a:prstGeom prst="line">
              <a:avLst/>
            </a:prstGeom>
            <a:noFill/>
            <a:ln w="28575">
              <a:solidFill>
                <a:srgbClr val="FFCC00"/>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497" name="Line 17"/>
            <p:cNvSpPr>
              <a:spLocks noChangeShapeType="1"/>
            </p:cNvSpPr>
            <p:nvPr/>
          </p:nvSpPr>
          <p:spPr bwMode="auto">
            <a:xfrm flipV="1">
              <a:off x="4907" y="2028"/>
              <a:ext cx="0" cy="234"/>
            </a:xfrm>
            <a:prstGeom prst="line">
              <a:avLst/>
            </a:prstGeom>
            <a:noFill/>
            <a:ln w="28575">
              <a:solidFill>
                <a:srgbClr val="FFCC00"/>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498" name="Line 18"/>
            <p:cNvSpPr>
              <a:spLocks noChangeShapeType="1"/>
            </p:cNvSpPr>
            <p:nvPr/>
          </p:nvSpPr>
          <p:spPr bwMode="auto">
            <a:xfrm flipV="1">
              <a:off x="5332" y="1696"/>
              <a:ext cx="0" cy="170"/>
            </a:xfrm>
            <a:prstGeom prst="line">
              <a:avLst/>
            </a:prstGeom>
            <a:noFill/>
            <a:ln w="28575">
              <a:solidFill>
                <a:srgbClr val="FFCC00"/>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04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435" name="Object 3"/>
          <p:cNvGraphicFramePr>
            <a:graphicFrameLocks noChangeAspect="1"/>
          </p:cNvGraphicFramePr>
          <p:nvPr/>
        </p:nvGraphicFramePr>
        <p:xfrm>
          <a:off x="609600" y="1177925"/>
          <a:ext cx="7848600" cy="4459288"/>
        </p:xfrm>
        <a:graphic>
          <a:graphicData uri="http://schemas.openxmlformats.org/presentationml/2006/ole">
            <mc:AlternateContent xmlns:mc="http://schemas.openxmlformats.org/markup-compatibility/2006">
              <mc:Choice xmlns:v="urn:schemas-microsoft-com:vml" Requires="v">
                <p:oleObj spid="_x0000_s18439" name="Chart" r:id="rId3" imgW="5890565" imgH="3345485" progId="Excel.Chart.8">
                  <p:embed/>
                </p:oleObj>
              </mc:Choice>
              <mc:Fallback>
                <p:oleObj name="Chart" r:id="rId3" imgW="5890565" imgH="3345485" progId="Excel.Chart.8">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1177925"/>
                        <a:ext cx="7848600" cy="445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436" name="Text Box 4"/>
          <p:cNvSpPr txBox="1">
            <a:spLocks noChangeArrowheads="1"/>
          </p:cNvSpPr>
          <p:nvPr/>
        </p:nvSpPr>
        <p:spPr bwMode="auto">
          <a:xfrm>
            <a:off x="4402138" y="4699000"/>
            <a:ext cx="2725737" cy="457200"/>
          </a:xfrm>
          <a:prstGeom prst="rect">
            <a:avLst/>
          </a:prstGeom>
          <a:solidFill>
            <a:srgbClr val="CC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a:effectLst>
                  <a:outerShdw blurRad="38100" dist="38100" dir="2700000" algn="tl">
                    <a:srgbClr val="000000"/>
                  </a:outerShdw>
                </a:effectLst>
              </a:rPr>
              <a:t>August 0.64 ºC/100a</a:t>
            </a:r>
          </a:p>
        </p:txBody>
      </p:sp>
      <p:sp>
        <p:nvSpPr>
          <p:cNvPr id="18437" name="Text Box 5"/>
          <p:cNvSpPr txBox="1">
            <a:spLocks noChangeArrowheads="1"/>
          </p:cNvSpPr>
          <p:nvPr/>
        </p:nvSpPr>
        <p:spPr bwMode="auto">
          <a:xfrm>
            <a:off x="1651000" y="2293938"/>
            <a:ext cx="2640013" cy="457200"/>
          </a:xfrm>
          <a:prstGeom prst="rect">
            <a:avLst/>
          </a:prstGeom>
          <a:solidFill>
            <a:srgbClr val="CC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effectLst>
                  <a:outerShdw blurRad="38100" dist="38100" dir="2700000" algn="tl">
                    <a:srgbClr val="000000"/>
                  </a:outerShdw>
                </a:effectLst>
              </a:rPr>
              <a:t>March 2.76 ºC/100a</a:t>
            </a:r>
          </a:p>
        </p:txBody>
      </p:sp>
      <p:sp>
        <p:nvSpPr>
          <p:cNvPr id="18438" name="Text Box 6"/>
          <p:cNvSpPr txBox="1">
            <a:spLocks noChangeArrowheads="1"/>
          </p:cNvSpPr>
          <p:nvPr/>
        </p:nvSpPr>
        <p:spPr bwMode="auto">
          <a:xfrm>
            <a:off x="3365500" y="3430588"/>
            <a:ext cx="2876550" cy="457200"/>
          </a:xfrm>
          <a:prstGeom prst="rect">
            <a:avLst/>
          </a:prstGeom>
          <a:solidFill>
            <a:srgbClr val="CC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effectLst>
                  <a:outerShdw blurRad="38100" dist="38100" dir="2700000" algn="tl">
                    <a:srgbClr val="000000"/>
                  </a:outerShdw>
                </a:effectLst>
              </a:rPr>
              <a:t>Average 1.74 ºC/100a</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843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843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84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6" grpId="0" animBg="1" autoUpdateAnimBg="0"/>
      <p:bldP spid="18437" grpId="0" animBg="1" autoUpdateAnimBg="0"/>
      <p:bldP spid="18438" grpId="0" animBg="1"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530" name="Object 2"/>
          <p:cNvGraphicFramePr>
            <a:graphicFrameLocks noChangeAspect="1"/>
          </p:cNvGraphicFramePr>
          <p:nvPr/>
        </p:nvGraphicFramePr>
        <p:xfrm>
          <a:off x="182563" y="620713"/>
          <a:ext cx="8780462" cy="5616575"/>
        </p:xfrm>
        <a:graphic>
          <a:graphicData uri="http://schemas.openxmlformats.org/presentationml/2006/ole">
            <mc:AlternateContent xmlns:mc="http://schemas.openxmlformats.org/markup-compatibility/2006">
              <mc:Choice xmlns:v="urn:schemas-microsoft-com:vml" Requires="v">
                <p:oleObj spid="_x0000_s22538" name="Chart" r:id="rId3" imgW="8778545" imgH="5616123" progId="Excel.Chart.8">
                  <p:embed/>
                </p:oleObj>
              </mc:Choice>
              <mc:Fallback>
                <p:oleObj name="Chart" r:id="rId3" imgW="8778545" imgH="5616123" progId="Excel.Chart.8">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563" y="620713"/>
                        <a:ext cx="8780462" cy="561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531" name="Rectangle 3"/>
          <p:cNvSpPr>
            <a:spLocks noChangeArrowheads="1"/>
          </p:cNvSpPr>
          <p:nvPr/>
        </p:nvSpPr>
        <p:spPr bwMode="auto">
          <a:xfrm>
            <a:off x="8001000" y="1905000"/>
            <a:ext cx="762000" cy="2971800"/>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2535" name="Rectangle 7"/>
          <p:cNvSpPr>
            <a:spLocks noChangeArrowheads="1"/>
          </p:cNvSpPr>
          <p:nvPr/>
        </p:nvSpPr>
        <p:spPr bwMode="auto">
          <a:xfrm>
            <a:off x="8293100" y="2224088"/>
            <a:ext cx="501650" cy="777875"/>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grpSp>
        <p:nvGrpSpPr>
          <p:cNvPr id="22537" name="Group 9"/>
          <p:cNvGrpSpPr>
            <a:grpSpLocks/>
          </p:cNvGrpSpPr>
          <p:nvPr/>
        </p:nvGrpSpPr>
        <p:grpSpPr bwMode="auto">
          <a:xfrm>
            <a:off x="4721225" y="2867025"/>
            <a:ext cx="3524250" cy="1138238"/>
            <a:chOff x="2974" y="1806"/>
            <a:chExt cx="2220" cy="717"/>
          </a:xfrm>
        </p:grpSpPr>
        <p:sp>
          <p:nvSpPr>
            <p:cNvPr id="22532" name="Line 4"/>
            <p:cNvSpPr>
              <a:spLocks noChangeShapeType="1"/>
            </p:cNvSpPr>
            <p:nvPr/>
          </p:nvSpPr>
          <p:spPr bwMode="auto">
            <a:xfrm flipV="1">
              <a:off x="5087" y="2020"/>
              <a:ext cx="0" cy="503"/>
            </a:xfrm>
            <a:prstGeom prst="line">
              <a:avLst/>
            </a:prstGeom>
            <a:noFill/>
            <a:ln w="28575">
              <a:solidFill>
                <a:srgbClr val="FFCC00"/>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2533" name="Text Box 5"/>
            <p:cNvSpPr txBox="1">
              <a:spLocks noChangeArrowheads="1"/>
            </p:cNvSpPr>
            <p:nvPr/>
          </p:nvSpPr>
          <p:spPr bwMode="auto">
            <a:xfrm>
              <a:off x="2974" y="2084"/>
              <a:ext cx="200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a:solidFill>
                    <a:srgbClr val="CCCC00"/>
                  </a:solidFill>
                  <a:effectLst>
                    <a:outerShdw blurRad="38100" dist="38100" dir="2700000" algn="tl">
                      <a:srgbClr val="000000"/>
                    </a:outerShdw>
                  </a:effectLst>
                </a:rPr>
                <a:t>Lapse rate 0.72 ºC</a:t>
              </a:r>
              <a:endParaRPr lang="en-US" altLang="en-US" sz="3200">
                <a:effectLst>
                  <a:outerShdw blurRad="38100" dist="38100" dir="2700000" algn="tl">
                    <a:srgbClr val="000000"/>
                  </a:outerShdw>
                </a:effectLst>
              </a:endParaRPr>
            </a:p>
          </p:txBody>
        </p:sp>
        <p:sp>
          <p:nvSpPr>
            <p:cNvPr id="22536" name="Line 8"/>
            <p:cNvSpPr>
              <a:spLocks noChangeShapeType="1"/>
            </p:cNvSpPr>
            <p:nvPr/>
          </p:nvSpPr>
          <p:spPr bwMode="auto">
            <a:xfrm flipV="1">
              <a:off x="5194" y="1806"/>
              <a:ext cx="0" cy="503"/>
            </a:xfrm>
            <a:prstGeom prst="line">
              <a:avLst/>
            </a:prstGeom>
            <a:noFill/>
            <a:ln w="28575">
              <a:solidFill>
                <a:srgbClr val="FFCC00"/>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2531"/>
                                        </p:tgtEl>
                                        <p:attrNameLst>
                                          <p:attrName>style.visibility</p:attrName>
                                        </p:attrNameLst>
                                      </p:cBhvr>
                                      <p:to>
                                        <p:strVal val="visible"/>
                                      </p:to>
                                    </p:set>
                                  </p:childTnLst>
                                  <p:subTnLst>
                                    <p:set>
                                      <p:cBhvr override="childStyle">
                                        <p:cTn dur="1" fill="hold" display="0" masterRel="nextClick" afterEffect="1"/>
                                        <p:tgtEl>
                                          <p:spTgt spid="22531"/>
                                        </p:tgtEl>
                                        <p:attrNameLst>
                                          <p:attrName>style.visibility</p:attrName>
                                        </p:attrNameLst>
                                      </p:cBhvr>
                                      <p:to>
                                        <p:strVal val="hidden"/>
                                      </p:to>
                                    </p:set>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2253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225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4" name="Rectangle 8"/>
          <p:cNvSpPr>
            <a:spLocks noChangeArrowheads="1"/>
          </p:cNvSpPr>
          <p:nvPr/>
        </p:nvSpPr>
        <p:spPr bwMode="auto">
          <a:xfrm>
            <a:off x="762000" y="6477000"/>
            <a:ext cx="8382000" cy="2286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19462" name="Rectangle 6"/>
          <p:cNvSpPr>
            <a:spLocks noChangeArrowheads="1"/>
          </p:cNvSpPr>
          <p:nvPr/>
        </p:nvSpPr>
        <p:spPr bwMode="auto">
          <a:xfrm>
            <a:off x="762000" y="3657600"/>
            <a:ext cx="304800" cy="28956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19463" name="Rectangle 7"/>
          <p:cNvSpPr>
            <a:spLocks noChangeArrowheads="1"/>
          </p:cNvSpPr>
          <p:nvPr/>
        </p:nvSpPr>
        <p:spPr bwMode="auto">
          <a:xfrm>
            <a:off x="762000" y="0"/>
            <a:ext cx="304800" cy="36576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9461" name="Rectangle 5"/>
          <p:cNvSpPr>
            <a:spLocks noChangeArrowheads="1"/>
          </p:cNvSpPr>
          <p:nvPr/>
        </p:nvSpPr>
        <p:spPr bwMode="auto">
          <a:xfrm>
            <a:off x="3200400" y="3276600"/>
            <a:ext cx="2743200" cy="3810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9460" name="Rectangle 4"/>
          <p:cNvSpPr>
            <a:spLocks noChangeArrowheads="1"/>
          </p:cNvSpPr>
          <p:nvPr/>
        </p:nvSpPr>
        <p:spPr bwMode="auto">
          <a:xfrm>
            <a:off x="3124200" y="0"/>
            <a:ext cx="2743200" cy="3810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graphicFrame>
        <p:nvGraphicFramePr>
          <p:cNvPr id="19458" name="Object 2"/>
          <p:cNvGraphicFramePr>
            <a:graphicFrameLocks noChangeAspect="1"/>
          </p:cNvGraphicFramePr>
          <p:nvPr/>
        </p:nvGraphicFramePr>
        <p:xfrm>
          <a:off x="609600" y="3352800"/>
          <a:ext cx="7956550" cy="3359150"/>
        </p:xfrm>
        <a:graphic>
          <a:graphicData uri="http://schemas.openxmlformats.org/presentationml/2006/ole">
            <mc:AlternateContent xmlns:mc="http://schemas.openxmlformats.org/markup-compatibility/2006">
              <mc:Choice xmlns:v="urn:schemas-microsoft-com:vml" Requires="v">
                <p:oleObj spid="_x0000_s19494" name="Chart" r:id="rId3" imgW="9540545" imgH="5859963" progId="Excel.Chart.8">
                  <p:embed/>
                </p:oleObj>
              </mc:Choice>
              <mc:Fallback>
                <p:oleObj name="Chart" r:id="rId3" imgW="9540545" imgH="5859963" progId="Excel.Chart.8">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3352800"/>
                        <a:ext cx="7956550" cy="3359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459" name="Object 3"/>
          <p:cNvGraphicFramePr>
            <a:graphicFrameLocks noChangeAspect="1"/>
          </p:cNvGraphicFramePr>
          <p:nvPr/>
        </p:nvGraphicFramePr>
        <p:xfrm>
          <a:off x="762000" y="0"/>
          <a:ext cx="7467600" cy="3352800"/>
        </p:xfrm>
        <a:graphic>
          <a:graphicData uri="http://schemas.openxmlformats.org/presentationml/2006/ole">
            <mc:AlternateContent xmlns:mc="http://schemas.openxmlformats.org/markup-compatibility/2006">
              <mc:Choice xmlns:v="urn:schemas-microsoft-com:vml" Requires="v">
                <p:oleObj spid="_x0000_s19495" name="Chart" r:id="rId5" imgW="9129065" imgH="5212324" progId="Excel.Chart.8">
                  <p:embed/>
                </p:oleObj>
              </mc:Choice>
              <mc:Fallback>
                <p:oleObj name="Chart" r:id="rId5" imgW="9129065" imgH="5212324" progId="Excel.Chart.8">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2000" y="0"/>
                        <a:ext cx="7467600"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9483" name="Group 27"/>
          <p:cNvGrpSpPr>
            <a:grpSpLocks/>
          </p:cNvGrpSpPr>
          <p:nvPr/>
        </p:nvGrpSpPr>
        <p:grpSpPr bwMode="auto">
          <a:xfrm>
            <a:off x="1905000" y="152400"/>
            <a:ext cx="5561013" cy="1143000"/>
            <a:chOff x="1200" y="96"/>
            <a:chExt cx="3503" cy="720"/>
          </a:xfrm>
        </p:grpSpPr>
        <p:sp>
          <p:nvSpPr>
            <p:cNvPr id="19470" name="Text Box 14"/>
            <p:cNvSpPr txBox="1">
              <a:spLocks noChangeArrowheads="1"/>
            </p:cNvSpPr>
            <p:nvPr/>
          </p:nvSpPr>
          <p:spPr bwMode="auto">
            <a:xfrm>
              <a:off x="2640" y="192"/>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CC6600"/>
                  </a:solidFill>
                  <a:sym typeface="Wingdings 3" panose="05040102010807070707" pitchFamily="18" charset="2"/>
                </a:rPr>
                <a:t></a:t>
              </a:r>
              <a:endParaRPr lang="en-US" altLang="en-US"/>
            </a:p>
          </p:txBody>
        </p:sp>
        <p:grpSp>
          <p:nvGrpSpPr>
            <p:cNvPr id="19482" name="Group 26"/>
            <p:cNvGrpSpPr>
              <a:grpSpLocks/>
            </p:cNvGrpSpPr>
            <p:nvPr/>
          </p:nvGrpSpPr>
          <p:grpSpPr bwMode="auto">
            <a:xfrm>
              <a:off x="1296" y="96"/>
              <a:ext cx="3407" cy="720"/>
              <a:chOff x="1296" y="96"/>
              <a:chExt cx="3407" cy="720"/>
            </a:xfrm>
          </p:grpSpPr>
          <p:sp>
            <p:nvSpPr>
              <p:cNvPr id="19469" name="Text Box 13"/>
              <p:cNvSpPr txBox="1">
                <a:spLocks noChangeArrowheads="1"/>
              </p:cNvSpPr>
              <p:nvPr/>
            </p:nvSpPr>
            <p:spPr bwMode="auto">
              <a:xfrm>
                <a:off x="1296" y="336"/>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CC6600"/>
                    </a:solidFill>
                    <a:sym typeface="Wingdings 3" panose="05040102010807070707" pitchFamily="18" charset="2"/>
                  </a:rPr>
                  <a:t></a:t>
                </a:r>
                <a:endParaRPr lang="en-US" altLang="en-US"/>
              </a:p>
            </p:txBody>
          </p:sp>
          <p:sp>
            <p:nvSpPr>
              <p:cNvPr id="19471" name="Text Box 15"/>
              <p:cNvSpPr txBox="1">
                <a:spLocks noChangeArrowheads="1"/>
              </p:cNvSpPr>
              <p:nvPr/>
            </p:nvSpPr>
            <p:spPr bwMode="auto">
              <a:xfrm>
                <a:off x="4416" y="96"/>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CC6600"/>
                    </a:solidFill>
                    <a:sym typeface="Wingdings 3" panose="05040102010807070707" pitchFamily="18" charset="2"/>
                  </a:rPr>
                  <a:t></a:t>
                </a:r>
                <a:endParaRPr lang="en-US" altLang="en-US"/>
              </a:p>
            </p:txBody>
          </p:sp>
          <p:sp>
            <p:nvSpPr>
              <p:cNvPr id="19472" name="Text Box 16"/>
              <p:cNvSpPr txBox="1">
                <a:spLocks noChangeArrowheads="1"/>
              </p:cNvSpPr>
              <p:nvPr/>
            </p:nvSpPr>
            <p:spPr bwMode="auto">
              <a:xfrm>
                <a:off x="4272" y="432"/>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CC6600"/>
                    </a:solidFill>
                    <a:sym typeface="Wingdings 3" panose="05040102010807070707" pitchFamily="18" charset="2"/>
                  </a:rPr>
                  <a:t></a:t>
                </a:r>
                <a:endParaRPr lang="en-US" altLang="en-US"/>
              </a:p>
            </p:txBody>
          </p:sp>
          <p:sp>
            <p:nvSpPr>
              <p:cNvPr id="19473" name="Text Box 17"/>
              <p:cNvSpPr txBox="1">
                <a:spLocks noChangeArrowheads="1"/>
              </p:cNvSpPr>
              <p:nvPr/>
            </p:nvSpPr>
            <p:spPr bwMode="auto">
              <a:xfrm>
                <a:off x="4176" y="432"/>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CC6600"/>
                    </a:solidFill>
                    <a:sym typeface="Wingdings 3" panose="05040102010807070707" pitchFamily="18" charset="2"/>
                  </a:rPr>
                  <a:t></a:t>
                </a:r>
                <a:endParaRPr lang="en-US" altLang="en-US"/>
              </a:p>
            </p:txBody>
          </p:sp>
          <p:sp>
            <p:nvSpPr>
              <p:cNvPr id="19474" name="Text Box 18"/>
              <p:cNvSpPr txBox="1">
                <a:spLocks noChangeArrowheads="1"/>
              </p:cNvSpPr>
              <p:nvPr/>
            </p:nvSpPr>
            <p:spPr bwMode="auto">
              <a:xfrm>
                <a:off x="3888" y="288"/>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CC6600"/>
                    </a:solidFill>
                    <a:sym typeface="Wingdings 3" panose="05040102010807070707" pitchFamily="18" charset="2"/>
                  </a:rPr>
                  <a:t></a:t>
                </a:r>
                <a:endParaRPr lang="en-US" altLang="en-US"/>
              </a:p>
            </p:txBody>
          </p:sp>
          <p:sp>
            <p:nvSpPr>
              <p:cNvPr id="19475" name="Text Box 19"/>
              <p:cNvSpPr txBox="1">
                <a:spLocks noChangeArrowheads="1"/>
              </p:cNvSpPr>
              <p:nvPr/>
            </p:nvSpPr>
            <p:spPr bwMode="auto">
              <a:xfrm>
                <a:off x="3265" y="288"/>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CC6600"/>
                    </a:solidFill>
                    <a:sym typeface="Wingdings 3" panose="05040102010807070707" pitchFamily="18" charset="2"/>
                  </a:rPr>
                  <a:t></a:t>
                </a:r>
                <a:endParaRPr lang="en-US" altLang="en-US"/>
              </a:p>
            </p:txBody>
          </p:sp>
          <p:sp>
            <p:nvSpPr>
              <p:cNvPr id="19476" name="Text Box 20"/>
              <p:cNvSpPr txBox="1">
                <a:spLocks noChangeArrowheads="1"/>
              </p:cNvSpPr>
              <p:nvPr/>
            </p:nvSpPr>
            <p:spPr bwMode="auto">
              <a:xfrm>
                <a:off x="3120" y="528"/>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CC6600"/>
                    </a:solidFill>
                    <a:sym typeface="Wingdings 3" panose="05040102010807070707" pitchFamily="18" charset="2"/>
                  </a:rPr>
                  <a:t></a:t>
                </a:r>
                <a:endParaRPr lang="en-US" altLang="en-US"/>
              </a:p>
            </p:txBody>
          </p:sp>
          <p:sp>
            <p:nvSpPr>
              <p:cNvPr id="19477" name="Text Box 21"/>
              <p:cNvSpPr txBox="1">
                <a:spLocks noChangeArrowheads="1"/>
              </p:cNvSpPr>
              <p:nvPr/>
            </p:nvSpPr>
            <p:spPr bwMode="auto">
              <a:xfrm>
                <a:off x="2928" y="528"/>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CC6600"/>
                    </a:solidFill>
                    <a:sym typeface="Wingdings 3" panose="05040102010807070707" pitchFamily="18" charset="2"/>
                  </a:rPr>
                  <a:t></a:t>
                </a:r>
                <a:endParaRPr lang="en-US" altLang="en-US"/>
              </a:p>
            </p:txBody>
          </p:sp>
          <p:sp>
            <p:nvSpPr>
              <p:cNvPr id="19478" name="Text Box 22"/>
              <p:cNvSpPr txBox="1">
                <a:spLocks noChangeArrowheads="1"/>
              </p:cNvSpPr>
              <p:nvPr/>
            </p:nvSpPr>
            <p:spPr bwMode="auto">
              <a:xfrm>
                <a:off x="2784" y="528"/>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CC6600"/>
                    </a:solidFill>
                    <a:sym typeface="Wingdings 3" panose="05040102010807070707" pitchFamily="18" charset="2"/>
                  </a:rPr>
                  <a:t></a:t>
                </a:r>
                <a:endParaRPr lang="en-US" altLang="en-US"/>
              </a:p>
            </p:txBody>
          </p:sp>
          <p:sp>
            <p:nvSpPr>
              <p:cNvPr id="19479" name="Text Box 23"/>
              <p:cNvSpPr txBox="1">
                <a:spLocks noChangeArrowheads="1"/>
              </p:cNvSpPr>
              <p:nvPr/>
            </p:nvSpPr>
            <p:spPr bwMode="auto">
              <a:xfrm>
                <a:off x="2592" y="288"/>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CC6600"/>
                    </a:solidFill>
                    <a:sym typeface="Wingdings 3" panose="05040102010807070707" pitchFamily="18" charset="2"/>
                  </a:rPr>
                  <a:t></a:t>
                </a:r>
                <a:endParaRPr lang="en-US" altLang="en-US"/>
              </a:p>
            </p:txBody>
          </p:sp>
        </p:grpSp>
        <p:sp>
          <p:nvSpPr>
            <p:cNvPr id="19480" name="Text Box 24"/>
            <p:cNvSpPr txBox="1">
              <a:spLocks noChangeArrowheads="1"/>
            </p:cNvSpPr>
            <p:nvPr/>
          </p:nvSpPr>
          <p:spPr bwMode="auto">
            <a:xfrm>
              <a:off x="1200" y="336"/>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CC6600"/>
                  </a:solidFill>
                  <a:sym typeface="Wingdings 3" panose="05040102010807070707" pitchFamily="18" charset="2"/>
                </a:rPr>
                <a:t></a:t>
              </a:r>
              <a:endParaRPr lang="en-US" altLang="en-US"/>
            </a:p>
          </p:txBody>
        </p:sp>
      </p:grpSp>
      <p:sp>
        <p:nvSpPr>
          <p:cNvPr id="19481" name="Text Box 25"/>
          <p:cNvSpPr txBox="1">
            <a:spLocks noChangeArrowheads="1"/>
          </p:cNvSpPr>
          <p:nvPr/>
        </p:nvSpPr>
        <p:spPr bwMode="auto">
          <a:xfrm>
            <a:off x="5105400" y="3733800"/>
            <a:ext cx="4556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CC6600"/>
                </a:solidFill>
                <a:sym typeface="Wingdings 3" panose="05040102010807070707" pitchFamily="18" charset="2"/>
              </a:rPr>
              <a:t></a:t>
            </a:r>
            <a:endParaRPr lang="en-US" altLang="en-US"/>
          </a:p>
        </p:txBody>
      </p:sp>
      <p:grpSp>
        <p:nvGrpSpPr>
          <p:cNvPr id="19486" name="Group 30"/>
          <p:cNvGrpSpPr>
            <a:grpSpLocks/>
          </p:cNvGrpSpPr>
          <p:nvPr/>
        </p:nvGrpSpPr>
        <p:grpSpPr bwMode="auto">
          <a:xfrm>
            <a:off x="3505200" y="685800"/>
            <a:ext cx="2017713" cy="2514600"/>
            <a:chOff x="2208" y="432"/>
            <a:chExt cx="1271" cy="1584"/>
          </a:xfrm>
        </p:grpSpPr>
        <p:sp>
          <p:nvSpPr>
            <p:cNvPr id="19484" name="Rectangle 28"/>
            <p:cNvSpPr>
              <a:spLocks noChangeArrowheads="1"/>
            </p:cNvSpPr>
            <p:nvPr/>
          </p:nvSpPr>
          <p:spPr bwMode="auto">
            <a:xfrm>
              <a:off x="2736" y="432"/>
              <a:ext cx="96" cy="720"/>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9485" name="Text Box 29"/>
            <p:cNvSpPr txBox="1">
              <a:spLocks noChangeArrowheads="1"/>
            </p:cNvSpPr>
            <p:nvPr/>
          </p:nvSpPr>
          <p:spPr bwMode="auto">
            <a:xfrm>
              <a:off x="2208" y="1728"/>
              <a:ext cx="127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effectLst>
                    <a:outerShdw blurRad="38100" dist="38100" dir="2700000" algn="tl">
                      <a:srgbClr val="000000"/>
                    </a:outerShdw>
                  </a:effectLst>
                </a:rPr>
                <a:t>33 hours &gt;7 ºC</a:t>
              </a:r>
              <a:endParaRPr lang="en-US" altLang="en-US"/>
            </a:p>
          </p:txBody>
        </p:sp>
      </p:grpSp>
      <p:sp>
        <p:nvSpPr>
          <p:cNvPr id="19487" name="Text Box 31"/>
          <p:cNvSpPr txBox="1">
            <a:spLocks noChangeArrowheads="1"/>
          </p:cNvSpPr>
          <p:nvPr/>
        </p:nvSpPr>
        <p:spPr bwMode="auto">
          <a:xfrm>
            <a:off x="5754688" y="2792413"/>
            <a:ext cx="23987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effectLst>
                  <a:outerShdw blurRad="38100" dist="38100" dir="2700000" algn="tl">
                    <a:srgbClr val="000000"/>
                  </a:outerShdw>
                </a:effectLst>
              </a:rPr>
              <a:t>Rock AWS, 550m asl</a:t>
            </a:r>
          </a:p>
        </p:txBody>
      </p:sp>
      <p:sp>
        <p:nvSpPr>
          <p:cNvPr id="19488" name="Text Box 32"/>
          <p:cNvSpPr txBox="1">
            <a:spLocks noChangeArrowheads="1"/>
          </p:cNvSpPr>
          <p:nvPr/>
        </p:nvSpPr>
        <p:spPr bwMode="auto">
          <a:xfrm>
            <a:off x="5122863" y="6019800"/>
            <a:ext cx="29543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effectLst>
                  <a:outerShdw blurRad="38100" dist="38100" dir="2700000" algn="tl">
                    <a:srgbClr val="000000"/>
                  </a:outerShdw>
                </a:effectLst>
              </a:rPr>
              <a:t>Atlas Cove AWS, sea level</a:t>
            </a:r>
          </a:p>
        </p:txBody>
      </p:sp>
      <p:grpSp>
        <p:nvGrpSpPr>
          <p:cNvPr id="19491" name="Group 35"/>
          <p:cNvGrpSpPr>
            <a:grpSpLocks/>
          </p:cNvGrpSpPr>
          <p:nvPr/>
        </p:nvGrpSpPr>
        <p:grpSpPr bwMode="auto">
          <a:xfrm>
            <a:off x="1143000" y="2286000"/>
            <a:ext cx="6934200" cy="3276600"/>
            <a:chOff x="720" y="1440"/>
            <a:chExt cx="4368" cy="2064"/>
          </a:xfrm>
        </p:grpSpPr>
        <p:sp>
          <p:nvSpPr>
            <p:cNvPr id="19489" name="Line 33"/>
            <p:cNvSpPr>
              <a:spLocks noChangeShapeType="1"/>
            </p:cNvSpPr>
            <p:nvPr/>
          </p:nvSpPr>
          <p:spPr bwMode="auto">
            <a:xfrm>
              <a:off x="720" y="1440"/>
              <a:ext cx="4368" cy="0"/>
            </a:xfrm>
            <a:prstGeom prst="line">
              <a:avLst/>
            </a:prstGeom>
            <a:noFill/>
            <a:ln w="254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9490" name="Line 34"/>
            <p:cNvSpPr>
              <a:spLocks noChangeShapeType="1"/>
            </p:cNvSpPr>
            <p:nvPr/>
          </p:nvSpPr>
          <p:spPr bwMode="auto">
            <a:xfrm>
              <a:off x="720" y="3504"/>
              <a:ext cx="4368" cy="0"/>
            </a:xfrm>
            <a:prstGeom prst="line">
              <a:avLst/>
            </a:prstGeom>
            <a:noFill/>
            <a:ln w="254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grpSp>
      <p:sp>
        <p:nvSpPr>
          <p:cNvPr id="19493" name="Text Box 37"/>
          <p:cNvSpPr txBox="1">
            <a:spLocks noChangeArrowheads="1"/>
          </p:cNvSpPr>
          <p:nvPr/>
        </p:nvSpPr>
        <p:spPr bwMode="auto">
          <a:xfrm>
            <a:off x="1116013" y="869950"/>
            <a:ext cx="6992937" cy="1798638"/>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8800" i="1"/>
              <a:t>Föhn Winds</a:t>
            </a:r>
          </a:p>
          <a:p>
            <a:pPr algn="ctr"/>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9491"/>
                                        </p:tgtEl>
                                        <p:attrNameLst>
                                          <p:attrName>style.visibility</p:attrName>
                                        </p:attrNameLst>
                                      </p:cBhvr>
                                      <p:to>
                                        <p:strVal val="visible"/>
                                      </p:to>
                                    </p:set>
                                    <p:anim calcmode="lin" valueType="num">
                                      <p:cBhvr additive="base">
                                        <p:cTn id="7" dur="500" fill="hold"/>
                                        <p:tgtEl>
                                          <p:spTgt spid="19491"/>
                                        </p:tgtEl>
                                        <p:attrNameLst>
                                          <p:attrName>ppt_x</p:attrName>
                                        </p:attrNameLst>
                                      </p:cBhvr>
                                      <p:tavLst>
                                        <p:tav tm="0">
                                          <p:val>
                                            <p:strVal val="0-#ppt_w/2"/>
                                          </p:val>
                                        </p:tav>
                                        <p:tav tm="100000">
                                          <p:val>
                                            <p:strVal val="#ppt_x"/>
                                          </p:val>
                                        </p:tav>
                                      </p:tavLst>
                                    </p:anim>
                                    <p:anim calcmode="lin" valueType="num">
                                      <p:cBhvr additive="base">
                                        <p:cTn id="8" dur="500" fill="hold"/>
                                        <p:tgtEl>
                                          <p:spTgt spid="1949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19481"/>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499"/>
                                          </p:stCondLst>
                                        </p:cTn>
                                        <p:tgtEl>
                                          <p:spTgt spid="19483"/>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1" fill="hold" grpId="0" nodeType="clickEffect">
                                  <p:stCondLst>
                                    <p:cond delay="0"/>
                                  </p:stCondLst>
                                  <p:childTnLst>
                                    <p:set>
                                      <p:cBhvr>
                                        <p:cTn id="20" dur="1" fill="hold">
                                          <p:stCondLst>
                                            <p:cond delay="0"/>
                                          </p:stCondLst>
                                        </p:cTn>
                                        <p:tgtEl>
                                          <p:spTgt spid="19493"/>
                                        </p:tgtEl>
                                        <p:attrNameLst>
                                          <p:attrName>style.visibility</p:attrName>
                                        </p:attrNameLst>
                                      </p:cBhvr>
                                      <p:to>
                                        <p:strVal val="visible"/>
                                      </p:to>
                                    </p:set>
                                    <p:anim calcmode="lin" valueType="num">
                                      <p:cBhvr additive="base">
                                        <p:cTn id="21" dur="500" fill="hold"/>
                                        <p:tgtEl>
                                          <p:spTgt spid="19493"/>
                                        </p:tgtEl>
                                        <p:attrNameLst>
                                          <p:attrName>ppt_x</p:attrName>
                                        </p:attrNameLst>
                                      </p:cBhvr>
                                      <p:tavLst>
                                        <p:tav tm="0">
                                          <p:val>
                                            <p:strVal val="#ppt_x"/>
                                          </p:val>
                                        </p:tav>
                                        <p:tav tm="100000">
                                          <p:val>
                                            <p:strVal val="#ppt_x"/>
                                          </p:val>
                                        </p:tav>
                                      </p:tavLst>
                                    </p:anim>
                                    <p:anim calcmode="lin" valueType="num">
                                      <p:cBhvr additive="base">
                                        <p:cTn id="22" dur="500" fill="hold"/>
                                        <p:tgtEl>
                                          <p:spTgt spid="19493"/>
                                        </p:tgtEl>
                                        <p:attrNameLst>
                                          <p:attrName>ppt_y</p:attrName>
                                        </p:attrNameLst>
                                      </p:cBhvr>
                                      <p:tavLst>
                                        <p:tav tm="0">
                                          <p:val>
                                            <p:strVal val="0-#ppt_h/2"/>
                                          </p:val>
                                        </p:tav>
                                        <p:tav tm="100000">
                                          <p:val>
                                            <p:strVal val="#ppt_y"/>
                                          </p:val>
                                        </p:tav>
                                      </p:tavLst>
                                    </p:anim>
                                  </p:childTnLst>
                                  <p:subTnLst>
                                    <p:set>
                                      <p:cBhvr override="childStyle">
                                        <p:cTn dur="1" fill="hold" display="0" masterRel="nextClick" afterEffect="1"/>
                                        <p:tgtEl>
                                          <p:spTgt spid="19493"/>
                                        </p:tgtEl>
                                        <p:attrNameLst>
                                          <p:attrName>style.visibility</p:attrName>
                                        </p:attrNameLst>
                                      </p:cBhvr>
                                      <p:to>
                                        <p:strVal val="hidden"/>
                                      </p:to>
                                    </p:set>
                                  </p:sub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194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81" grpId="0" autoUpdateAnimBg="0"/>
      <p:bldP spid="19493" grpId="0" animBg="1"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ChangeArrowheads="1"/>
          </p:cNvSpPr>
          <p:nvPr/>
        </p:nvSpPr>
        <p:spPr bwMode="auto">
          <a:xfrm>
            <a:off x="762000" y="6477000"/>
            <a:ext cx="8382000" cy="2286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23555" name="Rectangle 3"/>
          <p:cNvSpPr>
            <a:spLocks noChangeArrowheads="1"/>
          </p:cNvSpPr>
          <p:nvPr/>
        </p:nvSpPr>
        <p:spPr bwMode="auto">
          <a:xfrm>
            <a:off x="762000" y="3657600"/>
            <a:ext cx="304800" cy="28956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23556" name="Rectangle 4"/>
          <p:cNvSpPr>
            <a:spLocks noChangeArrowheads="1"/>
          </p:cNvSpPr>
          <p:nvPr/>
        </p:nvSpPr>
        <p:spPr bwMode="auto">
          <a:xfrm>
            <a:off x="762000" y="0"/>
            <a:ext cx="304800" cy="36576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3557" name="Rectangle 5"/>
          <p:cNvSpPr>
            <a:spLocks noChangeArrowheads="1"/>
          </p:cNvSpPr>
          <p:nvPr/>
        </p:nvSpPr>
        <p:spPr bwMode="auto">
          <a:xfrm>
            <a:off x="3200400" y="3276600"/>
            <a:ext cx="2819400" cy="3810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3558" name="Rectangle 6"/>
          <p:cNvSpPr>
            <a:spLocks noChangeArrowheads="1"/>
          </p:cNvSpPr>
          <p:nvPr/>
        </p:nvSpPr>
        <p:spPr bwMode="auto">
          <a:xfrm>
            <a:off x="3124200" y="0"/>
            <a:ext cx="2743200" cy="3810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graphicFrame>
        <p:nvGraphicFramePr>
          <p:cNvPr id="23560" name="Object 8"/>
          <p:cNvGraphicFramePr>
            <a:graphicFrameLocks noChangeAspect="1"/>
          </p:cNvGraphicFramePr>
          <p:nvPr/>
        </p:nvGraphicFramePr>
        <p:xfrm>
          <a:off x="762000" y="0"/>
          <a:ext cx="7467600" cy="3352800"/>
        </p:xfrm>
        <a:graphic>
          <a:graphicData uri="http://schemas.openxmlformats.org/presentationml/2006/ole">
            <mc:AlternateContent xmlns:mc="http://schemas.openxmlformats.org/markup-compatibility/2006">
              <mc:Choice xmlns:v="urn:schemas-microsoft-com:vml" Requires="v">
                <p:oleObj spid="_x0000_s23600" name="Chart" r:id="rId3" imgW="9129065" imgH="5212324" progId="Excel.Chart.8">
                  <p:embed/>
                </p:oleObj>
              </mc:Choice>
              <mc:Fallback>
                <p:oleObj name="Chart" r:id="rId3" imgW="9129065" imgH="5212324" progId="Excel.Chart.8">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0"/>
                        <a:ext cx="7467600"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579" name="Object 27"/>
          <p:cNvGraphicFramePr>
            <a:graphicFrameLocks noChangeAspect="1"/>
          </p:cNvGraphicFramePr>
          <p:nvPr/>
        </p:nvGraphicFramePr>
        <p:xfrm>
          <a:off x="628650" y="3276600"/>
          <a:ext cx="7981950" cy="3429000"/>
        </p:xfrm>
        <a:graphic>
          <a:graphicData uri="http://schemas.openxmlformats.org/presentationml/2006/ole">
            <mc:AlternateContent xmlns:mc="http://schemas.openxmlformats.org/markup-compatibility/2006">
              <mc:Choice xmlns:v="urn:schemas-microsoft-com:vml" Requires="v">
                <p:oleObj spid="_x0000_s23601" name="Chart" r:id="rId5" imgW="9296705" imgH="5783885" progId="Excel.Chart.8">
                  <p:embed/>
                </p:oleObj>
              </mc:Choice>
              <mc:Fallback>
                <p:oleObj name="Chart" r:id="rId5" imgW="9296705" imgH="5783885" progId="Excel.Chart.8">
                  <p:embed/>
                  <p:pic>
                    <p:nvPicPr>
                      <p:cNvPr id="0" name="Object 2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8650" y="3276600"/>
                        <a:ext cx="7981950"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3590" name="Group 38"/>
          <p:cNvGrpSpPr>
            <a:grpSpLocks/>
          </p:cNvGrpSpPr>
          <p:nvPr/>
        </p:nvGrpSpPr>
        <p:grpSpPr bwMode="auto">
          <a:xfrm>
            <a:off x="4191000" y="533400"/>
            <a:ext cx="3200400" cy="5867400"/>
            <a:chOff x="2640" y="336"/>
            <a:chExt cx="2016" cy="3696"/>
          </a:xfrm>
        </p:grpSpPr>
        <p:grpSp>
          <p:nvGrpSpPr>
            <p:cNvPr id="23585" name="Group 33"/>
            <p:cNvGrpSpPr>
              <a:grpSpLocks/>
            </p:cNvGrpSpPr>
            <p:nvPr/>
          </p:nvGrpSpPr>
          <p:grpSpPr bwMode="auto">
            <a:xfrm>
              <a:off x="2640" y="336"/>
              <a:ext cx="2016" cy="1632"/>
              <a:chOff x="2640" y="336"/>
              <a:chExt cx="2016" cy="2976"/>
            </a:xfrm>
          </p:grpSpPr>
          <p:sp>
            <p:nvSpPr>
              <p:cNvPr id="23581" name="Rectangle 29"/>
              <p:cNvSpPr>
                <a:spLocks noChangeArrowheads="1"/>
              </p:cNvSpPr>
              <p:nvPr/>
            </p:nvSpPr>
            <p:spPr bwMode="auto">
              <a:xfrm>
                <a:off x="4512" y="336"/>
                <a:ext cx="144" cy="2976"/>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3582" name="Rectangle 30"/>
              <p:cNvSpPr>
                <a:spLocks noChangeArrowheads="1"/>
              </p:cNvSpPr>
              <p:nvPr/>
            </p:nvSpPr>
            <p:spPr bwMode="auto">
              <a:xfrm>
                <a:off x="3360" y="336"/>
                <a:ext cx="144" cy="2976"/>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3583" name="Rectangle 31"/>
              <p:cNvSpPr>
                <a:spLocks noChangeArrowheads="1"/>
              </p:cNvSpPr>
              <p:nvPr/>
            </p:nvSpPr>
            <p:spPr bwMode="auto">
              <a:xfrm>
                <a:off x="2640" y="336"/>
                <a:ext cx="192" cy="2976"/>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grpSp>
        <p:grpSp>
          <p:nvGrpSpPr>
            <p:cNvPr id="23586" name="Group 34"/>
            <p:cNvGrpSpPr>
              <a:grpSpLocks/>
            </p:cNvGrpSpPr>
            <p:nvPr/>
          </p:nvGrpSpPr>
          <p:grpSpPr bwMode="auto">
            <a:xfrm>
              <a:off x="2640" y="2400"/>
              <a:ext cx="2016" cy="1632"/>
              <a:chOff x="2640" y="336"/>
              <a:chExt cx="2016" cy="2976"/>
            </a:xfrm>
          </p:grpSpPr>
          <p:sp>
            <p:nvSpPr>
              <p:cNvPr id="23587" name="Rectangle 35"/>
              <p:cNvSpPr>
                <a:spLocks noChangeArrowheads="1"/>
              </p:cNvSpPr>
              <p:nvPr/>
            </p:nvSpPr>
            <p:spPr bwMode="auto">
              <a:xfrm>
                <a:off x="4512" y="336"/>
                <a:ext cx="144" cy="2976"/>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3588" name="Rectangle 36"/>
              <p:cNvSpPr>
                <a:spLocks noChangeArrowheads="1"/>
              </p:cNvSpPr>
              <p:nvPr/>
            </p:nvSpPr>
            <p:spPr bwMode="auto">
              <a:xfrm>
                <a:off x="3360" y="336"/>
                <a:ext cx="144" cy="2976"/>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3589" name="Rectangle 37"/>
              <p:cNvSpPr>
                <a:spLocks noChangeArrowheads="1"/>
              </p:cNvSpPr>
              <p:nvPr/>
            </p:nvSpPr>
            <p:spPr bwMode="auto">
              <a:xfrm>
                <a:off x="2640" y="336"/>
                <a:ext cx="192" cy="2976"/>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grpSp>
      </p:grpSp>
      <p:sp>
        <p:nvSpPr>
          <p:cNvPr id="23591" name="Text Box 39"/>
          <p:cNvSpPr txBox="1">
            <a:spLocks noChangeArrowheads="1"/>
          </p:cNvSpPr>
          <p:nvPr/>
        </p:nvSpPr>
        <p:spPr bwMode="auto">
          <a:xfrm>
            <a:off x="5754688" y="2792413"/>
            <a:ext cx="23987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effectLst>
                  <a:outerShdw blurRad="38100" dist="38100" dir="2700000" algn="tl">
                    <a:srgbClr val="000000"/>
                  </a:outerShdw>
                </a:effectLst>
              </a:rPr>
              <a:t>Rock AWS, 550m asl</a:t>
            </a:r>
          </a:p>
        </p:txBody>
      </p:sp>
      <p:sp>
        <p:nvSpPr>
          <p:cNvPr id="23592" name="Text Box 40"/>
          <p:cNvSpPr txBox="1">
            <a:spLocks noChangeArrowheads="1"/>
          </p:cNvSpPr>
          <p:nvPr/>
        </p:nvSpPr>
        <p:spPr bwMode="auto">
          <a:xfrm>
            <a:off x="5410200" y="6019800"/>
            <a:ext cx="27003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effectLst>
                  <a:outerShdw blurRad="38100" dist="38100" dir="2700000" algn="tl">
                    <a:srgbClr val="000000"/>
                  </a:outerShdw>
                </a:effectLst>
              </a:rPr>
              <a:t>Spit Bay AWS, sea level</a:t>
            </a:r>
          </a:p>
        </p:txBody>
      </p:sp>
      <p:grpSp>
        <p:nvGrpSpPr>
          <p:cNvPr id="23599" name="Group 47"/>
          <p:cNvGrpSpPr>
            <a:grpSpLocks/>
          </p:cNvGrpSpPr>
          <p:nvPr/>
        </p:nvGrpSpPr>
        <p:grpSpPr bwMode="auto">
          <a:xfrm>
            <a:off x="1133475" y="2286000"/>
            <a:ext cx="6943725" cy="3243263"/>
            <a:chOff x="714" y="1440"/>
            <a:chExt cx="4374" cy="2043"/>
          </a:xfrm>
        </p:grpSpPr>
        <p:sp>
          <p:nvSpPr>
            <p:cNvPr id="23594" name="Line 42"/>
            <p:cNvSpPr>
              <a:spLocks noChangeShapeType="1"/>
            </p:cNvSpPr>
            <p:nvPr/>
          </p:nvSpPr>
          <p:spPr bwMode="auto">
            <a:xfrm>
              <a:off x="720" y="1440"/>
              <a:ext cx="4368" cy="0"/>
            </a:xfrm>
            <a:prstGeom prst="line">
              <a:avLst/>
            </a:prstGeom>
            <a:noFill/>
            <a:ln w="254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3598" name="Line 46"/>
            <p:cNvSpPr>
              <a:spLocks noChangeShapeType="1"/>
            </p:cNvSpPr>
            <p:nvPr/>
          </p:nvSpPr>
          <p:spPr bwMode="auto">
            <a:xfrm>
              <a:off x="714" y="3483"/>
              <a:ext cx="4368" cy="0"/>
            </a:xfrm>
            <a:prstGeom prst="line">
              <a:avLst/>
            </a:prstGeom>
            <a:noFill/>
            <a:ln w="254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3599"/>
                                        </p:tgtEl>
                                        <p:attrNameLst>
                                          <p:attrName>style.visibility</p:attrName>
                                        </p:attrNameLst>
                                      </p:cBhvr>
                                      <p:to>
                                        <p:strVal val="visible"/>
                                      </p:to>
                                    </p:set>
                                    <p:anim calcmode="lin" valueType="num">
                                      <p:cBhvr additive="base">
                                        <p:cTn id="7" dur="500" fill="hold"/>
                                        <p:tgtEl>
                                          <p:spTgt spid="23599"/>
                                        </p:tgtEl>
                                        <p:attrNameLst>
                                          <p:attrName>ppt_x</p:attrName>
                                        </p:attrNameLst>
                                      </p:cBhvr>
                                      <p:tavLst>
                                        <p:tav tm="0">
                                          <p:val>
                                            <p:strVal val="0-#ppt_w/2"/>
                                          </p:val>
                                        </p:tav>
                                        <p:tav tm="100000">
                                          <p:val>
                                            <p:strVal val="#ppt_x"/>
                                          </p:val>
                                        </p:tav>
                                      </p:tavLst>
                                    </p:anim>
                                    <p:anim calcmode="lin" valueType="num">
                                      <p:cBhvr additive="base">
                                        <p:cTn id="8" dur="500" fill="hold"/>
                                        <p:tgtEl>
                                          <p:spTgt spid="2359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499"/>
                                          </p:stCondLst>
                                        </p:cTn>
                                        <p:tgtEl>
                                          <p:spTgt spid="235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6" name="Text Box 2"/>
          <p:cNvSpPr txBox="1">
            <a:spLocks noChangeArrowheads="1"/>
          </p:cNvSpPr>
          <p:nvPr/>
        </p:nvSpPr>
        <p:spPr bwMode="auto">
          <a:xfrm>
            <a:off x="401638" y="304800"/>
            <a:ext cx="35179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5400" i="1">
                <a:effectLst>
                  <a:outerShdw blurRad="38100" dist="38100" dir="2700000" algn="tl">
                    <a:srgbClr val="000000"/>
                  </a:outerShdw>
                </a:effectLst>
              </a:rPr>
              <a:t>Föhn Winds</a:t>
            </a:r>
          </a:p>
        </p:txBody>
      </p:sp>
      <p:sp>
        <p:nvSpPr>
          <p:cNvPr id="41990" name="Rectangle 6"/>
          <p:cNvSpPr>
            <a:spLocks noGrp="1" noChangeArrowheads="1"/>
          </p:cNvSpPr>
          <p:nvPr>
            <p:ph type="body" idx="1"/>
          </p:nvPr>
        </p:nvSpPr>
        <p:spPr>
          <a:xfrm>
            <a:off x="685800" y="1246188"/>
            <a:ext cx="7772400" cy="4849812"/>
          </a:xfrm>
        </p:spPr>
        <p:txBody>
          <a:bodyPr/>
          <a:lstStyle/>
          <a:p>
            <a:r>
              <a:rPr kumimoji="0" lang="en-US" altLang="en-US" sz="2200"/>
              <a:t>strong, gusty, dry and warm winds which develop on the lee side of a mountain range when stable air is forced to flow over the barrier by the regional pressure gradient</a:t>
            </a:r>
            <a:endParaRPr lang="en-US" altLang="en-US" sz="2200"/>
          </a:p>
          <a:p>
            <a:r>
              <a:rPr lang="en-US" altLang="en-US" sz="2200"/>
              <a:t>Rises, loses moisture, cools at saturated adiabatic lapse rate (</a:t>
            </a:r>
            <a:r>
              <a:rPr kumimoji="0" lang="en-US" altLang="en-US" sz="2200"/>
              <a:t>0.65 °C per 100 m)</a:t>
            </a:r>
            <a:endParaRPr lang="en-US" altLang="en-US" sz="2200"/>
          </a:p>
          <a:p>
            <a:r>
              <a:rPr lang="en-US" altLang="en-US" sz="2200"/>
              <a:t>Decends, warms at dry adiabatic lapse rate </a:t>
            </a:r>
            <a:r>
              <a:rPr kumimoji="0" lang="en-US" altLang="en-US" sz="2200"/>
              <a:t>(1.0 °C per 100 m)</a:t>
            </a:r>
            <a:endParaRPr lang="en-US" altLang="en-US" sz="2200"/>
          </a:p>
          <a:p>
            <a:r>
              <a:rPr lang="en-US" altLang="en-US" sz="2200"/>
              <a:t>Heard Island e.g.: T difference as much as 13 </a:t>
            </a:r>
            <a:r>
              <a:rPr kumimoji="0" lang="en-US" altLang="en-US" sz="2200"/>
              <a:t>°C</a:t>
            </a:r>
            <a:r>
              <a:rPr lang="en-US" altLang="en-US" sz="2200"/>
              <a:t> at sea level after 2700 m</a:t>
            </a:r>
          </a:p>
          <a:p>
            <a:r>
              <a:rPr kumimoji="0" lang="en-US" altLang="en-US" sz="2200"/>
              <a:t>In many instances however, there may be no precipitation over the mountain, and in such cases the föhn effect is the result of standing wave motions forcing air from higher levels to descend (Barry &amp; Chorley, 1976)</a:t>
            </a:r>
            <a:endParaRPr kumimoji="0" lang="en-US" altLang="en-US" sz="20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1990">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41990">
                                            <p:txEl>
                                              <p:pRg st="0" end="0"/>
                                            </p:txEl>
                                          </p:spTgt>
                                        </p:tgtEl>
                                        <p:attrNameLst>
                                          <p:attrName>ppt_c</p:attrName>
                                        </p:attrNameLst>
                                      </p:cBhvr>
                                      <p:to>
                                        <a:schemeClr val="bg1"/>
                                      </p:to>
                                    </p:animClr>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1990">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41990">
                                            <p:txEl>
                                              <p:pRg st="1" end="1"/>
                                            </p:txEl>
                                          </p:spTgt>
                                        </p:tgtEl>
                                        <p:attrNameLst>
                                          <p:attrName>ppt_c</p:attrName>
                                        </p:attrNameLst>
                                      </p:cBhvr>
                                      <p:to>
                                        <a:schemeClr val="bg1"/>
                                      </p:to>
                                    </p:animClr>
                                  </p:sub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1990">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41990">
                                            <p:txEl>
                                              <p:pRg st="2" end="2"/>
                                            </p:txEl>
                                          </p:spTgt>
                                        </p:tgtEl>
                                        <p:attrNameLst>
                                          <p:attrName>ppt_c</p:attrName>
                                        </p:attrNameLst>
                                      </p:cBhvr>
                                      <p:to>
                                        <a:schemeClr val="bg1"/>
                                      </p:to>
                                    </p:animClr>
                                  </p:sub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1990">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41990">
                                            <p:txEl>
                                              <p:pRg st="3" end="3"/>
                                            </p:txEl>
                                          </p:spTgt>
                                        </p:tgtEl>
                                        <p:attrNameLst>
                                          <p:attrName>ppt_c</p:attrName>
                                        </p:attrNameLst>
                                      </p:cBhvr>
                                      <p:to>
                                        <a:schemeClr val="bg1"/>
                                      </p:to>
                                    </p:animClr>
                                  </p:sub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41990">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41990">
                                            <p:txEl>
                                              <p:pRg st="4" end="4"/>
                                            </p:txEl>
                                          </p:spTgt>
                                        </p:tgtEl>
                                        <p:attrNameLst>
                                          <p:attrName>ppt_c</p:attrName>
                                        </p:attrNameLst>
                                      </p:cBhvr>
                                      <p:to>
                                        <a:schemeClr val="bg1"/>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90" grpId="0" build="p"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C:\Documents and Settings\dthost\My Documents\Heard2000part1\20177146.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533400"/>
            <a:ext cx="7315200" cy="5486400"/>
          </a:xfrm>
          <a:prstGeom prst="rect">
            <a:avLst/>
          </a:prstGeom>
          <a:noFill/>
          <a:extLst>
            <a:ext uri="{909E8E84-426E-40DD-AFC4-6F175D3DCCD1}">
              <a14:hiddenFill xmlns:a14="http://schemas.microsoft.com/office/drawing/2010/main">
                <a:solidFill>
                  <a:srgbClr val="FFFFFF"/>
                </a:solidFill>
              </a14:hiddenFill>
            </a:ext>
          </a:extLst>
        </p:spPr>
      </p:pic>
      <p:sp>
        <p:nvSpPr>
          <p:cNvPr id="10243" name="Text Box 3"/>
          <p:cNvSpPr txBox="1">
            <a:spLocks noChangeArrowheads="1"/>
          </p:cNvSpPr>
          <p:nvPr/>
        </p:nvSpPr>
        <p:spPr bwMode="auto">
          <a:xfrm>
            <a:off x="3328988" y="5972175"/>
            <a:ext cx="2806700" cy="88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ts val="500"/>
              </a:spcBef>
              <a:spcAft>
                <a:spcPts val="500"/>
              </a:spcAft>
            </a:pPr>
            <a:r>
              <a:rPr lang="en-US" altLang="en-US"/>
              <a:t>von Karmen Vortices</a:t>
            </a:r>
          </a:p>
          <a:p>
            <a:endParaRPr lang="en-US" altLang="en-US"/>
          </a:p>
        </p:txBody>
      </p:sp>
      <p:sp>
        <p:nvSpPr>
          <p:cNvPr id="10244" name="Freeform 4"/>
          <p:cNvSpPr>
            <a:spLocks/>
          </p:cNvSpPr>
          <p:nvPr/>
        </p:nvSpPr>
        <p:spPr bwMode="auto">
          <a:xfrm>
            <a:off x="3605213" y="2590800"/>
            <a:ext cx="1060450" cy="931863"/>
          </a:xfrm>
          <a:custGeom>
            <a:avLst/>
            <a:gdLst>
              <a:gd name="T0" fmla="*/ 0 w 668"/>
              <a:gd name="T1" fmla="*/ 587 h 587"/>
              <a:gd name="T2" fmla="*/ 112 w 668"/>
              <a:gd name="T3" fmla="*/ 323 h 587"/>
              <a:gd name="T4" fmla="*/ 311 w 668"/>
              <a:gd name="T5" fmla="*/ 60 h 587"/>
              <a:gd name="T6" fmla="*/ 457 w 668"/>
              <a:gd name="T7" fmla="*/ 7 h 587"/>
              <a:gd name="T8" fmla="*/ 609 w 668"/>
              <a:gd name="T9" fmla="*/ 19 h 587"/>
              <a:gd name="T10" fmla="*/ 668 w 668"/>
              <a:gd name="T11" fmla="*/ 113 h 587"/>
            </a:gdLst>
            <a:ahLst/>
            <a:cxnLst>
              <a:cxn ang="0">
                <a:pos x="T0" y="T1"/>
              </a:cxn>
              <a:cxn ang="0">
                <a:pos x="T2" y="T3"/>
              </a:cxn>
              <a:cxn ang="0">
                <a:pos x="T4" y="T5"/>
              </a:cxn>
              <a:cxn ang="0">
                <a:pos x="T6" y="T7"/>
              </a:cxn>
              <a:cxn ang="0">
                <a:pos x="T8" y="T9"/>
              </a:cxn>
              <a:cxn ang="0">
                <a:pos x="T10" y="T11"/>
              </a:cxn>
            </a:cxnLst>
            <a:rect l="0" t="0" r="r" b="b"/>
            <a:pathLst>
              <a:path w="668" h="587">
                <a:moveTo>
                  <a:pt x="0" y="587"/>
                </a:moveTo>
                <a:cubicBezTo>
                  <a:pt x="30" y="499"/>
                  <a:pt x="60" y="411"/>
                  <a:pt x="112" y="323"/>
                </a:cubicBezTo>
                <a:cubicBezTo>
                  <a:pt x="164" y="235"/>
                  <a:pt x="253" y="113"/>
                  <a:pt x="311" y="60"/>
                </a:cubicBezTo>
                <a:cubicBezTo>
                  <a:pt x="369" y="7"/>
                  <a:pt x="407" y="14"/>
                  <a:pt x="457" y="7"/>
                </a:cubicBezTo>
                <a:cubicBezTo>
                  <a:pt x="507" y="0"/>
                  <a:pt x="574" y="1"/>
                  <a:pt x="609" y="19"/>
                </a:cubicBezTo>
                <a:cubicBezTo>
                  <a:pt x="644" y="37"/>
                  <a:pt x="658" y="97"/>
                  <a:pt x="668" y="113"/>
                </a:cubicBezTo>
              </a:path>
            </a:pathLst>
          </a:custGeom>
          <a:noFill/>
          <a:ln w="25400">
            <a:solidFill>
              <a:srgbClr val="000000"/>
            </a:solidFill>
            <a:round/>
            <a:headEnd/>
            <a:tailEnd type="stealth"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0245" name="Freeform 5"/>
          <p:cNvSpPr>
            <a:spLocks/>
          </p:cNvSpPr>
          <p:nvPr/>
        </p:nvSpPr>
        <p:spPr bwMode="auto">
          <a:xfrm>
            <a:off x="4860925" y="1062038"/>
            <a:ext cx="1117600" cy="1103312"/>
          </a:xfrm>
          <a:custGeom>
            <a:avLst/>
            <a:gdLst>
              <a:gd name="T0" fmla="*/ 0 w 704"/>
              <a:gd name="T1" fmla="*/ 695 h 695"/>
              <a:gd name="T2" fmla="*/ 46 w 704"/>
              <a:gd name="T3" fmla="*/ 443 h 695"/>
              <a:gd name="T4" fmla="*/ 193 w 704"/>
              <a:gd name="T5" fmla="*/ 186 h 695"/>
              <a:gd name="T6" fmla="*/ 316 w 704"/>
              <a:gd name="T7" fmla="*/ 74 h 695"/>
              <a:gd name="T8" fmla="*/ 427 w 704"/>
              <a:gd name="T9" fmla="*/ 10 h 695"/>
              <a:gd name="T10" fmla="*/ 608 w 704"/>
              <a:gd name="T11" fmla="*/ 16 h 695"/>
              <a:gd name="T12" fmla="*/ 679 w 704"/>
              <a:gd name="T13" fmla="*/ 86 h 695"/>
              <a:gd name="T14" fmla="*/ 696 w 704"/>
              <a:gd name="T15" fmla="*/ 186 h 695"/>
              <a:gd name="T16" fmla="*/ 632 w 704"/>
              <a:gd name="T17" fmla="*/ 320 h 695"/>
              <a:gd name="T18" fmla="*/ 503 w 704"/>
              <a:gd name="T19" fmla="*/ 396 h 695"/>
              <a:gd name="T20" fmla="*/ 404 w 704"/>
              <a:gd name="T21" fmla="*/ 391 h 695"/>
              <a:gd name="T22" fmla="*/ 322 w 704"/>
              <a:gd name="T23" fmla="*/ 326 h 695"/>
              <a:gd name="T24" fmla="*/ 339 w 704"/>
              <a:gd name="T25" fmla="*/ 203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04" h="695">
                <a:moveTo>
                  <a:pt x="0" y="695"/>
                </a:moveTo>
                <a:cubicBezTo>
                  <a:pt x="7" y="611"/>
                  <a:pt x="14" y="528"/>
                  <a:pt x="46" y="443"/>
                </a:cubicBezTo>
                <a:cubicBezTo>
                  <a:pt x="78" y="358"/>
                  <a:pt x="148" y="247"/>
                  <a:pt x="193" y="186"/>
                </a:cubicBezTo>
                <a:cubicBezTo>
                  <a:pt x="238" y="125"/>
                  <a:pt x="277" y="103"/>
                  <a:pt x="316" y="74"/>
                </a:cubicBezTo>
                <a:cubicBezTo>
                  <a:pt x="355" y="45"/>
                  <a:pt x="378" y="20"/>
                  <a:pt x="427" y="10"/>
                </a:cubicBezTo>
                <a:cubicBezTo>
                  <a:pt x="476" y="0"/>
                  <a:pt x="566" y="3"/>
                  <a:pt x="608" y="16"/>
                </a:cubicBezTo>
                <a:cubicBezTo>
                  <a:pt x="650" y="29"/>
                  <a:pt x="664" y="58"/>
                  <a:pt x="679" y="86"/>
                </a:cubicBezTo>
                <a:cubicBezTo>
                  <a:pt x="694" y="114"/>
                  <a:pt x="704" y="147"/>
                  <a:pt x="696" y="186"/>
                </a:cubicBezTo>
                <a:cubicBezTo>
                  <a:pt x="688" y="225"/>
                  <a:pt x="664" y="285"/>
                  <a:pt x="632" y="320"/>
                </a:cubicBezTo>
                <a:cubicBezTo>
                  <a:pt x="600" y="355"/>
                  <a:pt x="541" y="384"/>
                  <a:pt x="503" y="396"/>
                </a:cubicBezTo>
                <a:cubicBezTo>
                  <a:pt x="465" y="408"/>
                  <a:pt x="434" y="403"/>
                  <a:pt x="404" y="391"/>
                </a:cubicBezTo>
                <a:cubicBezTo>
                  <a:pt x="374" y="379"/>
                  <a:pt x="333" y="357"/>
                  <a:pt x="322" y="326"/>
                </a:cubicBezTo>
                <a:cubicBezTo>
                  <a:pt x="311" y="295"/>
                  <a:pt x="336" y="221"/>
                  <a:pt x="339" y="203"/>
                </a:cubicBezTo>
              </a:path>
            </a:pathLst>
          </a:custGeom>
          <a:noFill/>
          <a:ln w="25400">
            <a:solidFill>
              <a:srgbClr val="000000"/>
            </a:solidFill>
            <a:round/>
            <a:headEnd/>
            <a:tailEnd type="stealth"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0246" name="Freeform 6"/>
          <p:cNvSpPr>
            <a:spLocks/>
          </p:cNvSpPr>
          <p:nvPr/>
        </p:nvSpPr>
        <p:spPr bwMode="auto">
          <a:xfrm>
            <a:off x="3132138" y="3513138"/>
            <a:ext cx="1289050" cy="874712"/>
          </a:xfrm>
          <a:custGeom>
            <a:avLst/>
            <a:gdLst>
              <a:gd name="T0" fmla="*/ 0 w 812"/>
              <a:gd name="T1" fmla="*/ 445 h 551"/>
              <a:gd name="T2" fmla="*/ 222 w 812"/>
              <a:gd name="T3" fmla="*/ 515 h 551"/>
              <a:gd name="T4" fmla="*/ 468 w 812"/>
              <a:gd name="T5" fmla="*/ 533 h 551"/>
              <a:gd name="T6" fmla="*/ 708 w 812"/>
              <a:gd name="T7" fmla="*/ 404 h 551"/>
              <a:gd name="T8" fmla="*/ 755 w 812"/>
              <a:gd name="T9" fmla="*/ 322 h 551"/>
              <a:gd name="T10" fmla="*/ 784 w 812"/>
              <a:gd name="T11" fmla="*/ 228 h 551"/>
              <a:gd name="T12" fmla="*/ 808 w 812"/>
              <a:gd name="T13" fmla="*/ 117 h 551"/>
              <a:gd name="T14" fmla="*/ 808 w 812"/>
              <a:gd name="T15" fmla="*/ 0 h 5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12" h="551">
                <a:moveTo>
                  <a:pt x="0" y="445"/>
                </a:moveTo>
                <a:cubicBezTo>
                  <a:pt x="72" y="472"/>
                  <a:pt x="144" y="500"/>
                  <a:pt x="222" y="515"/>
                </a:cubicBezTo>
                <a:cubicBezTo>
                  <a:pt x="300" y="530"/>
                  <a:pt x="387" y="551"/>
                  <a:pt x="468" y="533"/>
                </a:cubicBezTo>
                <a:cubicBezTo>
                  <a:pt x="549" y="515"/>
                  <a:pt x="660" y="439"/>
                  <a:pt x="708" y="404"/>
                </a:cubicBezTo>
                <a:cubicBezTo>
                  <a:pt x="756" y="369"/>
                  <a:pt x="742" y="351"/>
                  <a:pt x="755" y="322"/>
                </a:cubicBezTo>
                <a:cubicBezTo>
                  <a:pt x="768" y="293"/>
                  <a:pt x="775" y="262"/>
                  <a:pt x="784" y="228"/>
                </a:cubicBezTo>
                <a:cubicBezTo>
                  <a:pt x="793" y="194"/>
                  <a:pt x="804" y="155"/>
                  <a:pt x="808" y="117"/>
                </a:cubicBezTo>
                <a:cubicBezTo>
                  <a:pt x="812" y="79"/>
                  <a:pt x="810" y="39"/>
                  <a:pt x="808" y="0"/>
                </a:cubicBezTo>
              </a:path>
            </a:pathLst>
          </a:custGeom>
          <a:noFill/>
          <a:ln w="25400">
            <a:solidFill>
              <a:srgbClr val="000000"/>
            </a:solidFill>
            <a:round/>
            <a:headEnd/>
            <a:tailEnd type="stealth"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0247" name="Freeform 7"/>
          <p:cNvSpPr>
            <a:spLocks/>
          </p:cNvSpPr>
          <p:nvPr/>
        </p:nvSpPr>
        <p:spPr bwMode="auto">
          <a:xfrm>
            <a:off x="4552950" y="2228850"/>
            <a:ext cx="1008063" cy="1100138"/>
          </a:xfrm>
          <a:custGeom>
            <a:avLst/>
            <a:gdLst>
              <a:gd name="T0" fmla="*/ 0 w 635"/>
              <a:gd name="T1" fmla="*/ 668 h 693"/>
              <a:gd name="T2" fmla="*/ 199 w 635"/>
              <a:gd name="T3" fmla="*/ 692 h 693"/>
              <a:gd name="T4" fmla="*/ 363 w 635"/>
              <a:gd name="T5" fmla="*/ 663 h 693"/>
              <a:gd name="T6" fmla="*/ 480 w 635"/>
              <a:gd name="T7" fmla="*/ 586 h 693"/>
              <a:gd name="T8" fmla="*/ 586 w 635"/>
              <a:gd name="T9" fmla="*/ 452 h 693"/>
              <a:gd name="T10" fmla="*/ 627 w 635"/>
              <a:gd name="T11" fmla="*/ 311 h 693"/>
              <a:gd name="T12" fmla="*/ 627 w 635"/>
              <a:gd name="T13" fmla="*/ 147 h 693"/>
              <a:gd name="T14" fmla="*/ 580 w 635"/>
              <a:gd name="T15" fmla="*/ 48 h 693"/>
              <a:gd name="T16" fmla="*/ 475 w 635"/>
              <a:gd name="T17" fmla="*/ 13 h 693"/>
              <a:gd name="T18" fmla="*/ 387 w 635"/>
              <a:gd name="T19" fmla="*/ 13 h 693"/>
              <a:gd name="T20" fmla="*/ 305 w 635"/>
              <a:gd name="T21" fmla="*/ 89 h 693"/>
              <a:gd name="T22" fmla="*/ 293 w 635"/>
              <a:gd name="T23" fmla="*/ 183 h 6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35" h="693">
                <a:moveTo>
                  <a:pt x="0" y="668"/>
                </a:moveTo>
                <a:cubicBezTo>
                  <a:pt x="69" y="680"/>
                  <a:pt x="139" y="693"/>
                  <a:pt x="199" y="692"/>
                </a:cubicBezTo>
                <a:cubicBezTo>
                  <a:pt x="259" y="691"/>
                  <a:pt x="316" y="681"/>
                  <a:pt x="363" y="663"/>
                </a:cubicBezTo>
                <a:cubicBezTo>
                  <a:pt x="410" y="645"/>
                  <a:pt x="443" y="621"/>
                  <a:pt x="480" y="586"/>
                </a:cubicBezTo>
                <a:cubicBezTo>
                  <a:pt x="517" y="551"/>
                  <a:pt x="562" y="498"/>
                  <a:pt x="586" y="452"/>
                </a:cubicBezTo>
                <a:cubicBezTo>
                  <a:pt x="610" y="406"/>
                  <a:pt x="620" y="362"/>
                  <a:pt x="627" y="311"/>
                </a:cubicBezTo>
                <a:cubicBezTo>
                  <a:pt x="634" y="260"/>
                  <a:pt x="635" y="191"/>
                  <a:pt x="627" y="147"/>
                </a:cubicBezTo>
                <a:cubicBezTo>
                  <a:pt x="619" y="103"/>
                  <a:pt x="605" y="70"/>
                  <a:pt x="580" y="48"/>
                </a:cubicBezTo>
                <a:cubicBezTo>
                  <a:pt x="555" y="26"/>
                  <a:pt x="507" y="19"/>
                  <a:pt x="475" y="13"/>
                </a:cubicBezTo>
                <a:cubicBezTo>
                  <a:pt x="443" y="7"/>
                  <a:pt x="415" y="0"/>
                  <a:pt x="387" y="13"/>
                </a:cubicBezTo>
                <a:cubicBezTo>
                  <a:pt x="359" y="26"/>
                  <a:pt x="321" y="61"/>
                  <a:pt x="305" y="89"/>
                </a:cubicBezTo>
                <a:cubicBezTo>
                  <a:pt x="289" y="117"/>
                  <a:pt x="291" y="150"/>
                  <a:pt x="293" y="183"/>
                </a:cubicBezTo>
              </a:path>
            </a:pathLst>
          </a:custGeom>
          <a:noFill/>
          <a:ln w="25400">
            <a:solidFill>
              <a:srgbClr val="000000"/>
            </a:solidFill>
            <a:round/>
            <a:headEnd/>
            <a:tailEnd type="stealth"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0248" name="Freeform 8"/>
          <p:cNvSpPr>
            <a:spLocks/>
          </p:cNvSpPr>
          <p:nvPr/>
        </p:nvSpPr>
        <p:spPr bwMode="auto">
          <a:xfrm>
            <a:off x="2376488" y="3670300"/>
            <a:ext cx="665162" cy="555625"/>
          </a:xfrm>
          <a:custGeom>
            <a:avLst/>
            <a:gdLst>
              <a:gd name="T0" fmla="*/ 171 w 419"/>
              <a:gd name="T1" fmla="*/ 317 h 350"/>
              <a:gd name="T2" fmla="*/ 259 w 419"/>
              <a:gd name="T3" fmla="*/ 293 h 350"/>
              <a:gd name="T4" fmla="*/ 306 w 419"/>
              <a:gd name="T5" fmla="*/ 281 h 350"/>
              <a:gd name="T6" fmla="*/ 400 w 419"/>
              <a:gd name="T7" fmla="*/ 246 h 350"/>
              <a:gd name="T8" fmla="*/ 382 w 419"/>
              <a:gd name="T9" fmla="*/ 194 h 350"/>
              <a:gd name="T10" fmla="*/ 353 w 419"/>
              <a:gd name="T11" fmla="*/ 65 h 350"/>
              <a:gd name="T12" fmla="*/ 283 w 419"/>
              <a:gd name="T13" fmla="*/ 12 h 350"/>
              <a:gd name="T14" fmla="*/ 247 w 419"/>
              <a:gd name="T15" fmla="*/ 0 h 350"/>
              <a:gd name="T16" fmla="*/ 177 w 419"/>
              <a:gd name="T17" fmla="*/ 12 h 350"/>
              <a:gd name="T18" fmla="*/ 119 w 419"/>
              <a:gd name="T19" fmla="*/ 53 h 350"/>
              <a:gd name="T20" fmla="*/ 78 w 419"/>
              <a:gd name="T21" fmla="*/ 82 h 350"/>
              <a:gd name="T22" fmla="*/ 31 w 419"/>
              <a:gd name="T23" fmla="*/ 47 h 350"/>
              <a:gd name="T24" fmla="*/ 48 w 419"/>
              <a:gd name="T25" fmla="*/ 129 h 350"/>
              <a:gd name="T26" fmla="*/ 84 w 419"/>
              <a:gd name="T27" fmla="*/ 176 h 350"/>
              <a:gd name="T28" fmla="*/ 119 w 419"/>
              <a:gd name="T29" fmla="*/ 223 h 350"/>
              <a:gd name="T30" fmla="*/ 154 w 419"/>
              <a:gd name="T31" fmla="*/ 235 h 350"/>
              <a:gd name="T32" fmla="*/ 160 w 419"/>
              <a:gd name="T33" fmla="*/ 252 h 350"/>
              <a:gd name="T34" fmla="*/ 166 w 419"/>
              <a:gd name="T35" fmla="*/ 305 h 350"/>
              <a:gd name="T36" fmla="*/ 177 w 419"/>
              <a:gd name="T37" fmla="*/ 322 h 350"/>
              <a:gd name="T38" fmla="*/ 171 w 419"/>
              <a:gd name="T39" fmla="*/ 317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19" h="350">
                <a:moveTo>
                  <a:pt x="171" y="317"/>
                </a:moveTo>
                <a:cubicBezTo>
                  <a:pt x="225" y="350"/>
                  <a:pt x="221" y="307"/>
                  <a:pt x="259" y="293"/>
                </a:cubicBezTo>
                <a:cubicBezTo>
                  <a:pt x="274" y="287"/>
                  <a:pt x="291" y="288"/>
                  <a:pt x="306" y="281"/>
                </a:cubicBezTo>
                <a:cubicBezTo>
                  <a:pt x="339" y="265"/>
                  <a:pt x="363" y="253"/>
                  <a:pt x="400" y="246"/>
                </a:cubicBezTo>
                <a:cubicBezTo>
                  <a:pt x="419" y="217"/>
                  <a:pt x="405" y="216"/>
                  <a:pt x="382" y="194"/>
                </a:cubicBezTo>
                <a:cubicBezTo>
                  <a:pt x="372" y="153"/>
                  <a:pt x="386" y="97"/>
                  <a:pt x="353" y="65"/>
                </a:cubicBezTo>
                <a:cubicBezTo>
                  <a:pt x="337" y="50"/>
                  <a:pt x="302" y="18"/>
                  <a:pt x="283" y="12"/>
                </a:cubicBezTo>
                <a:cubicBezTo>
                  <a:pt x="271" y="8"/>
                  <a:pt x="247" y="0"/>
                  <a:pt x="247" y="0"/>
                </a:cubicBezTo>
                <a:cubicBezTo>
                  <a:pt x="247" y="0"/>
                  <a:pt x="187" y="6"/>
                  <a:pt x="177" y="12"/>
                </a:cubicBezTo>
                <a:cubicBezTo>
                  <a:pt x="156" y="24"/>
                  <a:pt x="144" y="44"/>
                  <a:pt x="119" y="53"/>
                </a:cubicBezTo>
                <a:cubicBezTo>
                  <a:pt x="92" y="93"/>
                  <a:pt x="108" y="93"/>
                  <a:pt x="78" y="82"/>
                </a:cubicBezTo>
                <a:cubicBezTo>
                  <a:pt x="64" y="62"/>
                  <a:pt x="53" y="55"/>
                  <a:pt x="31" y="47"/>
                </a:cubicBezTo>
                <a:cubicBezTo>
                  <a:pt x="8" y="82"/>
                  <a:pt x="0" y="117"/>
                  <a:pt x="48" y="129"/>
                </a:cubicBezTo>
                <a:cubicBezTo>
                  <a:pt x="69" y="143"/>
                  <a:pt x="70" y="156"/>
                  <a:pt x="84" y="176"/>
                </a:cubicBezTo>
                <a:cubicBezTo>
                  <a:pt x="90" y="197"/>
                  <a:pt x="97" y="213"/>
                  <a:pt x="119" y="223"/>
                </a:cubicBezTo>
                <a:cubicBezTo>
                  <a:pt x="130" y="228"/>
                  <a:pt x="154" y="235"/>
                  <a:pt x="154" y="235"/>
                </a:cubicBezTo>
                <a:cubicBezTo>
                  <a:pt x="156" y="241"/>
                  <a:pt x="159" y="246"/>
                  <a:pt x="160" y="252"/>
                </a:cubicBezTo>
                <a:cubicBezTo>
                  <a:pt x="163" y="270"/>
                  <a:pt x="162" y="288"/>
                  <a:pt x="166" y="305"/>
                </a:cubicBezTo>
                <a:cubicBezTo>
                  <a:pt x="168" y="312"/>
                  <a:pt x="174" y="316"/>
                  <a:pt x="177" y="322"/>
                </a:cubicBezTo>
                <a:cubicBezTo>
                  <a:pt x="178" y="324"/>
                  <a:pt x="173" y="319"/>
                  <a:pt x="171" y="317"/>
                </a:cubicBezTo>
                <a:close/>
              </a:path>
            </a:pathLst>
          </a:custGeom>
          <a:noFill/>
          <a:ln w="952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024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0246"/>
                                        </p:tgtEl>
                                        <p:attrNameLst>
                                          <p:attrName>style.visibility</p:attrName>
                                        </p:attrNameLst>
                                      </p:cBhvr>
                                      <p:to>
                                        <p:strVal val="visible"/>
                                      </p:to>
                                    </p:set>
                                  </p:childTnLst>
                                </p:cTn>
                              </p:par>
                            </p:childTnLst>
                          </p:cTn>
                        </p:par>
                        <p:par>
                          <p:cTn id="11" fill="hold" nodeType="afterGroup">
                            <p:stCondLst>
                              <p:cond delay="500"/>
                            </p:stCondLst>
                            <p:childTnLst>
                              <p:par>
                                <p:cTn id="12" presetID="1" presetClass="entr" presetSubtype="0" fill="hold" nodeType="afterEffect">
                                  <p:stCondLst>
                                    <p:cond delay="500"/>
                                  </p:stCondLst>
                                  <p:childTnLst>
                                    <p:set>
                                      <p:cBhvr>
                                        <p:cTn id="13" dur="1" fill="hold">
                                          <p:stCondLst>
                                            <p:cond delay="499"/>
                                          </p:stCondLst>
                                        </p:cTn>
                                        <p:tgtEl>
                                          <p:spTgt spid="10244"/>
                                        </p:tgtEl>
                                        <p:attrNameLst>
                                          <p:attrName>style.visibility</p:attrName>
                                        </p:attrNameLst>
                                      </p:cBhvr>
                                      <p:to>
                                        <p:strVal val="visible"/>
                                      </p:to>
                                    </p:set>
                                  </p:childTnLst>
                                </p:cTn>
                              </p:par>
                            </p:childTnLst>
                          </p:cTn>
                        </p:par>
                        <p:par>
                          <p:cTn id="14" fill="hold" nodeType="afterGroup">
                            <p:stCondLst>
                              <p:cond delay="1500"/>
                            </p:stCondLst>
                            <p:childTnLst>
                              <p:par>
                                <p:cTn id="15" presetID="1" presetClass="entr" presetSubtype="0" fill="hold" nodeType="afterEffect">
                                  <p:stCondLst>
                                    <p:cond delay="500"/>
                                  </p:stCondLst>
                                  <p:childTnLst>
                                    <p:set>
                                      <p:cBhvr>
                                        <p:cTn id="16" dur="1" fill="hold">
                                          <p:stCondLst>
                                            <p:cond delay="499"/>
                                          </p:stCondLst>
                                        </p:cTn>
                                        <p:tgtEl>
                                          <p:spTgt spid="10247"/>
                                        </p:tgtEl>
                                        <p:attrNameLst>
                                          <p:attrName>style.visibility</p:attrName>
                                        </p:attrNameLst>
                                      </p:cBhvr>
                                      <p:to>
                                        <p:strVal val="visible"/>
                                      </p:to>
                                    </p:set>
                                  </p:childTnLst>
                                </p:cTn>
                              </p:par>
                            </p:childTnLst>
                          </p:cTn>
                        </p:par>
                        <p:par>
                          <p:cTn id="17" fill="hold" nodeType="afterGroup">
                            <p:stCondLst>
                              <p:cond delay="2500"/>
                            </p:stCondLst>
                            <p:childTnLst>
                              <p:par>
                                <p:cTn id="18" presetID="1" presetClass="entr" presetSubtype="0" fill="hold" nodeType="afterEffect">
                                  <p:stCondLst>
                                    <p:cond delay="500"/>
                                  </p:stCondLst>
                                  <p:childTnLst>
                                    <p:set>
                                      <p:cBhvr>
                                        <p:cTn id="19" dur="1" fill="hold">
                                          <p:stCondLst>
                                            <p:cond delay="499"/>
                                          </p:stCondLst>
                                        </p:cTn>
                                        <p:tgtEl>
                                          <p:spTgt spid="10245"/>
                                        </p:tgtEl>
                                        <p:attrNameLst>
                                          <p:attrName>style.visibility</p:attrName>
                                        </p:attrNameLst>
                                      </p:cBhvr>
                                      <p:to>
                                        <p:strVal val="visible"/>
                                      </p:to>
                                    </p:set>
                                  </p:childTnLst>
                                </p:cTn>
                              </p:par>
                            </p:childTnLst>
                          </p:cTn>
                        </p:par>
                        <p:par>
                          <p:cTn id="20" fill="hold" nodeType="afterGroup">
                            <p:stCondLst>
                              <p:cond delay="3500"/>
                            </p:stCondLst>
                            <p:childTnLst>
                              <p:par>
                                <p:cTn id="21" presetID="1" presetClass="entr" presetSubtype="0" fill="hold" grpId="0" nodeType="afterEffect">
                                  <p:stCondLst>
                                    <p:cond delay="500"/>
                                  </p:stCondLst>
                                  <p:childTnLst>
                                    <p:set>
                                      <p:cBhvr>
                                        <p:cTn id="22" dur="1" fill="hold">
                                          <p:stCondLst>
                                            <p:cond delay="499"/>
                                          </p:stCondLst>
                                        </p:cTn>
                                        <p:tgtEl>
                                          <p:spTgt spid="102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897" name="Object 9"/>
          <p:cNvGraphicFramePr>
            <a:graphicFrameLocks noChangeAspect="1"/>
          </p:cNvGraphicFramePr>
          <p:nvPr/>
        </p:nvGraphicFramePr>
        <p:xfrm>
          <a:off x="201613" y="727075"/>
          <a:ext cx="8678862" cy="5365750"/>
        </p:xfrm>
        <a:graphic>
          <a:graphicData uri="http://schemas.openxmlformats.org/presentationml/2006/ole">
            <mc:AlternateContent xmlns:mc="http://schemas.openxmlformats.org/markup-compatibility/2006">
              <mc:Choice xmlns:v="urn:schemas-microsoft-com:vml" Requires="v">
                <p:oleObj spid="_x0000_s37898" name="Chart" r:id="rId3" imgW="9471965" imgH="5852485" progId="Excel.Chart.8">
                  <p:embed/>
                </p:oleObj>
              </mc:Choice>
              <mc:Fallback>
                <p:oleObj name="Chart" r:id="rId3" imgW="9471965" imgH="5852485" progId="Excel.Chart.8">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1613" y="727075"/>
                        <a:ext cx="8678862" cy="536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5" name="Rectangle 3"/>
          <p:cNvSpPr>
            <a:spLocks noGrp="1" noChangeArrowheads="1"/>
          </p:cNvSpPr>
          <p:nvPr>
            <p:ph type="title"/>
          </p:nvPr>
        </p:nvSpPr>
        <p:spPr>
          <a:xfrm>
            <a:off x="228600" y="457200"/>
            <a:ext cx="4102100" cy="1143000"/>
          </a:xfrm>
        </p:spPr>
        <p:txBody>
          <a:bodyPr/>
          <a:lstStyle/>
          <a:p>
            <a:pPr algn="l"/>
            <a:r>
              <a:rPr lang="en-US" altLang="en-US" sz="5400" i="1">
                <a:latin typeface="Times New Roman" panose="02020603050405020304" pitchFamily="18" charset="0"/>
              </a:rPr>
              <a:t>Precipitation</a:t>
            </a:r>
            <a:endParaRPr lang="en-US" altLang="en-US"/>
          </a:p>
        </p:txBody>
      </p:sp>
      <p:sp>
        <p:nvSpPr>
          <p:cNvPr id="38917" name="Text Box 5"/>
          <p:cNvSpPr txBox="1">
            <a:spLocks noChangeArrowheads="1"/>
          </p:cNvSpPr>
          <p:nvPr>
            <p:ph type="body" idx="1"/>
          </p:nvPr>
        </p:nvSpPr>
        <p:spPr>
          <a:noFill/>
          <a:ln/>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2800"/>
              <a:t>0.75 m snow fall, 25 days in November</a:t>
            </a:r>
          </a:p>
          <a:p>
            <a:endParaRPr lang="en-US" altLang="en-US" sz="2800"/>
          </a:p>
          <a:p>
            <a:r>
              <a:rPr lang="en-US" altLang="en-US" sz="2800"/>
              <a:t>Using precipitation data from 1948-54 dataset</a:t>
            </a:r>
          </a:p>
          <a:p>
            <a:endParaRPr lang="en-US" altLang="en-US" sz="2800"/>
          </a:p>
          <a:p>
            <a:r>
              <a:rPr lang="en-US" altLang="en-US" sz="2800"/>
              <a:t>Gives average water equivalent  accumulation at BG35 of 6.20 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8917">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38917">
                                            <p:txEl>
                                              <p:pRg st="0" end="0"/>
                                            </p:txEl>
                                          </p:spTgt>
                                        </p:tgtEl>
                                        <p:attrNameLst>
                                          <p:attrName>ppt_c</p:attrName>
                                        </p:attrNameLst>
                                      </p:cBhvr>
                                      <p:to>
                                        <a:schemeClr val="bg1"/>
                                      </p:to>
                                    </p:animClr>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8917">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38917">
                                            <p:txEl>
                                              <p:pRg st="2" end="2"/>
                                            </p:txEl>
                                          </p:spTgt>
                                        </p:tgtEl>
                                        <p:attrNameLst>
                                          <p:attrName>ppt_c</p:attrName>
                                        </p:attrNameLst>
                                      </p:cBhvr>
                                      <p:to>
                                        <a:schemeClr val="bg1"/>
                                      </p:to>
                                    </p:animClr>
                                  </p:sub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8917">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38917">
                                            <p:txEl>
                                              <p:pRg st="4" end="4"/>
                                            </p:txEl>
                                          </p:spTgt>
                                        </p:tgtEl>
                                        <p:attrNameLst>
                                          <p:attrName>ppt_c</p:attrName>
                                        </p:attrNameLst>
                                      </p:cBhvr>
                                      <p:to>
                                        <a:schemeClr val="bg1"/>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7" grpId="0" build="p"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9938" name="Object 2"/>
          <p:cNvGraphicFramePr>
            <a:graphicFrameLocks noChangeAspect="1"/>
          </p:cNvGraphicFramePr>
          <p:nvPr/>
        </p:nvGraphicFramePr>
        <p:xfrm>
          <a:off x="11113" y="522288"/>
          <a:ext cx="9123362" cy="5815012"/>
        </p:xfrm>
        <a:graphic>
          <a:graphicData uri="http://schemas.openxmlformats.org/presentationml/2006/ole">
            <mc:AlternateContent xmlns:mc="http://schemas.openxmlformats.org/markup-compatibility/2006">
              <mc:Choice xmlns:v="urn:schemas-microsoft-com:vml" Requires="v">
                <p:oleObj spid="_x0000_s39939" name="Chart" r:id="rId3" imgW="9121445" imgH="5814446" progId="Excel.Chart.8">
                  <p:embed/>
                </p:oleObj>
              </mc:Choice>
              <mc:Fallback>
                <p:oleObj name="Chart" r:id="rId3" imgW="9121445" imgH="5814446" progId="Excel.Chart.8">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13" y="522288"/>
                        <a:ext cx="9123362" cy="5815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1747" name="Picture 3" descr="C:\Documents and Settings\dthost\My Documents\My Pictures\HI_7.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2263" y="630238"/>
            <a:ext cx="8572500" cy="564356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6867" name="Picture 3" descr="C:\Documents and Settings\dthost\My Documents\My Pictures\SMH_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6675" y="266700"/>
            <a:ext cx="6438900" cy="62944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Whirlpool.pot">
  <a:themeElements>
    <a:clrScheme name="Whirlpool.pot 1">
      <a:dk1>
        <a:srgbClr val="000066"/>
      </a:dk1>
      <a:lt1>
        <a:srgbClr val="CCECFF"/>
      </a:lt1>
      <a:dk2>
        <a:srgbClr val="0000CC"/>
      </a:dk2>
      <a:lt2>
        <a:srgbClr val="CCFFFF"/>
      </a:lt2>
      <a:accent1>
        <a:srgbClr val="CC99FF"/>
      </a:accent1>
      <a:accent2>
        <a:srgbClr val="9999FF"/>
      </a:accent2>
      <a:accent3>
        <a:srgbClr val="AAAAE2"/>
      </a:accent3>
      <a:accent4>
        <a:srgbClr val="AEC9DA"/>
      </a:accent4>
      <a:accent5>
        <a:srgbClr val="E2CAFF"/>
      </a:accent5>
      <a:accent6>
        <a:srgbClr val="8A8AE7"/>
      </a:accent6>
      <a:hlink>
        <a:srgbClr val="99CCFF"/>
      </a:hlink>
      <a:folHlink>
        <a:srgbClr val="0066FF"/>
      </a:folHlink>
    </a:clrScheme>
    <a:fontScheme name="Whirlpool.pot">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Whirlpool.pot 1">
        <a:dk1>
          <a:srgbClr val="000066"/>
        </a:dk1>
        <a:lt1>
          <a:srgbClr val="CCECFF"/>
        </a:lt1>
        <a:dk2>
          <a:srgbClr val="0000CC"/>
        </a:dk2>
        <a:lt2>
          <a:srgbClr val="CCFFFF"/>
        </a:lt2>
        <a:accent1>
          <a:srgbClr val="CC99FF"/>
        </a:accent1>
        <a:accent2>
          <a:srgbClr val="9999FF"/>
        </a:accent2>
        <a:accent3>
          <a:srgbClr val="AAAAE2"/>
        </a:accent3>
        <a:accent4>
          <a:srgbClr val="AEC9DA"/>
        </a:accent4>
        <a:accent5>
          <a:srgbClr val="E2CAFF"/>
        </a:accent5>
        <a:accent6>
          <a:srgbClr val="8A8AE7"/>
        </a:accent6>
        <a:hlink>
          <a:srgbClr val="99CCFF"/>
        </a:hlink>
        <a:folHlink>
          <a:srgbClr val="0066FF"/>
        </a:folHlink>
      </a:clrScheme>
      <a:clrMap bg1="dk2" tx1="lt1" bg2="dk1" tx2="lt2" accent1="accent1" accent2="accent2" accent3="accent3" accent4="accent4" accent5="accent5" accent6="accent6" hlink="hlink" folHlink="folHlink"/>
    </a:extraClrScheme>
    <a:extraClrScheme>
      <a:clrScheme name="Whirlpool.pot 2">
        <a:dk1>
          <a:srgbClr val="000066"/>
        </a:dk1>
        <a:lt1>
          <a:srgbClr val="CCECFF"/>
        </a:lt1>
        <a:dk2>
          <a:srgbClr val="6699FF"/>
        </a:dk2>
        <a:lt2>
          <a:srgbClr val="CCFFFF"/>
        </a:lt2>
        <a:accent1>
          <a:srgbClr val="CC99FF"/>
        </a:accent1>
        <a:accent2>
          <a:srgbClr val="9999FF"/>
        </a:accent2>
        <a:accent3>
          <a:srgbClr val="B8CAFF"/>
        </a:accent3>
        <a:accent4>
          <a:srgbClr val="AEC9DA"/>
        </a:accent4>
        <a:accent5>
          <a:srgbClr val="E2CAFF"/>
        </a:accent5>
        <a:accent6>
          <a:srgbClr val="8A8AE7"/>
        </a:accent6>
        <a:hlink>
          <a:srgbClr val="99CCFF"/>
        </a:hlink>
        <a:folHlink>
          <a:srgbClr val="0066FF"/>
        </a:folHlink>
      </a:clrScheme>
      <a:clrMap bg1="dk2" tx1="lt1" bg2="dk1" tx2="lt2" accent1="accent1" accent2="accent2" accent3="accent3" accent4="accent4" accent5="accent5" accent6="accent6" hlink="hlink" folHlink="folHlink"/>
    </a:extraClrScheme>
    <a:extraClrScheme>
      <a:clrScheme name="Whirlpool.pot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Designs\Whirlpool.pot</Template>
  <TotalTime>1077</TotalTime>
  <Words>297</Words>
  <Application>Microsoft Office PowerPoint</Application>
  <PresentationFormat>On-screen Show (4:3)</PresentationFormat>
  <Paragraphs>73</Paragraphs>
  <Slides>32</Slides>
  <Notes>0</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32</vt:i4>
      </vt:variant>
    </vt:vector>
  </HeadingPairs>
  <TitlesOfParts>
    <vt:vector size="41" baseType="lpstr">
      <vt:lpstr>Times New Roman</vt:lpstr>
      <vt:lpstr>Tahoma</vt:lpstr>
      <vt:lpstr>Monotype Sorts</vt:lpstr>
      <vt:lpstr>Arial</vt:lpstr>
      <vt:lpstr>Wingdings 3</vt:lpstr>
      <vt:lpstr>Smudger LET</vt:lpstr>
      <vt:lpstr>Wingdings</vt:lpstr>
      <vt:lpstr>Whirlpool.pot</vt:lpstr>
      <vt:lpstr>Microsoft Excel Chart</vt:lpstr>
      <vt:lpstr>PowerPoint Presentation</vt:lpstr>
      <vt:lpstr>PowerPoint Presentation</vt:lpstr>
      <vt:lpstr>Heard Island 2000</vt:lpstr>
      <vt:lpstr>Heard Island 2000</vt:lpstr>
      <vt:lpstr>Heard Island 2000</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Precipitation</vt:lpstr>
      <vt:lpstr>PowerPoint Presentation</vt:lpstr>
      <vt:lpstr>PowerPoint Presentation</vt:lpstr>
      <vt:lpstr>PowerPoint Presentation</vt:lpstr>
    </vt:vector>
  </TitlesOfParts>
  <Company>aaa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Heard Island 2000</dc:title>
  <dc:creator>doug</dc:creator>
  <cp:lastModifiedBy>Dave Connell</cp:lastModifiedBy>
  <cp:revision>22</cp:revision>
  <dcterms:created xsi:type="dcterms:W3CDTF">2001-04-24T00:54:22Z</dcterms:created>
  <dcterms:modified xsi:type="dcterms:W3CDTF">2020-12-11T05:10:51Z</dcterms:modified>
</cp:coreProperties>
</file>