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47"/>
  </p:notesMasterIdLst>
  <p:sldIdLst>
    <p:sldId id="277" r:id="rId2"/>
    <p:sldId id="285" r:id="rId3"/>
    <p:sldId id="256" r:id="rId4"/>
    <p:sldId id="257" r:id="rId5"/>
    <p:sldId id="258" r:id="rId6"/>
    <p:sldId id="259" r:id="rId7"/>
    <p:sldId id="276" r:id="rId8"/>
    <p:sldId id="262" r:id="rId9"/>
    <p:sldId id="283" r:id="rId10"/>
    <p:sldId id="267" r:id="rId11"/>
    <p:sldId id="279" r:id="rId12"/>
    <p:sldId id="280" r:id="rId13"/>
    <p:sldId id="278" r:id="rId14"/>
    <p:sldId id="284" r:id="rId15"/>
    <p:sldId id="275" r:id="rId16"/>
    <p:sldId id="281" r:id="rId17"/>
    <p:sldId id="265" r:id="rId18"/>
    <p:sldId id="263" r:id="rId19"/>
    <p:sldId id="266" r:id="rId20"/>
    <p:sldId id="272" r:id="rId21"/>
    <p:sldId id="271" r:id="rId22"/>
    <p:sldId id="269" r:id="rId23"/>
    <p:sldId id="273" r:id="rId24"/>
    <p:sldId id="270" r:id="rId25"/>
    <p:sldId id="274" r:id="rId26"/>
    <p:sldId id="292" r:id="rId27"/>
    <p:sldId id="306" r:id="rId28"/>
    <p:sldId id="261" r:id="rId29"/>
    <p:sldId id="288" r:id="rId30"/>
    <p:sldId id="289" r:id="rId31"/>
    <p:sldId id="290"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287" r:id="rId45"/>
    <p:sldId id="282" r:id="rId4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FF"/>
    <a:srgbClr val="CCCC00"/>
    <a:srgbClr val="0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napToGrid="0">
      <p:cViewPr varScale="1">
        <p:scale>
          <a:sx n="87" d="100"/>
          <a:sy n="87" d="100"/>
        </p:scale>
        <p:origin x="821"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593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5939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93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93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593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70441E0-83A8-4F6F-9B6C-3F9FCC135B8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854A8-2E26-4C46-B691-480FC21331EF}" type="slidenum">
              <a:rPr lang="en-US" altLang="en-US"/>
              <a:pPr/>
              <a:t>27</a:t>
            </a:fld>
            <a:endParaRPr lang="en-US" altLang="en-US"/>
          </a:p>
        </p:txBody>
      </p:sp>
      <p:sp>
        <p:nvSpPr>
          <p:cNvPr id="60418" name="Rectangle 2"/>
          <p:cNvSpPr>
            <a:spLocks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0419" name="Rectangle 3"/>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0" y="0"/>
            <a:ext cx="825500" cy="6858000"/>
          </a:xfrm>
          <a:prstGeom prst="rect">
            <a:avLst/>
          </a:prstGeom>
          <a:solidFill>
            <a:schemeClr val="tx2">
              <a:alpha val="50000"/>
            </a:schemeClr>
          </a:solidFill>
          <a:ln>
            <a:noFill/>
          </a:ln>
          <a:extLst>
            <a:ext uri="{91240B29-F687-4F45-9708-019B960494DF}">
              <a14:hiddenLine xmlns:a14="http://schemas.microsoft.com/office/drawing/2010/main" w="9525">
                <a:solidFill>
                  <a:schemeClr val="bg1"/>
                </a:solidFill>
                <a:miter lim="800000"/>
                <a:headEnd/>
                <a:tailEnd/>
              </a14:hiddenLine>
            </a:ext>
          </a:extLst>
        </p:spPr>
        <p:txBody>
          <a:bodyPr wrap="none" anchor="ctr"/>
          <a:lstStyle/>
          <a:p>
            <a:endParaRPr lang="en-AU"/>
          </a:p>
        </p:txBody>
      </p:sp>
      <p:sp>
        <p:nvSpPr>
          <p:cNvPr id="3075" name="Rectangle 3"/>
          <p:cNvSpPr>
            <a:spLocks noGrp="1" noChangeArrowheads="1"/>
          </p:cNvSpPr>
          <p:nvPr>
            <p:ph type="ctrTitle"/>
          </p:nvPr>
        </p:nvSpPr>
        <p:spPr>
          <a:xfrm>
            <a:off x="685800" y="2133600"/>
            <a:ext cx="7772400" cy="1143000"/>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lvl1pPr>
          </a:lstStyle>
          <a:p>
            <a:pPr lvl="0"/>
            <a:r>
              <a:rPr lang="en-US" altLang="en-US" noProof="0" smtClean="0"/>
              <a:t>Click to edit Master title style</a:t>
            </a:r>
          </a:p>
        </p:txBody>
      </p:sp>
      <p:sp>
        <p:nvSpPr>
          <p:cNvPr id="3076" name="Rectangle 4"/>
          <p:cNvSpPr>
            <a:spLocks noGrp="1" noChangeArrowheads="1"/>
          </p:cNvSpPr>
          <p:nvPr>
            <p:ph type="subTitle" idx="1"/>
          </p:nvPr>
        </p:nvSpPr>
        <p:spPr>
          <a:xfrm>
            <a:off x="1447800" y="3886200"/>
            <a:ext cx="6400800" cy="1752600"/>
          </a:xfrm>
        </p:spPr>
        <p:txBody>
          <a:bodyPr/>
          <a:lstStyle>
            <a:lvl1pPr marL="0" indent="0" algn="ctr">
              <a:buFont typeface="Monotype Sorts" pitchFamily="2" charset="2"/>
              <a:buNone/>
              <a:defRPr/>
            </a:lvl1pPr>
          </a:lstStyle>
          <a:p>
            <a:pPr lvl="0"/>
            <a:r>
              <a:rPr lang="en-US" altLang="en-US" noProof="0" smtClean="0"/>
              <a:t>Click to edit Master subtitle style</a:t>
            </a:r>
          </a:p>
        </p:txBody>
      </p:sp>
      <p:sp>
        <p:nvSpPr>
          <p:cNvPr id="3077" name="Rectangle 5"/>
          <p:cNvSpPr>
            <a:spLocks noGrp="1" noChangeArrowheads="1"/>
          </p:cNvSpPr>
          <p:nvPr>
            <p:ph type="dt" sz="half" idx="2"/>
          </p:nvPr>
        </p:nvSpPr>
        <p:spPr/>
        <p:txBody>
          <a:bodyPr/>
          <a:lstStyle>
            <a:lvl1pPr>
              <a:defRPr>
                <a:solidFill>
                  <a:srgbClr val="CCECFF"/>
                </a:solidFill>
              </a:defRPr>
            </a:lvl1pPr>
          </a:lstStyle>
          <a:p>
            <a:endParaRPr lang="en-US" altLang="en-US"/>
          </a:p>
        </p:txBody>
      </p:sp>
      <p:sp>
        <p:nvSpPr>
          <p:cNvPr id="3078" name="Rectangle 6"/>
          <p:cNvSpPr>
            <a:spLocks noGrp="1" noChangeArrowheads="1"/>
          </p:cNvSpPr>
          <p:nvPr>
            <p:ph type="ftr" sz="quarter" idx="3"/>
          </p:nvPr>
        </p:nvSpPr>
        <p:spPr/>
        <p:txBody>
          <a:bodyPr/>
          <a:lstStyle>
            <a:lvl1pPr>
              <a:defRPr>
                <a:solidFill>
                  <a:srgbClr val="CCECFF"/>
                </a:solidFill>
              </a:defRPr>
            </a:lvl1pPr>
          </a:lstStyle>
          <a:p>
            <a:endParaRPr lang="en-US" altLang="en-US"/>
          </a:p>
        </p:txBody>
      </p:sp>
      <p:sp>
        <p:nvSpPr>
          <p:cNvPr id="3079" name="Rectangle 7"/>
          <p:cNvSpPr>
            <a:spLocks noGrp="1" noChangeArrowheads="1"/>
          </p:cNvSpPr>
          <p:nvPr>
            <p:ph type="sldNum" sz="quarter" idx="4"/>
          </p:nvPr>
        </p:nvSpPr>
        <p:spPr/>
        <p:txBody>
          <a:bodyPr/>
          <a:lstStyle>
            <a:lvl1pPr>
              <a:defRPr>
                <a:solidFill>
                  <a:srgbClr val="CCECFF"/>
                </a:solidFill>
              </a:defRPr>
            </a:lvl1pPr>
          </a:lstStyle>
          <a:p>
            <a:fld id="{DE24435E-4AEE-44A3-8088-2A01510F5DC6}" type="slidenum">
              <a:rPr lang="en-US" altLang="en-US"/>
              <a:pPr/>
              <a:t>‹#›</a:t>
            </a:fld>
            <a:endParaRPr lang="en-US" altLang="en-US"/>
          </a:p>
        </p:txBody>
      </p:sp>
      <p:sp>
        <p:nvSpPr>
          <p:cNvPr id="3080" name="Rectangle 8"/>
          <p:cNvSpPr>
            <a:spLocks noChangeArrowheads="1"/>
          </p:cNvSpPr>
          <p:nvPr/>
        </p:nvSpPr>
        <p:spPr bwMode="ltGray">
          <a:xfrm>
            <a:off x="0" y="3543300"/>
            <a:ext cx="3343275" cy="122238"/>
          </a:xfrm>
          <a:prstGeom prst="rect">
            <a:avLst/>
          </a:prstGeom>
          <a:solidFill>
            <a:schemeClr val="bg2">
              <a:alpha val="50000"/>
            </a:schemeClr>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2000"/>
                                  </p:stCondLst>
                                  <p:childTnLst>
                                    <p:set>
                                      <p:cBhvr>
                                        <p:cTn id="6" dur="1" fill="hold">
                                          <p:stCondLst>
                                            <p:cond delay="0"/>
                                          </p:stCondLst>
                                        </p:cTn>
                                        <p:tgtEl>
                                          <p:spTgt spid="3074"/>
                                        </p:tgtEl>
                                        <p:attrNameLst>
                                          <p:attrName>style.visibility</p:attrName>
                                        </p:attrNameLst>
                                      </p:cBhvr>
                                      <p:to>
                                        <p:strVal val="visible"/>
                                      </p:to>
                                    </p:set>
                                    <p:animEffect transition="in" filter="wipe(up)">
                                      <p:cBhvr>
                                        <p:cTn id="7" dur="500"/>
                                        <p:tgtEl>
                                          <p:spTgt spid="3074"/>
                                        </p:tgtEl>
                                      </p:cBhvr>
                                    </p:animEffect>
                                  </p:childTnLst>
                                </p:cTn>
                              </p:par>
                            </p:childTnLst>
                          </p:cTn>
                        </p:par>
                        <p:par>
                          <p:cTn id="8" fill="hold" nodeType="afterGroup">
                            <p:stCondLst>
                              <p:cond delay="2500"/>
                            </p:stCondLst>
                            <p:childTnLst>
                              <p:par>
                                <p:cTn id="9" presetID="22" presetClass="entr" presetSubtype="2" fill="hold" nodeType="afterEffect">
                                  <p:stCondLst>
                                    <p:cond delay="3000"/>
                                  </p:stCondLst>
                                  <p:childTnLst>
                                    <p:set>
                                      <p:cBhvr>
                                        <p:cTn id="10" dur="1" fill="hold">
                                          <p:stCondLst>
                                            <p:cond delay="0"/>
                                          </p:stCondLst>
                                        </p:cTn>
                                        <p:tgtEl>
                                          <p:spTgt spid="3080"/>
                                        </p:tgtEl>
                                        <p:attrNameLst>
                                          <p:attrName>style.visibility</p:attrName>
                                        </p:attrNameLst>
                                      </p:cBhvr>
                                      <p:to>
                                        <p:strVal val="visible"/>
                                      </p:to>
                                    </p:set>
                                    <p:animEffect transition="in" filter="wipe(right)">
                                      <p:cBhvr>
                                        <p:cTn id="11" dur="5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D865F74E-CAAA-415E-B51B-93FDA5EDEB3E}" type="slidenum">
              <a:rPr lang="en-US" altLang="en-US"/>
              <a:pPr/>
              <a:t>‹#›</a:t>
            </a:fld>
            <a:endParaRPr lang="en-US" altLang="en-US"/>
          </a:p>
        </p:txBody>
      </p:sp>
    </p:spTree>
    <p:extLst>
      <p:ext uri="{BB962C8B-B14F-4D97-AF65-F5344CB8AC3E}">
        <p14:creationId xmlns:p14="http://schemas.microsoft.com/office/powerpoint/2010/main" val="256323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182A435-24ED-4C43-937A-52F15BABFCEF}" type="slidenum">
              <a:rPr lang="en-US" altLang="en-US"/>
              <a:pPr/>
              <a:t>‹#›</a:t>
            </a:fld>
            <a:endParaRPr lang="en-US" altLang="en-US"/>
          </a:p>
        </p:txBody>
      </p:sp>
    </p:spTree>
    <p:extLst>
      <p:ext uri="{BB962C8B-B14F-4D97-AF65-F5344CB8AC3E}">
        <p14:creationId xmlns:p14="http://schemas.microsoft.com/office/powerpoint/2010/main" val="1559400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60CAB2FF-7E71-4A81-ACC2-0A267757B934}" type="slidenum">
              <a:rPr lang="en-US" altLang="en-US"/>
              <a:pPr/>
              <a:t>‹#›</a:t>
            </a:fld>
            <a:endParaRPr lang="en-US" altLang="en-US"/>
          </a:p>
        </p:txBody>
      </p:sp>
    </p:spTree>
    <p:extLst>
      <p:ext uri="{BB962C8B-B14F-4D97-AF65-F5344CB8AC3E}">
        <p14:creationId xmlns:p14="http://schemas.microsoft.com/office/powerpoint/2010/main" val="879730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67001AE8-0497-4E3F-AE50-006D7D50B664}" type="slidenum">
              <a:rPr lang="en-US" altLang="en-US"/>
              <a:pPr/>
              <a:t>‹#›</a:t>
            </a:fld>
            <a:endParaRPr lang="en-US" altLang="en-US"/>
          </a:p>
        </p:txBody>
      </p:sp>
    </p:spTree>
    <p:extLst>
      <p:ext uri="{BB962C8B-B14F-4D97-AF65-F5344CB8AC3E}">
        <p14:creationId xmlns:p14="http://schemas.microsoft.com/office/powerpoint/2010/main" val="1932004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C71CA1A1-B7F6-4542-A88C-0CCE21CDC51E}" type="slidenum">
              <a:rPr lang="en-US" altLang="en-US"/>
              <a:pPr/>
              <a:t>‹#›</a:t>
            </a:fld>
            <a:endParaRPr lang="en-US" altLang="en-US"/>
          </a:p>
        </p:txBody>
      </p:sp>
    </p:spTree>
    <p:extLst>
      <p:ext uri="{BB962C8B-B14F-4D97-AF65-F5344CB8AC3E}">
        <p14:creationId xmlns:p14="http://schemas.microsoft.com/office/powerpoint/2010/main" val="129437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E40C3158-1508-417E-8831-0043B4AB4967}" type="slidenum">
              <a:rPr lang="en-US" altLang="en-US"/>
              <a:pPr/>
              <a:t>‹#›</a:t>
            </a:fld>
            <a:endParaRPr lang="en-US" altLang="en-US"/>
          </a:p>
        </p:txBody>
      </p:sp>
    </p:spTree>
    <p:extLst>
      <p:ext uri="{BB962C8B-B14F-4D97-AF65-F5344CB8AC3E}">
        <p14:creationId xmlns:p14="http://schemas.microsoft.com/office/powerpoint/2010/main" val="236318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787EC93B-A910-49A0-B725-1144CC2B36FE}" type="slidenum">
              <a:rPr lang="en-US" altLang="en-US"/>
              <a:pPr/>
              <a:t>‹#›</a:t>
            </a:fld>
            <a:endParaRPr lang="en-US" altLang="en-US"/>
          </a:p>
        </p:txBody>
      </p:sp>
    </p:spTree>
    <p:extLst>
      <p:ext uri="{BB962C8B-B14F-4D97-AF65-F5344CB8AC3E}">
        <p14:creationId xmlns:p14="http://schemas.microsoft.com/office/powerpoint/2010/main" val="1911911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5084D990-4C61-4322-A642-0BC24F49C315}" type="slidenum">
              <a:rPr lang="en-US" altLang="en-US"/>
              <a:pPr/>
              <a:t>‹#›</a:t>
            </a:fld>
            <a:endParaRPr lang="en-US" altLang="en-US"/>
          </a:p>
        </p:txBody>
      </p:sp>
    </p:spTree>
    <p:extLst>
      <p:ext uri="{BB962C8B-B14F-4D97-AF65-F5344CB8AC3E}">
        <p14:creationId xmlns:p14="http://schemas.microsoft.com/office/powerpoint/2010/main" val="152897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48F44DF-53CF-4FCF-9037-1C71EE3D8D9A}" type="slidenum">
              <a:rPr lang="en-US" altLang="en-US"/>
              <a:pPr/>
              <a:t>‹#›</a:t>
            </a:fld>
            <a:endParaRPr lang="en-US" altLang="en-US"/>
          </a:p>
        </p:txBody>
      </p:sp>
    </p:spTree>
    <p:extLst>
      <p:ext uri="{BB962C8B-B14F-4D97-AF65-F5344CB8AC3E}">
        <p14:creationId xmlns:p14="http://schemas.microsoft.com/office/powerpoint/2010/main" val="412790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0800" y="457200"/>
            <a:ext cx="2057400" cy="56388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228600" y="457200"/>
            <a:ext cx="60198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5889CB3-4399-49D7-854E-9A7DDE9BC333}" type="slidenum">
              <a:rPr lang="en-US" altLang="en-US"/>
              <a:pPr/>
              <a:t>‹#›</a:t>
            </a:fld>
            <a:endParaRPr lang="en-US" altLang="en-US"/>
          </a:p>
        </p:txBody>
      </p:sp>
    </p:spTree>
    <p:extLst>
      <p:ext uri="{BB962C8B-B14F-4D97-AF65-F5344CB8AC3E}">
        <p14:creationId xmlns:p14="http://schemas.microsoft.com/office/powerpoint/2010/main" val="3086970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286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vl1pPr>
          </a:lstStyle>
          <a:p>
            <a:endParaRPr lang="en-US" altLang="en-US"/>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vl1pPr>
          </a:lstStyle>
          <a:p>
            <a:endParaRPr lang="en-US" altLang="en-US"/>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vl1pPr>
          </a:lstStyle>
          <a:p>
            <a:fld id="{1FAD57B1-A584-4124-8B3B-E51D69AF5D97}"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5pPr>
      <a:lvl6pPr marL="4572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6pPr>
      <a:lvl7pPr marL="9144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7pPr>
      <a:lvl8pPr marL="13716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8pPr>
      <a:lvl9pPr marL="1828800"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75000"/>
        <a:buFont typeface="Monotype Sorts"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Char char="–"/>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folHlink"/>
        </a:buClr>
        <a:buSzPct val="60000"/>
        <a:buFont typeface="Monotype Sorts" pitchFamily="2" charset="2"/>
        <a:buChar char="n"/>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folHlink"/>
        </a:buClr>
        <a:buSzPct val="50000"/>
        <a:buFont typeface="Monotype Sorts"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5.emf"/><Relationship Id="rId5" Type="http://schemas.openxmlformats.org/officeDocument/2006/relationships/oleObject" Target="../embeddings/oleObject9.bin"/><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7.emf"/><Relationship Id="rId5" Type="http://schemas.openxmlformats.org/officeDocument/2006/relationships/oleObject" Target="../embeddings/oleObject11.bin"/><Relationship Id="rId4" Type="http://schemas.openxmlformats.org/officeDocument/2006/relationships/image" Target="../media/image26.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8.emf"/><Relationship Id="rId4"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30.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13.vml"/><Relationship Id="rId4" Type="http://schemas.openxmlformats.org/officeDocument/2006/relationships/image" Target="../media/image33.wmf"/></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14.vml"/><Relationship Id="rId4" Type="http://schemas.openxmlformats.org/officeDocument/2006/relationships/image" Target="../media/image35.wmf"/></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38.emf"/><Relationship Id="rId5" Type="http://schemas.openxmlformats.org/officeDocument/2006/relationships/oleObject" Target="../embeddings/oleObject18.bin"/><Relationship Id="rId4" Type="http://schemas.openxmlformats.org/officeDocument/2006/relationships/image" Target="../media/image37.emf"/></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335088" y="534988"/>
            <a:ext cx="656907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1700">
                <a:effectLst>
                  <a:outerShdw blurRad="38100" dist="38100" dir="2700000" algn="tl">
                    <a:srgbClr val="000000"/>
                  </a:outerShdw>
                </a:effectLst>
                <a:latin typeface="Smudger LET" pitchFamily="2" charset="0"/>
              </a:rPr>
              <a:t>Heard Island</a:t>
            </a:r>
          </a:p>
          <a:p>
            <a:pPr algn="ctr"/>
            <a:r>
              <a:rPr lang="en-US" altLang="en-US" sz="11700">
                <a:effectLst>
                  <a:outerShdw blurRad="38100" dist="38100" dir="2700000" algn="tl">
                    <a:srgbClr val="000000"/>
                  </a:outerShdw>
                </a:effectLst>
                <a:latin typeface="Smudger LET" pitchFamily="2" charset="0"/>
              </a:rPr>
              <a:t>2000</a:t>
            </a:r>
            <a:endParaRPr lang="en-US" altLang="en-US">
              <a:effectLst>
                <a:outerShdw blurRad="38100" dist="38100" dir="2700000" algn="tl">
                  <a:srgbClr val="00000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4819" name="Picture 3" descr="C:\Documents and Settings\dthost\My Documents\My Pictures\SMH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50" y="600075"/>
            <a:ext cx="8586788" cy="5735638"/>
          </a:xfrm>
          <a:prstGeom prst="rect">
            <a:avLst/>
          </a:prstGeom>
          <a:noFill/>
          <a:extLst>
            <a:ext uri="{909E8E84-426E-40DD-AFC4-6F175D3DCCD1}">
              <a14:hiddenFill xmlns:a14="http://schemas.microsoft.com/office/drawing/2010/main">
                <a:solidFill>
                  <a:srgbClr val="FFFFFF"/>
                </a:solidFill>
              </a14:hiddenFill>
            </a:ext>
          </a:extLst>
        </p:spPr>
      </p:pic>
      <p:sp>
        <p:nvSpPr>
          <p:cNvPr id="34820" name="Oval 4"/>
          <p:cNvSpPr>
            <a:spLocks noChangeArrowheads="1"/>
          </p:cNvSpPr>
          <p:nvPr/>
        </p:nvSpPr>
        <p:spPr bwMode="auto">
          <a:xfrm>
            <a:off x="1708150" y="3662363"/>
            <a:ext cx="884238" cy="40957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4821" name="Text Box 5"/>
          <p:cNvSpPr txBox="1">
            <a:spLocks noChangeArrowheads="1"/>
          </p:cNvSpPr>
          <p:nvPr/>
        </p:nvSpPr>
        <p:spPr bwMode="auto">
          <a:xfrm>
            <a:off x="5000625" y="6372225"/>
            <a:ext cx="3975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Sydney Morning Herald, March 30, 2001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a:t>Heard Island 2000</a:t>
            </a:r>
          </a:p>
        </p:txBody>
      </p:sp>
      <p:sp>
        <p:nvSpPr>
          <p:cNvPr id="4099" name="Rectangle 3"/>
          <p:cNvSpPr>
            <a:spLocks noGrp="1" noChangeArrowheads="1"/>
          </p:cNvSpPr>
          <p:nvPr>
            <p:ph type="body" idx="1"/>
          </p:nvPr>
        </p:nvSpPr>
        <p:spPr/>
        <p:txBody>
          <a:bodyPr/>
          <a:lstStyle/>
          <a:p>
            <a:r>
              <a:rPr lang="en-US" altLang="en-US"/>
              <a:t>Study of the Brown Glacier</a:t>
            </a:r>
          </a:p>
          <a:p>
            <a:r>
              <a:rPr lang="en-US" altLang="en-US"/>
              <a:t>Introduction</a:t>
            </a:r>
          </a:p>
          <a:p>
            <a:r>
              <a:rPr lang="en-US" altLang="en-US"/>
              <a:t>Why the Brown Glacier?</a:t>
            </a:r>
          </a:p>
          <a:p>
            <a:r>
              <a:rPr lang="en-US" altLang="en-US"/>
              <a:t>What we did</a:t>
            </a:r>
          </a:p>
          <a:p>
            <a:r>
              <a:rPr lang="en-US" altLang="en-US"/>
              <a:t>Weather data &amp; results</a:t>
            </a:r>
          </a:p>
          <a:p>
            <a:r>
              <a:rPr lang="en-US" altLang="en-US"/>
              <a:t>Herr Truffer … (the Australian Scientist)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1" end="1"/>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2" end="2"/>
                                            </p:txEl>
                                          </p:spTgt>
                                        </p:tgtEl>
                                        <p:attrNameLst>
                                          <p:attrName>ppt_c</p:attrName>
                                        </p:attrNameLst>
                                      </p:cBhvr>
                                      <p:to>
                                        <a:schemeClr val="bg1"/>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3" end="3"/>
                                            </p:txEl>
                                          </p:spTgt>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4" end="4"/>
                                            </p:txEl>
                                          </p:spTgt>
                                        </p:tgtEl>
                                        <p:attrNameLst>
                                          <p:attrName>ppt_c</p:attrName>
                                        </p:attrNameLst>
                                      </p:cBhvr>
                                      <p:to>
                                        <a:schemeClr val="bg1"/>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09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099">
                                            <p:txEl>
                                              <p:pRg st="5" end="5"/>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a:t>Heard Island 2000</a:t>
            </a:r>
          </a:p>
        </p:txBody>
      </p:sp>
      <p:sp>
        <p:nvSpPr>
          <p:cNvPr id="5123" name="Rectangle 3"/>
          <p:cNvSpPr>
            <a:spLocks noGrp="1" noChangeArrowheads="1"/>
          </p:cNvSpPr>
          <p:nvPr>
            <p:ph type="body" idx="1"/>
          </p:nvPr>
        </p:nvSpPr>
        <p:spPr/>
        <p:txBody>
          <a:bodyPr/>
          <a:lstStyle/>
          <a:p>
            <a:r>
              <a:rPr lang="en-US" altLang="en-US"/>
              <a:t>Location</a:t>
            </a:r>
          </a:p>
          <a:p>
            <a:r>
              <a:rPr lang="en-US" altLang="en-US"/>
              <a:t>53 S</a:t>
            </a:r>
          </a:p>
          <a:p>
            <a:r>
              <a:rPr lang="en-US" altLang="en-US"/>
              <a:t>73.5 E</a:t>
            </a:r>
          </a:p>
          <a:p>
            <a:endParaRPr lang="en-US" altLang="en-US"/>
          </a:p>
        </p:txBody>
      </p:sp>
      <p:pic>
        <p:nvPicPr>
          <p:cNvPr id="5124" name="Picture 4" descr="C:\Documents and Settings\dthost\My Documents\My Pictures\heard island\above_heard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905000"/>
            <a:ext cx="4775200" cy="4775200"/>
          </a:xfrm>
          <a:prstGeom prst="rect">
            <a:avLst/>
          </a:prstGeom>
          <a:noFill/>
          <a:extLst>
            <a:ext uri="{909E8E84-426E-40DD-AFC4-6F175D3DCCD1}">
              <a14:hiddenFill xmlns:a14="http://schemas.microsoft.com/office/drawing/2010/main">
                <a:solidFill>
                  <a:srgbClr val="FFFFFF"/>
                </a:solidFill>
              </a14:hiddenFill>
            </a:ext>
          </a:extLst>
        </p:spPr>
      </p:pic>
      <p:sp>
        <p:nvSpPr>
          <p:cNvPr id="5125" name="Oval 5"/>
          <p:cNvSpPr>
            <a:spLocks noChangeArrowheads="1"/>
          </p:cNvSpPr>
          <p:nvPr/>
        </p:nvSpPr>
        <p:spPr bwMode="auto">
          <a:xfrm>
            <a:off x="5334000" y="4191000"/>
            <a:ext cx="228600" cy="228600"/>
          </a:xfrm>
          <a:prstGeom prst="ellipse">
            <a:avLst/>
          </a:prstGeom>
          <a:noFill/>
          <a:ln w="1905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27" name="Freeform 7"/>
          <p:cNvSpPr>
            <a:spLocks/>
          </p:cNvSpPr>
          <p:nvPr/>
        </p:nvSpPr>
        <p:spPr bwMode="auto">
          <a:xfrm>
            <a:off x="3886200" y="4191000"/>
            <a:ext cx="2921000" cy="2387600"/>
          </a:xfrm>
          <a:custGeom>
            <a:avLst/>
            <a:gdLst>
              <a:gd name="T0" fmla="*/ 432 w 1840"/>
              <a:gd name="T1" fmla="*/ 1392 h 1504"/>
              <a:gd name="T2" fmla="*/ 192 w 1840"/>
              <a:gd name="T3" fmla="*/ 1248 h 1504"/>
              <a:gd name="T4" fmla="*/ 96 w 1840"/>
              <a:gd name="T5" fmla="*/ 1152 h 1504"/>
              <a:gd name="T6" fmla="*/ 48 w 1840"/>
              <a:gd name="T7" fmla="*/ 1056 h 1504"/>
              <a:gd name="T8" fmla="*/ 0 w 1840"/>
              <a:gd name="T9" fmla="*/ 912 h 1504"/>
              <a:gd name="T10" fmla="*/ 48 w 1840"/>
              <a:gd name="T11" fmla="*/ 576 h 1504"/>
              <a:gd name="T12" fmla="*/ 96 w 1840"/>
              <a:gd name="T13" fmla="*/ 336 h 1504"/>
              <a:gd name="T14" fmla="*/ 240 w 1840"/>
              <a:gd name="T15" fmla="*/ 144 h 1504"/>
              <a:gd name="T16" fmla="*/ 528 w 1840"/>
              <a:gd name="T17" fmla="*/ 48 h 1504"/>
              <a:gd name="T18" fmla="*/ 816 w 1840"/>
              <a:gd name="T19" fmla="*/ 48 h 1504"/>
              <a:gd name="T20" fmla="*/ 1008 w 1840"/>
              <a:gd name="T21" fmla="*/ 0 h 1504"/>
              <a:gd name="T22" fmla="*/ 1200 w 1840"/>
              <a:gd name="T23" fmla="*/ 48 h 1504"/>
              <a:gd name="T24" fmla="*/ 1392 w 1840"/>
              <a:gd name="T25" fmla="*/ 96 h 1504"/>
              <a:gd name="T26" fmla="*/ 1584 w 1840"/>
              <a:gd name="T27" fmla="*/ 288 h 1504"/>
              <a:gd name="T28" fmla="*/ 1728 w 1840"/>
              <a:gd name="T29" fmla="*/ 480 h 1504"/>
              <a:gd name="T30" fmla="*/ 1824 w 1840"/>
              <a:gd name="T31" fmla="*/ 720 h 1504"/>
              <a:gd name="T32" fmla="*/ 1824 w 1840"/>
              <a:gd name="T33" fmla="*/ 864 h 1504"/>
              <a:gd name="T34" fmla="*/ 1776 w 1840"/>
              <a:gd name="T35" fmla="*/ 1008 h 1504"/>
              <a:gd name="T36" fmla="*/ 1728 w 1840"/>
              <a:gd name="T37" fmla="*/ 1152 h 1504"/>
              <a:gd name="T38" fmla="*/ 1584 w 1840"/>
              <a:gd name="T39" fmla="*/ 1296 h 1504"/>
              <a:gd name="T40" fmla="*/ 1392 w 1840"/>
              <a:gd name="T41" fmla="*/ 1392 h 1504"/>
              <a:gd name="T42" fmla="*/ 1152 w 1840"/>
              <a:gd name="T43" fmla="*/ 1488 h 1504"/>
              <a:gd name="T44" fmla="*/ 912 w 1840"/>
              <a:gd name="T45" fmla="*/ 1488 h 1504"/>
              <a:gd name="T46" fmla="*/ 720 w 1840"/>
              <a:gd name="T47" fmla="*/ 1488 h 1504"/>
              <a:gd name="T48" fmla="*/ 432 w 1840"/>
              <a:gd name="T49" fmla="*/ 1392 h 1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40" h="1504">
                <a:moveTo>
                  <a:pt x="432" y="1392"/>
                </a:moveTo>
                <a:cubicBezTo>
                  <a:pt x="344" y="1352"/>
                  <a:pt x="248" y="1288"/>
                  <a:pt x="192" y="1248"/>
                </a:cubicBezTo>
                <a:cubicBezTo>
                  <a:pt x="136" y="1208"/>
                  <a:pt x="120" y="1184"/>
                  <a:pt x="96" y="1152"/>
                </a:cubicBezTo>
                <a:cubicBezTo>
                  <a:pt x="72" y="1120"/>
                  <a:pt x="64" y="1096"/>
                  <a:pt x="48" y="1056"/>
                </a:cubicBezTo>
                <a:cubicBezTo>
                  <a:pt x="32" y="1016"/>
                  <a:pt x="0" y="992"/>
                  <a:pt x="0" y="912"/>
                </a:cubicBezTo>
                <a:cubicBezTo>
                  <a:pt x="0" y="832"/>
                  <a:pt x="32" y="672"/>
                  <a:pt x="48" y="576"/>
                </a:cubicBezTo>
                <a:cubicBezTo>
                  <a:pt x="64" y="480"/>
                  <a:pt x="64" y="408"/>
                  <a:pt x="96" y="336"/>
                </a:cubicBezTo>
                <a:cubicBezTo>
                  <a:pt x="128" y="264"/>
                  <a:pt x="168" y="192"/>
                  <a:pt x="240" y="144"/>
                </a:cubicBezTo>
                <a:cubicBezTo>
                  <a:pt x="312" y="96"/>
                  <a:pt x="432" y="64"/>
                  <a:pt x="528" y="48"/>
                </a:cubicBezTo>
                <a:cubicBezTo>
                  <a:pt x="624" y="32"/>
                  <a:pt x="736" y="56"/>
                  <a:pt x="816" y="48"/>
                </a:cubicBezTo>
                <a:cubicBezTo>
                  <a:pt x="896" y="40"/>
                  <a:pt x="944" y="0"/>
                  <a:pt x="1008" y="0"/>
                </a:cubicBezTo>
                <a:cubicBezTo>
                  <a:pt x="1072" y="0"/>
                  <a:pt x="1136" y="32"/>
                  <a:pt x="1200" y="48"/>
                </a:cubicBezTo>
                <a:cubicBezTo>
                  <a:pt x="1264" y="64"/>
                  <a:pt x="1328" y="56"/>
                  <a:pt x="1392" y="96"/>
                </a:cubicBezTo>
                <a:cubicBezTo>
                  <a:pt x="1456" y="136"/>
                  <a:pt x="1528" y="224"/>
                  <a:pt x="1584" y="288"/>
                </a:cubicBezTo>
                <a:cubicBezTo>
                  <a:pt x="1640" y="352"/>
                  <a:pt x="1688" y="408"/>
                  <a:pt x="1728" y="480"/>
                </a:cubicBezTo>
                <a:cubicBezTo>
                  <a:pt x="1768" y="552"/>
                  <a:pt x="1808" y="656"/>
                  <a:pt x="1824" y="720"/>
                </a:cubicBezTo>
                <a:cubicBezTo>
                  <a:pt x="1840" y="784"/>
                  <a:pt x="1832" y="816"/>
                  <a:pt x="1824" y="864"/>
                </a:cubicBezTo>
                <a:cubicBezTo>
                  <a:pt x="1816" y="912"/>
                  <a:pt x="1792" y="960"/>
                  <a:pt x="1776" y="1008"/>
                </a:cubicBezTo>
                <a:cubicBezTo>
                  <a:pt x="1760" y="1056"/>
                  <a:pt x="1760" y="1104"/>
                  <a:pt x="1728" y="1152"/>
                </a:cubicBezTo>
                <a:cubicBezTo>
                  <a:pt x="1696" y="1200"/>
                  <a:pt x="1640" y="1256"/>
                  <a:pt x="1584" y="1296"/>
                </a:cubicBezTo>
                <a:cubicBezTo>
                  <a:pt x="1528" y="1336"/>
                  <a:pt x="1464" y="1360"/>
                  <a:pt x="1392" y="1392"/>
                </a:cubicBezTo>
                <a:cubicBezTo>
                  <a:pt x="1320" y="1424"/>
                  <a:pt x="1232" y="1472"/>
                  <a:pt x="1152" y="1488"/>
                </a:cubicBezTo>
                <a:cubicBezTo>
                  <a:pt x="1072" y="1504"/>
                  <a:pt x="984" y="1488"/>
                  <a:pt x="912" y="1488"/>
                </a:cubicBezTo>
                <a:cubicBezTo>
                  <a:pt x="840" y="1488"/>
                  <a:pt x="800" y="1504"/>
                  <a:pt x="720" y="1488"/>
                </a:cubicBezTo>
                <a:cubicBezTo>
                  <a:pt x="640" y="1472"/>
                  <a:pt x="520" y="1432"/>
                  <a:pt x="432" y="1392"/>
                </a:cubicBezTo>
                <a:close/>
              </a:path>
            </a:pathLst>
          </a:cu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128" name="Picture 8" descr="C:\Documents and Settings\dthost\My Documents\My Pictures\heard island\above_heard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905000"/>
            <a:ext cx="4775200" cy="4775200"/>
          </a:xfrm>
          <a:prstGeom prst="rect">
            <a:avLst/>
          </a:prstGeom>
          <a:noFill/>
          <a:extLst>
            <a:ext uri="{909E8E84-426E-40DD-AFC4-6F175D3DCCD1}">
              <a14:hiddenFill xmlns:a14="http://schemas.microsoft.com/office/drawing/2010/main">
                <a:solidFill>
                  <a:srgbClr val="FFFFFF"/>
                </a:solidFill>
              </a14:hiddenFill>
            </a:ext>
          </a:extLst>
        </p:spPr>
      </p:pic>
      <p:grpSp>
        <p:nvGrpSpPr>
          <p:cNvPr id="5135" name="Group 15"/>
          <p:cNvGrpSpPr>
            <a:grpSpLocks/>
          </p:cNvGrpSpPr>
          <p:nvPr/>
        </p:nvGrpSpPr>
        <p:grpSpPr bwMode="auto">
          <a:xfrm>
            <a:off x="4556125" y="3657600"/>
            <a:ext cx="3063875" cy="1905000"/>
            <a:chOff x="2870" y="2304"/>
            <a:chExt cx="1930" cy="1200"/>
          </a:xfrm>
        </p:grpSpPr>
        <p:sp>
          <p:nvSpPr>
            <p:cNvPr id="5129" name="Line 9"/>
            <p:cNvSpPr>
              <a:spLocks noChangeShapeType="1"/>
            </p:cNvSpPr>
            <p:nvPr/>
          </p:nvSpPr>
          <p:spPr bwMode="auto">
            <a:xfrm flipV="1">
              <a:off x="3456" y="2304"/>
              <a:ext cx="1344" cy="38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0" name="Line 10"/>
            <p:cNvSpPr>
              <a:spLocks noChangeShapeType="1"/>
            </p:cNvSpPr>
            <p:nvPr/>
          </p:nvSpPr>
          <p:spPr bwMode="auto">
            <a:xfrm flipH="1" flipV="1">
              <a:off x="3408" y="2736"/>
              <a:ext cx="48" cy="768"/>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1" name="Line 11"/>
            <p:cNvSpPr>
              <a:spLocks noChangeShapeType="1"/>
            </p:cNvSpPr>
            <p:nvPr/>
          </p:nvSpPr>
          <p:spPr bwMode="auto">
            <a:xfrm>
              <a:off x="3312" y="2544"/>
              <a:ext cx="96" cy="14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132" name="Text Box 12"/>
            <p:cNvSpPr txBox="1">
              <a:spLocks noChangeArrowheads="1"/>
            </p:cNvSpPr>
            <p:nvPr/>
          </p:nvSpPr>
          <p:spPr bwMode="auto">
            <a:xfrm>
              <a:off x="4022" y="242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4122</a:t>
              </a:r>
            </a:p>
          </p:txBody>
        </p:sp>
        <p:sp>
          <p:nvSpPr>
            <p:cNvPr id="5133" name="Text Box 13"/>
            <p:cNvSpPr txBox="1">
              <a:spLocks noChangeArrowheads="1"/>
            </p:cNvSpPr>
            <p:nvPr/>
          </p:nvSpPr>
          <p:spPr bwMode="auto">
            <a:xfrm>
              <a:off x="3494" y="290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1751</a:t>
              </a:r>
            </a:p>
          </p:txBody>
        </p:sp>
        <p:sp>
          <p:nvSpPr>
            <p:cNvPr id="5134" name="Text Box 14"/>
            <p:cNvSpPr txBox="1">
              <a:spLocks noChangeArrowheads="1"/>
            </p:cNvSpPr>
            <p:nvPr/>
          </p:nvSpPr>
          <p:spPr bwMode="auto">
            <a:xfrm>
              <a:off x="2870" y="242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463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1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125"/>
                                        </p:tgtEl>
                                        <p:attrNameLst>
                                          <p:attrName>style.visibility</p:attrName>
                                        </p:attrNameLst>
                                      </p:cBhvr>
                                      <p:to>
                                        <p:strVal val="visible"/>
                                      </p:to>
                                    </p:set>
                                  </p:childTnLst>
                                  <p:subTnLst>
                                    <p:set>
                                      <p:cBhvr override="childStyle">
                                        <p:cTn dur="1" fill="hold" display="0" masterRel="nextClick" afterEffect="1"/>
                                        <p:tgtEl>
                                          <p:spTgt spid="512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12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128"/>
                                        </p:tgtEl>
                                        <p:attrNameLst>
                                          <p:attrName>style.visibility</p:attrName>
                                        </p:attrNameLst>
                                      </p:cBhvr>
                                      <p:to>
                                        <p:strVal val="visible"/>
                                      </p:to>
                                    </p:set>
                                    <p:animEffect transition="in" filter="dissolve">
                                      <p:cBhvr>
                                        <p:cTn id="31" dur="500"/>
                                        <p:tgtEl>
                                          <p:spTgt spid="51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Heard Island 2000</a:t>
            </a:r>
          </a:p>
        </p:txBody>
      </p:sp>
      <p:sp>
        <p:nvSpPr>
          <p:cNvPr id="6147" name="Rectangle 3"/>
          <p:cNvSpPr>
            <a:spLocks noGrp="1" noChangeArrowheads="1"/>
          </p:cNvSpPr>
          <p:nvPr>
            <p:ph type="body" idx="1"/>
          </p:nvPr>
        </p:nvSpPr>
        <p:spPr/>
        <p:txBody>
          <a:bodyPr/>
          <a:lstStyle/>
          <a:p>
            <a:r>
              <a:rPr lang="en-US" altLang="en-US"/>
              <a:t>Location</a:t>
            </a:r>
          </a:p>
          <a:p>
            <a:endParaRPr lang="en-US" altLang="en-US"/>
          </a:p>
        </p:txBody>
      </p:sp>
      <p:pic>
        <p:nvPicPr>
          <p:cNvPr id="6150" name="Picture 6" descr="C:\Eudora\Attach\heard_island.gif"/>
          <p:cNvPicPr>
            <a:picLocks noChangeAspect="1" noChangeArrowheads="1"/>
          </p:cNvPicPr>
          <p:nvPr/>
        </p:nvPicPr>
        <p:blipFill>
          <a:blip r:embed="rId2">
            <a:extLst>
              <a:ext uri="{28A0092B-C50C-407E-A947-70E740481C1C}">
                <a14:useLocalDpi xmlns:a14="http://schemas.microsoft.com/office/drawing/2010/main" val="0"/>
              </a:ext>
            </a:extLst>
          </a:blip>
          <a:srcRect t="7668"/>
          <a:stretch>
            <a:fillRect/>
          </a:stretch>
        </p:blipFill>
        <p:spPr bwMode="auto">
          <a:xfrm>
            <a:off x="3505200" y="2209800"/>
            <a:ext cx="4667250" cy="3670300"/>
          </a:xfrm>
          <a:prstGeom prst="rect">
            <a:avLst/>
          </a:prstGeom>
          <a:noFill/>
          <a:extLst>
            <a:ext uri="{909E8E84-426E-40DD-AFC4-6F175D3DCCD1}">
              <a14:hiddenFill xmlns:a14="http://schemas.microsoft.com/office/drawing/2010/main">
                <a:solidFill>
                  <a:srgbClr val="FFFFFF"/>
                </a:solidFill>
              </a14:hiddenFill>
            </a:ext>
          </a:extLst>
        </p:spPr>
      </p:pic>
      <p:sp>
        <p:nvSpPr>
          <p:cNvPr id="6152" name="Oval 8"/>
          <p:cNvSpPr>
            <a:spLocks noChangeArrowheads="1"/>
          </p:cNvSpPr>
          <p:nvPr/>
        </p:nvSpPr>
        <p:spPr bwMode="auto">
          <a:xfrm>
            <a:off x="6172200" y="3733800"/>
            <a:ext cx="533400" cy="381000"/>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nvGrpSpPr>
          <p:cNvPr id="6160" name="Group 16"/>
          <p:cNvGrpSpPr>
            <a:grpSpLocks/>
          </p:cNvGrpSpPr>
          <p:nvPr/>
        </p:nvGrpSpPr>
        <p:grpSpPr bwMode="auto">
          <a:xfrm>
            <a:off x="3833813" y="3927475"/>
            <a:ext cx="1890712" cy="1571625"/>
            <a:chOff x="2415" y="2474"/>
            <a:chExt cx="1191" cy="990"/>
          </a:xfrm>
        </p:grpSpPr>
        <p:sp>
          <p:nvSpPr>
            <p:cNvPr id="6153" name="Line 9"/>
            <p:cNvSpPr>
              <a:spLocks noChangeShapeType="1"/>
            </p:cNvSpPr>
            <p:nvPr/>
          </p:nvSpPr>
          <p:spPr bwMode="auto">
            <a:xfrm flipV="1">
              <a:off x="2415" y="2474"/>
              <a:ext cx="724" cy="465"/>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54" name="Line 10"/>
            <p:cNvSpPr>
              <a:spLocks noChangeShapeType="1"/>
            </p:cNvSpPr>
            <p:nvPr/>
          </p:nvSpPr>
          <p:spPr bwMode="auto">
            <a:xfrm flipV="1">
              <a:off x="2416" y="2686"/>
              <a:ext cx="724" cy="465"/>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55" name="Line 11"/>
            <p:cNvSpPr>
              <a:spLocks noChangeShapeType="1"/>
            </p:cNvSpPr>
            <p:nvPr/>
          </p:nvSpPr>
          <p:spPr bwMode="auto">
            <a:xfrm flipV="1">
              <a:off x="2612" y="2882"/>
              <a:ext cx="724" cy="465"/>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6156" name="Line 12"/>
            <p:cNvSpPr>
              <a:spLocks noChangeShapeType="1"/>
            </p:cNvSpPr>
            <p:nvPr/>
          </p:nvSpPr>
          <p:spPr bwMode="auto">
            <a:xfrm flipV="1">
              <a:off x="2882" y="2999"/>
              <a:ext cx="724" cy="465"/>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grpSp>
        <p:nvGrpSpPr>
          <p:cNvPr id="6159" name="Group 15"/>
          <p:cNvGrpSpPr>
            <a:grpSpLocks/>
          </p:cNvGrpSpPr>
          <p:nvPr/>
        </p:nvGrpSpPr>
        <p:grpSpPr bwMode="auto">
          <a:xfrm>
            <a:off x="4556125" y="3116263"/>
            <a:ext cx="2771775" cy="1336675"/>
            <a:chOff x="2870" y="1963"/>
            <a:chExt cx="1746" cy="842"/>
          </a:xfrm>
        </p:grpSpPr>
        <p:sp>
          <p:nvSpPr>
            <p:cNvPr id="6157" name="Oval 13"/>
            <p:cNvSpPr>
              <a:spLocks noChangeArrowheads="1"/>
            </p:cNvSpPr>
            <p:nvPr/>
          </p:nvSpPr>
          <p:spPr bwMode="auto">
            <a:xfrm>
              <a:off x="4280" y="2565"/>
              <a:ext cx="336" cy="240"/>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6158" name="Oval 14"/>
            <p:cNvSpPr>
              <a:spLocks noChangeArrowheads="1"/>
            </p:cNvSpPr>
            <p:nvPr/>
          </p:nvSpPr>
          <p:spPr bwMode="auto">
            <a:xfrm>
              <a:off x="2870" y="1963"/>
              <a:ext cx="336" cy="240"/>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Eudora\Attach\HI47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8686800" cy="4246563"/>
          </a:xfrm>
          <a:prstGeom prst="rect">
            <a:avLst/>
          </a:prstGeom>
          <a:noFill/>
          <a:extLst>
            <a:ext uri="{909E8E84-426E-40DD-AFC4-6F175D3DCCD1}">
              <a14:hiddenFill xmlns:a14="http://schemas.microsoft.com/office/drawing/2010/main">
                <a:solidFill>
                  <a:srgbClr val="FFFFFF"/>
                </a:solidFill>
              </a14:hiddenFill>
            </a:ext>
          </a:extLst>
        </p:spPr>
      </p:pic>
      <p:sp>
        <p:nvSpPr>
          <p:cNvPr id="8195" name="Text Box 3"/>
          <p:cNvSpPr txBox="1">
            <a:spLocks noChangeArrowheads="1"/>
          </p:cNvSpPr>
          <p:nvPr/>
        </p:nvSpPr>
        <p:spPr bwMode="auto">
          <a:xfrm>
            <a:off x="381000" y="46482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1947</a:t>
            </a:r>
          </a:p>
        </p:txBody>
      </p:sp>
      <p:sp>
        <p:nvSpPr>
          <p:cNvPr id="8196" name="Text Box 4"/>
          <p:cNvSpPr txBox="1">
            <a:spLocks noChangeArrowheads="1"/>
          </p:cNvSpPr>
          <p:nvPr/>
        </p:nvSpPr>
        <p:spPr bwMode="auto">
          <a:xfrm>
            <a:off x="6096000" y="3733800"/>
            <a:ext cx="161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Brown Glacier</a:t>
            </a:r>
            <a:endParaRPr lang="en-US" altLang="en-US"/>
          </a:p>
        </p:txBody>
      </p:sp>
      <p:sp>
        <p:nvSpPr>
          <p:cNvPr id="8197" name="Text Box 5"/>
          <p:cNvSpPr txBox="1">
            <a:spLocks noChangeArrowheads="1"/>
          </p:cNvSpPr>
          <p:nvPr/>
        </p:nvSpPr>
        <p:spPr bwMode="auto">
          <a:xfrm>
            <a:off x="3048000" y="3048000"/>
            <a:ext cx="1276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Scarlet Hill</a:t>
            </a:r>
            <a:endParaRPr lang="en-US" altLang="en-US"/>
          </a:p>
        </p:txBody>
      </p:sp>
      <p:sp>
        <p:nvSpPr>
          <p:cNvPr id="8198" name="Text Box 6"/>
          <p:cNvSpPr txBox="1">
            <a:spLocks noChangeArrowheads="1"/>
          </p:cNvSpPr>
          <p:nvPr/>
        </p:nvSpPr>
        <p:spPr bwMode="auto">
          <a:xfrm>
            <a:off x="1981200" y="4267200"/>
            <a:ext cx="1416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CC6600"/>
                </a:solidFill>
                <a:latin typeface="Arial" panose="020B0604020202020204" pitchFamily="34" charset="0"/>
              </a:rPr>
              <a:t>Skua Beach</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5602" name="Picture 2" descr="C:\Documents and Settings\dthost\My Documents\My Pictures\HI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8" y="617538"/>
            <a:ext cx="8696325" cy="5640387"/>
          </a:xfrm>
          <a:prstGeom prst="rect">
            <a:avLst/>
          </a:prstGeom>
          <a:noFill/>
          <a:extLst>
            <a:ext uri="{909E8E84-426E-40DD-AFC4-6F175D3DCCD1}">
              <a14:hiddenFill xmlns:a14="http://schemas.microsoft.com/office/drawing/2010/main">
                <a:solidFill>
                  <a:srgbClr val="FFFFFF"/>
                </a:solidFill>
              </a14:hiddenFill>
            </a:ext>
          </a:extLst>
        </p:spPr>
      </p:pic>
      <p:sp>
        <p:nvSpPr>
          <p:cNvPr id="25603" name="Text Box 3"/>
          <p:cNvSpPr txBox="1">
            <a:spLocks noChangeArrowheads="1"/>
          </p:cNvSpPr>
          <p:nvPr/>
        </p:nvSpPr>
        <p:spPr bwMode="auto">
          <a:xfrm>
            <a:off x="139700" y="6221413"/>
            <a:ext cx="1663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November 2000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Eudora\Attach\HI47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
            <a:ext cx="7772400" cy="6332538"/>
          </a:xfrm>
          <a:prstGeom prst="rect">
            <a:avLst/>
          </a:prstGeom>
          <a:noFill/>
          <a:extLst>
            <a:ext uri="{909E8E84-426E-40DD-AFC4-6F175D3DCCD1}">
              <a14:hiddenFill xmlns:a14="http://schemas.microsoft.com/office/drawing/2010/main">
                <a:solidFill>
                  <a:srgbClr val="FFFFFF"/>
                </a:solidFill>
              </a14:hiddenFill>
            </a:ext>
          </a:extLst>
        </p:spPr>
      </p:pic>
      <p:sp>
        <p:nvSpPr>
          <p:cNvPr id="11267" name="Text Box 3"/>
          <p:cNvSpPr txBox="1">
            <a:spLocks noChangeArrowheads="1"/>
          </p:cNvSpPr>
          <p:nvPr/>
        </p:nvSpPr>
        <p:spPr bwMode="auto">
          <a:xfrm>
            <a:off x="914400" y="59436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1947</a:t>
            </a:r>
          </a:p>
        </p:txBody>
      </p:sp>
      <p:grpSp>
        <p:nvGrpSpPr>
          <p:cNvPr id="11270" name="Group 6"/>
          <p:cNvGrpSpPr>
            <a:grpSpLocks/>
          </p:cNvGrpSpPr>
          <p:nvPr/>
        </p:nvGrpSpPr>
        <p:grpSpPr bwMode="auto">
          <a:xfrm>
            <a:off x="4343400" y="3048000"/>
            <a:ext cx="2057400" cy="838200"/>
            <a:chOff x="2736" y="1920"/>
            <a:chExt cx="1296" cy="528"/>
          </a:xfrm>
        </p:grpSpPr>
        <p:sp>
          <p:nvSpPr>
            <p:cNvPr id="11268" name="Oval 4"/>
            <p:cNvSpPr>
              <a:spLocks noChangeArrowheads="1"/>
            </p:cNvSpPr>
            <p:nvPr/>
          </p:nvSpPr>
          <p:spPr bwMode="auto">
            <a:xfrm>
              <a:off x="3312" y="2160"/>
              <a:ext cx="720" cy="288"/>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1269" name="Oval 5"/>
            <p:cNvSpPr>
              <a:spLocks noChangeArrowheads="1"/>
            </p:cNvSpPr>
            <p:nvPr/>
          </p:nvSpPr>
          <p:spPr bwMode="auto">
            <a:xfrm>
              <a:off x="2736" y="1920"/>
              <a:ext cx="432" cy="144"/>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2771" name="Picture 3" descr="C:\Documents and Settings\dthost\My Documents\My Pictures\HI_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619125"/>
            <a:ext cx="8702675" cy="5729288"/>
          </a:xfrm>
          <a:prstGeom prst="rect">
            <a:avLst/>
          </a:prstGeom>
          <a:noFill/>
          <a:extLst>
            <a:ext uri="{909E8E84-426E-40DD-AFC4-6F175D3DCCD1}">
              <a14:hiddenFill xmlns:a14="http://schemas.microsoft.com/office/drawing/2010/main">
                <a:solidFill>
                  <a:srgbClr val="FFFFFF"/>
                </a:solidFill>
              </a14:hiddenFill>
            </a:ext>
          </a:extLst>
        </p:spPr>
      </p:pic>
      <p:sp>
        <p:nvSpPr>
          <p:cNvPr id="32772" name="Text Box 4"/>
          <p:cNvSpPr txBox="1">
            <a:spLocks noChangeArrowheads="1"/>
          </p:cNvSpPr>
          <p:nvPr/>
        </p:nvSpPr>
        <p:spPr bwMode="auto">
          <a:xfrm>
            <a:off x="234950" y="6316663"/>
            <a:ext cx="1663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November 2000</a:t>
            </a:r>
          </a:p>
        </p:txBody>
      </p:sp>
      <p:grpSp>
        <p:nvGrpSpPr>
          <p:cNvPr id="32776" name="Group 8"/>
          <p:cNvGrpSpPr>
            <a:grpSpLocks/>
          </p:cNvGrpSpPr>
          <p:nvPr/>
        </p:nvGrpSpPr>
        <p:grpSpPr bwMode="auto">
          <a:xfrm>
            <a:off x="3468688" y="3270250"/>
            <a:ext cx="4484687" cy="1182688"/>
            <a:chOff x="2185" y="2060"/>
            <a:chExt cx="2825" cy="745"/>
          </a:xfrm>
        </p:grpSpPr>
        <p:sp>
          <p:nvSpPr>
            <p:cNvPr id="32774" name="Oval 6"/>
            <p:cNvSpPr>
              <a:spLocks noChangeArrowheads="1"/>
            </p:cNvSpPr>
            <p:nvPr/>
          </p:nvSpPr>
          <p:spPr bwMode="auto">
            <a:xfrm>
              <a:off x="3552" y="2301"/>
              <a:ext cx="1458" cy="504"/>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2775" name="Oval 7"/>
            <p:cNvSpPr>
              <a:spLocks noChangeArrowheads="1"/>
            </p:cNvSpPr>
            <p:nvPr/>
          </p:nvSpPr>
          <p:spPr bwMode="auto">
            <a:xfrm>
              <a:off x="2185" y="2060"/>
              <a:ext cx="602" cy="226"/>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nvGrpSpPr>
          <p:cNvPr id="32788" name="Group 20"/>
          <p:cNvGrpSpPr>
            <a:grpSpLocks/>
          </p:cNvGrpSpPr>
          <p:nvPr/>
        </p:nvGrpSpPr>
        <p:grpSpPr bwMode="auto">
          <a:xfrm>
            <a:off x="3848100" y="2670175"/>
            <a:ext cx="1797050" cy="2005013"/>
            <a:chOff x="2424" y="1682"/>
            <a:chExt cx="1132" cy="1263"/>
          </a:xfrm>
        </p:grpSpPr>
        <p:sp>
          <p:nvSpPr>
            <p:cNvPr id="32778" name="Text Box 10"/>
            <p:cNvSpPr txBox="1">
              <a:spLocks noChangeArrowheads="1"/>
            </p:cNvSpPr>
            <p:nvPr/>
          </p:nvSpPr>
          <p:spPr bwMode="auto">
            <a:xfrm>
              <a:off x="2466" y="175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32787" name="Group 19"/>
            <p:cNvGrpSpPr>
              <a:grpSpLocks/>
            </p:cNvGrpSpPr>
            <p:nvPr/>
          </p:nvGrpSpPr>
          <p:grpSpPr bwMode="auto">
            <a:xfrm>
              <a:off x="2424" y="1682"/>
              <a:ext cx="1132" cy="1263"/>
              <a:chOff x="2424" y="1682"/>
              <a:chExt cx="1132" cy="1263"/>
            </a:xfrm>
          </p:grpSpPr>
          <p:sp>
            <p:nvSpPr>
              <p:cNvPr id="32777" name="Text Box 9"/>
              <p:cNvSpPr txBox="1">
                <a:spLocks noChangeArrowheads="1"/>
              </p:cNvSpPr>
              <p:nvPr/>
            </p:nvSpPr>
            <p:spPr bwMode="auto">
              <a:xfrm>
                <a:off x="2424" y="1682"/>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BG05</a:t>
                </a:r>
                <a:endParaRPr lang="en-US" altLang="en-US"/>
              </a:p>
            </p:txBody>
          </p:sp>
          <p:sp>
            <p:nvSpPr>
              <p:cNvPr id="32779" name="Text Box 11"/>
              <p:cNvSpPr txBox="1">
                <a:spLocks noChangeArrowheads="1"/>
              </p:cNvSpPr>
              <p:nvPr/>
            </p:nvSpPr>
            <p:spPr bwMode="auto">
              <a:xfrm>
                <a:off x="2520" y="181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0" name="Text Box 12"/>
              <p:cNvSpPr txBox="1">
                <a:spLocks noChangeArrowheads="1"/>
              </p:cNvSpPr>
              <p:nvPr/>
            </p:nvSpPr>
            <p:spPr bwMode="auto">
              <a:xfrm>
                <a:off x="2647" y="192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1" name="Text Box 13"/>
              <p:cNvSpPr txBox="1">
                <a:spLocks noChangeArrowheads="1"/>
              </p:cNvSpPr>
              <p:nvPr/>
            </p:nvSpPr>
            <p:spPr bwMode="auto">
              <a:xfrm>
                <a:off x="2696" y="1983"/>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2" name="Text Box 14"/>
              <p:cNvSpPr txBox="1">
                <a:spLocks noChangeArrowheads="1"/>
              </p:cNvSpPr>
              <p:nvPr/>
            </p:nvSpPr>
            <p:spPr bwMode="auto">
              <a:xfrm>
                <a:off x="2576" y="186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3" name="Text Box 15"/>
              <p:cNvSpPr txBox="1">
                <a:spLocks noChangeArrowheads="1"/>
              </p:cNvSpPr>
              <p:nvPr/>
            </p:nvSpPr>
            <p:spPr bwMode="auto">
              <a:xfrm>
                <a:off x="2707" y="2047"/>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BG35</a:t>
                </a:r>
              </a:p>
            </p:txBody>
          </p:sp>
          <p:sp>
            <p:nvSpPr>
              <p:cNvPr id="32784" name="Text Box 16"/>
              <p:cNvSpPr txBox="1">
                <a:spLocks noChangeArrowheads="1"/>
              </p:cNvSpPr>
              <p:nvPr/>
            </p:nvSpPr>
            <p:spPr bwMode="auto">
              <a:xfrm>
                <a:off x="2694" y="2167"/>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5" name="Text Box 17"/>
              <p:cNvSpPr txBox="1">
                <a:spLocks noChangeArrowheads="1"/>
              </p:cNvSpPr>
              <p:nvPr/>
            </p:nvSpPr>
            <p:spPr bwMode="auto">
              <a:xfrm>
                <a:off x="2820" y="2335"/>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32786" name="Text Box 18"/>
              <p:cNvSpPr txBox="1">
                <a:spLocks noChangeArrowheads="1"/>
              </p:cNvSpPr>
              <p:nvPr/>
            </p:nvSpPr>
            <p:spPr bwMode="auto">
              <a:xfrm>
                <a:off x="2972" y="2657"/>
                <a:ext cx="5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 </a:t>
                </a:r>
                <a:r>
                  <a:rPr lang="en-US" altLang="en-US" sz="1600">
                    <a:solidFill>
                      <a:srgbClr val="000000"/>
                    </a:solidFill>
                    <a:latin typeface="Arial" panose="020B0604020202020204" pitchFamily="34" charset="0"/>
                    <a:sym typeface="Wingdings 3" panose="05040102010807070707" pitchFamily="18" charset="2"/>
                  </a:rPr>
                  <a:t>BG50</a:t>
                </a:r>
              </a:p>
            </p:txBody>
          </p:sp>
        </p:grpSp>
      </p:grpSp>
      <p:sp>
        <p:nvSpPr>
          <p:cNvPr id="32789" name="Text Box 21"/>
          <p:cNvSpPr txBox="1">
            <a:spLocks noChangeArrowheads="1"/>
          </p:cNvSpPr>
          <p:nvPr/>
        </p:nvSpPr>
        <p:spPr bwMode="auto">
          <a:xfrm>
            <a:off x="1909763" y="3070225"/>
            <a:ext cx="1312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r>
              <a:rPr lang="en-US" altLang="en-US" sz="1600">
                <a:solidFill>
                  <a:srgbClr val="000000"/>
                </a:solidFill>
                <a:latin typeface="Arial" panose="020B0604020202020204" pitchFamily="34" charset="0"/>
                <a:sym typeface="Wingdings 3" panose="05040102010807070707" pitchFamily="18" charset="2"/>
              </a:rPr>
              <a:t>Rock AWS</a:t>
            </a:r>
            <a:endParaRPr lang="en-US" altLang="en-US">
              <a:solidFill>
                <a:srgbClr val="CC6600"/>
              </a:solidFill>
              <a:sym typeface="Wingdings 3" panose="050401020108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2776"/>
                                        </p:tgtEl>
                                        <p:attrNameLst>
                                          <p:attrName>style.visibility</p:attrName>
                                        </p:attrNameLst>
                                      </p:cBhvr>
                                      <p:to>
                                        <p:strVal val="visible"/>
                                      </p:to>
                                    </p:set>
                                  </p:childTnLst>
                                  <p:subTnLst>
                                    <p:set>
                                      <p:cBhvr override="childStyle">
                                        <p:cTn dur="1" fill="hold" display="0" masterRel="nextClick" afterEffect="1"/>
                                        <p:tgtEl>
                                          <p:spTgt spid="32776"/>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27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6387" name="Picture 3" descr="C:\Documents and Settings\dthost\My Documents\My Pictures\HI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8" y="538163"/>
            <a:ext cx="8739187" cy="57769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8674" name="Picture 2" descr="C:\Documents and Settings\dthost\My Documents\My Pictures\HI_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8" y="623888"/>
            <a:ext cx="8582025" cy="56499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9698" name="Picture 2" descr="C:\Documents and Settings\dthost\My Documents\My Pictures\HI_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617538"/>
            <a:ext cx="8683625" cy="56816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7650" name="Picture 2" descr="C:\Documents and Settings\dthost\My Documents\My Pictures\HI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569913"/>
            <a:ext cx="8693150" cy="5773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3794" name="Picture 2" descr="C:\Documents and Settings\dthost\My Documents\My Pictures\HI_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581025"/>
            <a:ext cx="8686800" cy="5719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4579" name="Picture 3" descr="C:\Documents and Settings\dthost\My Documents\My Pictures\HI_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584200"/>
            <a:ext cx="8632825" cy="56880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0722" name="Picture 2" descr="C:\Documents and Settings\dthost\My Documents\My Pictures\HI_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0475" y="177800"/>
            <a:ext cx="4081463" cy="6500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0" name="Object 4"/>
          <p:cNvGraphicFramePr>
            <a:graphicFrameLocks noChangeAspect="1"/>
          </p:cNvGraphicFramePr>
          <p:nvPr/>
        </p:nvGraphicFramePr>
        <p:xfrm>
          <a:off x="152400" y="887413"/>
          <a:ext cx="8763000" cy="5038725"/>
        </p:xfrm>
        <a:graphic>
          <a:graphicData uri="http://schemas.openxmlformats.org/presentationml/2006/ole">
            <mc:AlternateContent xmlns:mc="http://schemas.openxmlformats.org/markup-compatibility/2006">
              <mc:Choice xmlns:v="urn:schemas-microsoft-com:vml" Requires="v">
                <p:oleObj spid="_x0000_s14341" name="Chart" r:id="rId3" imgW="9532925" imgH="5479247" progId="Excel.Chart.8">
                  <p:embed/>
                </p:oleObj>
              </mc:Choice>
              <mc:Fallback>
                <p:oleObj name="Chart" r:id="rId3" imgW="9532925" imgH="5479247"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887413"/>
                        <a:ext cx="8763000"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4" name="Object 6"/>
          <p:cNvGraphicFramePr>
            <a:graphicFrameLocks noChangeAspect="1"/>
          </p:cNvGraphicFramePr>
          <p:nvPr/>
        </p:nvGraphicFramePr>
        <p:xfrm>
          <a:off x="182563" y="620713"/>
          <a:ext cx="8780462" cy="5616575"/>
        </p:xfrm>
        <a:graphic>
          <a:graphicData uri="http://schemas.openxmlformats.org/presentationml/2006/ole">
            <mc:AlternateContent xmlns:mc="http://schemas.openxmlformats.org/markup-compatibility/2006">
              <mc:Choice xmlns:v="urn:schemas-microsoft-com:vml" Requires="v">
                <p:oleObj spid="_x0000_s12295" name="Chart" r:id="rId3" imgW="8778545" imgH="5616123" progId="Excel.Chart.8">
                  <p:embed/>
                </p:oleObj>
              </mc:Choice>
              <mc:Fallback>
                <p:oleObj name="Chart" r:id="rId3" imgW="8778545" imgH="5616123" progId="Excel.Char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63" y="620713"/>
                        <a:ext cx="8780462"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304800" y="1066800"/>
            <a:ext cx="8610600" cy="4800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15362" name="Object 2"/>
          <p:cNvGraphicFramePr>
            <a:graphicFrameLocks noChangeAspect="1"/>
          </p:cNvGraphicFramePr>
          <p:nvPr/>
        </p:nvGraphicFramePr>
        <p:xfrm>
          <a:off x="228600" y="976313"/>
          <a:ext cx="8763000" cy="4948237"/>
        </p:xfrm>
        <a:graphic>
          <a:graphicData uri="http://schemas.openxmlformats.org/presentationml/2006/ole">
            <mc:AlternateContent xmlns:mc="http://schemas.openxmlformats.org/markup-compatibility/2006">
              <mc:Choice xmlns:v="urn:schemas-microsoft-com:vml" Requires="v">
                <p:oleObj spid="_x0000_s15365" name="Chart" r:id="rId3" imgW="9548165" imgH="5387564" progId="Excel.Chart.8">
                  <p:embed/>
                </p:oleObj>
              </mc:Choice>
              <mc:Fallback>
                <p:oleObj name="Chart" r:id="rId3" imgW="9548165" imgH="5387564"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976313"/>
                        <a:ext cx="8763000" cy="494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04800" y="1066800"/>
            <a:ext cx="8610600" cy="4800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21508" name="Object 4"/>
          <p:cNvGraphicFramePr>
            <a:graphicFrameLocks noChangeAspect="1"/>
          </p:cNvGraphicFramePr>
          <p:nvPr/>
        </p:nvGraphicFramePr>
        <p:xfrm>
          <a:off x="590550" y="1181100"/>
          <a:ext cx="7962900" cy="4495800"/>
        </p:xfrm>
        <a:graphic>
          <a:graphicData uri="http://schemas.openxmlformats.org/presentationml/2006/ole">
            <mc:AlternateContent xmlns:mc="http://schemas.openxmlformats.org/markup-compatibility/2006">
              <mc:Choice xmlns:v="urn:schemas-microsoft-com:vml" Requires="v">
                <p:oleObj spid="_x0000_s21511" name="Chart" r:id="rId3" imgW="9548165" imgH="5387564" progId="Excel.Chart.8">
                  <p:embed/>
                </p:oleObj>
              </mc:Choice>
              <mc:Fallback>
                <p:oleObj name="Chart" r:id="rId3" imgW="9548165" imgH="5387564"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1181100"/>
                        <a:ext cx="79629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9" name="Oval 5"/>
          <p:cNvSpPr>
            <a:spLocks noChangeArrowheads="1"/>
          </p:cNvSpPr>
          <p:nvPr/>
        </p:nvSpPr>
        <p:spPr bwMode="auto">
          <a:xfrm>
            <a:off x="1581150" y="3513138"/>
            <a:ext cx="947738" cy="91122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1510" name="Oval 6"/>
          <p:cNvSpPr>
            <a:spLocks noChangeArrowheads="1"/>
          </p:cNvSpPr>
          <p:nvPr/>
        </p:nvSpPr>
        <p:spPr bwMode="auto">
          <a:xfrm>
            <a:off x="6592888" y="3116263"/>
            <a:ext cx="947737" cy="911225"/>
          </a:xfrm>
          <a:prstGeom prst="ellipse">
            <a:avLst/>
          </a:prstGeom>
          <a:noFill/>
          <a:ln w="254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509"/>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1000"/>
                                  </p:stCondLst>
                                  <p:childTnLst>
                                    <p:set>
                                      <p:cBhvr>
                                        <p:cTn id="9" dur="1" fill="hold">
                                          <p:stCondLst>
                                            <p:cond delay="499"/>
                                          </p:stCondLst>
                                        </p:cTn>
                                        <p:tgtEl>
                                          <p:spTgt spid="2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304800" y="784225"/>
          <a:ext cx="8534400" cy="5287963"/>
        </p:xfrm>
        <a:graphic>
          <a:graphicData uri="http://schemas.openxmlformats.org/presentationml/2006/ole">
            <mc:AlternateContent xmlns:mc="http://schemas.openxmlformats.org/markup-compatibility/2006">
              <mc:Choice xmlns:v="urn:schemas-microsoft-com:vml" Requires="v">
                <p:oleObj spid="_x0000_s20500" name="Chart" r:id="rId3" imgW="6271565" imgH="3886484" progId="Excel.Chart.8">
                  <p:embed/>
                </p:oleObj>
              </mc:Choice>
              <mc:Fallback>
                <p:oleObj name="Chart" r:id="rId3" imgW="6271565" imgH="3886484"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784225"/>
                        <a:ext cx="8534400" cy="52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499" name="Group 19"/>
          <p:cNvGrpSpPr>
            <a:grpSpLocks/>
          </p:cNvGrpSpPr>
          <p:nvPr/>
        </p:nvGrpSpPr>
        <p:grpSpPr bwMode="auto">
          <a:xfrm>
            <a:off x="1077913" y="2200275"/>
            <a:ext cx="7386637" cy="2154238"/>
            <a:chOff x="679" y="1386"/>
            <a:chExt cx="4653" cy="1357"/>
          </a:xfrm>
        </p:grpSpPr>
        <p:sp>
          <p:nvSpPr>
            <p:cNvPr id="20484" name="Line 4"/>
            <p:cNvSpPr>
              <a:spLocks noChangeShapeType="1"/>
            </p:cNvSpPr>
            <p:nvPr/>
          </p:nvSpPr>
          <p:spPr bwMode="auto">
            <a:xfrm flipV="1">
              <a:off x="679" y="1481"/>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88" name="Line 8"/>
            <p:cNvSpPr>
              <a:spLocks noChangeShapeType="1"/>
            </p:cNvSpPr>
            <p:nvPr/>
          </p:nvSpPr>
          <p:spPr bwMode="auto">
            <a:xfrm flipV="1">
              <a:off x="1100" y="1386"/>
              <a:ext cx="0" cy="217"/>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89" name="Line 9"/>
            <p:cNvSpPr>
              <a:spLocks noChangeShapeType="1"/>
            </p:cNvSpPr>
            <p:nvPr/>
          </p:nvSpPr>
          <p:spPr bwMode="auto">
            <a:xfrm flipV="1">
              <a:off x="1529" y="1400"/>
              <a:ext cx="0" cy="299"/>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0" name="Line 10"/>
            <p:cNvSpPr>
              <a:spLocks noChangeShapeType="1"/>
            </p:cNvSpPr>
            <p:nvPr/>
          </p:nvSpPr>
          <p:spPr bwMode="auto">
            <a:xfrm flipV="1">
              <a:off x="1941" y="1572"/>
              <a:ext cx="0" cy="252"/>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1" name="Line 11"/>
            <p:cNvSpPr>
              <a:spLocks noChangeShapeType="1"/>
            </p:cNvSpPr>
            <p:nvPr/>
          </p:nvSpPr>
          <p:spPr bwMode="auto">
            <a:xfrm flipV="1">
              <a:off x="2371" y="1862"/>
              <a:ext cx="0" cy="246"/>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2" name="Line 12"/>
            <p:cNvSpPr>
              <a:spLocks noChangeShapeType="1"/>
            </p:cNvSpPr>
            <p:nvPr/>
          </p:nvSpPr>
          <p:spPr bwMode="auto">
            <a:xfrm flipV="1">
              <a:off x="2794" y="2215"/>
              <a:ext cx="0" cy="316"/>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3" name="Line 13"/>
            <p:cNvSpPr>
              <a:spLocks noChangeShapeType="1"/>
            </p:cNvSpPr>
            <p:nvPr/>
          </p:nvSpPr>
          <p:spPr bwMode="auto">
            <a:xfrm flipV="1">
              <a:off x="3213" y="2295"/>
              <a:ext cx="0" cy="275"/>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4" name="Line 14"/>
            <p:cNvSpPr>
              <a:spLocks noChangeShapeType="1"/>
            </p:cNvSpPr>
            <p:nvPr/>
          </p:nvSpPr>
          <p:spPr bwMode="auto">
            <a:xfrm flipV="1">
              <a:off x="3642" y="2466"/>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5" name="Line 15"/>
            <p:cNvSpPr>
              <a:spLocks noChangeShapeType="1"/>
            </p:cNvSpPr>
            <p:nvPr/>
          </p:nvSpPr>
          <p:spPr bwMode="auto">
            <a:xfrm flipH="1" flipV="1">
              <a:off x="4066" y="2456"/>
              <a:ext cx="0" cy="287"/>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6" name="Line 16"/>
            <p:cNvSpPr>
              <a:spLocks noChangeShapeType="1"/>
            </p:cNvSpPr>
            <p:nvPr/>
          </p:nvSpPr>
          <p:spPr bwMode="auto">
            <a:xfrm flipV="1">
              <a:off x="4490" y="2207"/>
              <a:ext cx="0" cy="299"/>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7" name="Line 17"/>
            <p:cNvSpPr>
              <a:spLocks noChangeShapeType="1"/>
            </p:cNvSpPr>
            <p:nvPr/>
          </p:nvSpPr>
          <p:spPr bwMode="auto">
            <a:xfrm flipV="1">
              <a:off x="4907" y="2028"/>
              <a:ext cx="0" cy="234"/>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98" name="Line 18"/>
            <p:cNvSpPr>
              <a:spLocks noChangeShapeType="1"/>
            </p:cNvSpPr>
            <p:nvPr/>
          </p:nvSpPr>
          <p:spPr bwMode="auto">
            <a:xfrm flipV="1">
              <a:off x="5332" y="1696"/>
              <a:ext cx="0" cy="170"/>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Object 3"/>
          <p:cNvGraphicFramePr>
            <a:graphicFrameLocks noChangeAspect="1"/>
          </p:cNvGraphicFramePr>
          <p:nvPr/>
        </p:nvGraphicFramePr>
        <p:xfrm>
          <a:off x="609600" y="1177925"/>
          <a:ext cx="7848600" cy="4459288"/>
        </p:xfrm>
        <a:graphic>
          <a:graphicData uri="http://schemas.openxmlformats.org/presentationml/2006/ole">
            <mc:AlternateContent xmlns:mc="http://schemas.openxmlformats.org/markup-compatibility/2006">
              <mc:Choice xmlns:v="urn:schemas-microsoft-com:vml" Requires="v">
                <p:oleObj spid="_x0000_s18439" name="Chart" r:id="rId3" imgW="5890565" imgH="3345485" progId="Excel.Chart.8">
                  <p:embed/>
                </p:oleObj>
              </mc:Choice>
              <mc:Fallback>
                <p:oleObj name="Chart" r:id="rId3" imgW="5890565" imgH="3345485"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177925"/>
                        <a:ext cx="7848600" cy="445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Text Box 4"/>
          <p:cNvSpPr txBox="1">
            <a:spLocks noChangeArrowheads="1"/>
          </p:cNvSpPr>
          <p:nvPr/>
        </p:nvSpPr>
        <p:spPr bwMode="auto">
          <a:xfrm>
            <a:off x="4402138" y="4699000"/>
            <a:ext cx="2725737"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a:effectLst>
                  <a:outerShdw blurRad="38100" dist="38100" dir="2700000" algn="tl">
                    <a:srgbClr val="000000"/>
                  </a:outerShdw>
                </a:effectLst>
              </a:rPr>
              <a:t>August 0.64 ºC/100a</a:t>
            </a:r>
          </a:p>
        </p:txBody>
      </p:sp>
      <p:sp>
        <p:nvSpPr>
          <p:cNvPr id="18437" name="Text Box 5"/>
          <p:cNvSpPr txBox="1">
            <a:spLocks noChangeArrowheads="1"/>
          </p:cNvSpPr>
          <p:nvPr/>
        </p:nvSpPr>
        <p:spPr bwMode="auto">
          <a:xfrm>
            <a:off x="1651000" y="2293938"/>
            <a:ext cx="2640013"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March 2.76 ºC/100a</a:t>
            </a:r>
          </a:p>
        </p:txBody>
      </p:sp>
      <p:sp>
        <p:nvSpPr>
          <p:cNvPr id="18438" name="Text Box 6"/>
          <p:cNvSpPr txBox="1">
            <a:spLocks noChangeArrowheads="1"/>
          </p:cNvSpPr>
          <p:nvPr/>
        </p:nvSpPr>
        <p:spPr bwMode="auto">
          <a:xfrm>
            <a:off x="3365500" y="3430588"/>
            <a:ext cx="2876550" cy="457200"/>
          </a:xfrm>
          <a:prstGeom prst="rect">
            <a:avLst/>
          </a:prstGeom>
          <a:solidFill>
            <a:srgbClr val="CC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Average 1.74 ºC/100a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autoUpdateAnimBg="0"/>
      <p:bldP spid="18437" grpId="0" animBg="1" autoUpdateAnimBg="0"/>
      <p:bldP spid="18438"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2"/>
          <p:cNvGraphicFramePr>
            <a:graphicFrameLocks noChangeAspect="1"/>
          </p:cNvGraphicFramePr>
          <p:nvPr/>
        </p:nvGraphicFramePr>
        <p:xfrm>
          <a:off x="182563" y="620713"/>
          <a:ext cx="8780462" cy="5616575"/>
        </p:xfrm>
        <a:graphic>
          <a:graphicData uri="http://schemas.openxmlformats.org/presentationml/2006/ole">
            <mc:AlternateContent xmlns:mc="http://schemas.openxmlformats.org/markup-compatibility/2006">
              <mc:Choice xmlns:v="urn:schemas-microsoft-com:vml" Requires="v">
                <p:oleObj spid="_x0000_s22539" name="Chart" r:id="rId3" imgW="8778545" imgH="5616123" progId="Excel.Chart.8">
                  <p:embed/>
                </p:oleObj>
              </mc:Choice>
              <mc:Fallback>
                <p:oleObj name="Chart" r:id="rId3" imgW="8778545" imgH="5616123"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63" y="620713"/>
                        <a:ext cx="8780462"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1" name="Rectangle 3"/>
          <p:cNvSpPr>
            <a:spLocks noChangeArrowheads="1"/>
          </p:cNvSpPr>
          <p:nvPr/>
        </p:nvSpPr>
        <p:spPr bwMode="auto">
          <a:xfrm>
            <a:off x="8001000" y="1905000"/>
            <a:ext cx="762000" cy="29718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2535" name="Rectangle 7"/>
          <p:cNvSpPr>
            <a:spLocks noChangeArrowheads="1"/>
          </p:cNvSpPr>
          <p:nvPr/>
        </p:nvSpPr>
        <p:spPr bwMode="auto">
          <a:xfrm>
            <a:off x="8293100" y="2224088"/>
            <a:ext cx="501650" cy="77787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nvGrpSpPr>
          <p:cNvPr id="22538" name="Group 10"/>
          <p:cNvGrpSpPr>
            <a:grpSpLocks/>
          </p:cNvGrpSpPr>
          <p:nvPr/>
        </p:nvGrpSpPr>
        <p:grpSpPr bwMode="auto">
          <a:xfrm>
            <a:off x="3621088" y="2867025"/>
            <a:ext cx="4624387" cy="1138238"/>
            <a:chOff x="2281" y="1806"/>
            <a:chExt cx="2913" cy="717"/>
          </a:xfrm>
        </p:grpSpPr>
        <p:sp>
          <p:nvSpPr>
            <p:cNvPr id="22532" name="Line 4"/>
            <p:cNvSpPr>
              <a:spLocks noChangeShapeType="1"/>
            </p:cNvSpPr>
            <p:nvPr/>
          </p:nvSpPr>
          <p:spPr bwMode="auto">
            <a:xfrm flipV="1">
              <a:off x="5087" y="2020"/>
              <a:ext cx="0" cy="503"/>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2533" name="Text Box 5"/>
            <p:cNvSpPr txBox="1">
              <a:spLocks noChangeArrowheads="1"/>
            </p:cNvSpPr>
            <p:nvPr/>
          </p:nvSpPr>
          <p:spPr bwMode="auto">
            <a:xfrm>
              <a:off x="2281" y="2084"/>
              <a:ext cx="27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solidFill>
                    <a:srgbClr val="CCCC00"/>
                  </a:solidFill>
                  <a:effectLst>
                    <a:outerShdw blurRad="38100" dist="38100" dir="2700000" algn="tl">
                      <a:srgbClr val="000000"/>
                    </a:outerShdw>
                  </a:effectLst>
                </a:rPr>
                <a:t>Lapse rate 0.72 ºC/100 m</a:t>
              </a:r>
              <a:endParaRPr lang="en-US" altLang="en-US" sz="3200">
                <a:effectLst>
                  <a:outerShdw blurRad="38100" dist="38100" dir="2700000" algn="tl">
                    <a:srgbClr val="000000"/>
                  </a:outerShdw>
                </a:effectLst>
              </a:endParaRPr>
            </a:p>
          </p:txBody>
        </p:sp>
        <p:sp>
          <p:nvSpPr>
            <p:cNvPr id="22536" name="Line 8"/>
            <p:cNvSpPr>
              <a:spLocks noChangeShapeType="1"/>
            </p:cNvSpPr>
            <p:nvPr/>
          </p:nvSpPr>
          <p:spPr bwMode="auto">
            <a:xfrm flipV="1">
              <a:off x="5194" y="1806"/>
              <a:ext cx="0" cy="503"/>
            </a:xfrm>
            <a:prstGeom prst="line">
              <a:avLst/>
            </a:prstGeom>
            <a:noFill/>
            <a:ln w="28575">
              <a:solidFill>
                <a:srgbClr val="FFCC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2531"/>
                                        </p:tgtEl>
                                        <p:attrNameLst>
                                          <p:attrName>style.visibility</p:attrName>
                                        </p:attrNameLst>
                                      </p:cBhvr>
                                      <p:to>
                                        <p:strVal val="visible"/>
                                      </p:to>
                                    </p:set>
                                  </p:childTnLst>
                                  <p:subTnLst>
                                    <p:set>
                                      <p:cBhvr override="childStyle">
                                        <p:cTn dur="1" fill="hold" display="0" masterRel="nextClick" afterEffect="1"/>
                                        <p:tgtEl>
                                          <p:spTgt spid="22531"/>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22538"/>
                                        </p:tgtEl>
                                        <p:attrNameLst>
                                          <p:attrName>style.visibility</p:attrName>
                                        </p:attrNameLst>
                                      </p:cBhvr>
                                      <p:to>
                                        <p:strVal val="visible"/>
                                      </p:to>
                                    </p:set>
                                    <p:anim calcmode="lin" valueType="num">
                                      <p:cBhvr additive="base">
                                        <p:cTn id="11" dur="500" fill="hold"/>
                                        <p:tgtEl>
                                          <p:spTgt spid="22538"/>
                                        </p:tgtEl>
                                        <p:attrNameLst>
                                          <p:attrName>ppt_x</p:attrName>
                                        </p:attrNameLst>
                                      </p:cBhvr>
                                      <p:tavLst>
                                        <p:tav tm="0">
                                          <p:val>
                                            <p:strVal val="0-#ppt_w/2"/>
                                          </p:val>
                                        </p:tav>
                                        <p:tav tm="100000">
                                          <p:val>
                                            <p:strVal val="#ppt_x"/>
                                          </p:val>
                                        </p:tav>
                                      </p:tavLst>
                                    </p:anim>
                                    <p:anim calcmode="lin" valueType="num">
                                      <p:cBhvr additive="base">
                                        <p:cTn id="12" dur="500" fill="hold"/>
                                        <p:tgtEl>
                                          <p:spTgt spid="22538"/>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2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Rectangle 8"/>
          <p:cNvSpPr>
            <a:spLocks noChangeArrowheads="1"/>
          </p:cNvSpPr>
          <p:nvPr/>
        </p:nvSpPr>
        <p:spPr bwMode="auto">
          <a:xfrm>
            <a:off x="762000" y="6477000"/>
            <a:ext cx="8382000"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9462" name="Rectangle 6"/>
          <p:cNvSpPr>
            <a:spLocks noChangeArrowheads="1"/>
          </p:cNvSpPr>
          <p:nvPr/>
        </p:nvSpPr>
        <p:spPr bwMode="auto">
          <a:xfrm>
            <a:off x="762000" y="3657600"/>
            <a:ext cx="304800" cy="2895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19463" name="Rectangle 7"/>
          <p:cNvSpPr>
            <a:spLocks noChangeArrowheads="1"/>
          </p:cNvSpPr>
          <p:nvPr/>
        </p:nvSpPr>
        <p:spPr bwMode="auto">
          <a:xfrm>
            <a:off x="762000" y="0"/>
            <a:ext cx="304800" cy="3657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61" name="Rectangle 5"/>
          <p:cNvSpPr>
            <a:spLocks noChangeArrowheads="1"/>
          </p:cNvSpPr>
          <p:nvPr/>
        </p:nvSpPr>
        <p:spPr bwMode="auto">
          <a:xfrm>
            <a:off x="3200400" y="327660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60" name="Rectangle 4"/>
          <p:cNvSpPr>
            <a:spLocks noChangeArrowheads="1"/>
          </p:cNvSpPr>
          <p:nvPr/>
        </p:nvSpPr>
        <p:spPr bwMode="auto">
          <a:xfrm>
            <a:off x="3124200" y="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19458" name="Object 2"/>
          <p:cNvGraphicFramePr>
            <a:graphicFrameLocks noChangeAspect="1"/>
          </p:cNvGraphicFramePr>
          <p:nvPr/>
        </p:nvGraphicFramePr>
        <p:xfrm>
          <a:off x="609600" y="3352800"/>
          <a:ext cx="7956550" cy="3359150"/>
        </p:xfrm>
        <a:graphic>
          <a:graphicData uri="http://schemas.openxmlformats.org/presentationml/2006/ole">
            <mc:AlternateContent xmlns:mc="http://schemas.openxmlformats.org/markup-compatibility/2006">
              <mc:Choice xmlns:v="urn:schemas-microsoft-com:vml" Requires="v">
                <p:oleObj spid="_x0000_s19494" name="Chart" r:id="rId3" imgW="9540545" imgH="5859963" progId="Excel.Chart.8">
                  <p:embed/>
                </p:oleObj>
              </mc:Choice>
              <mc:Fallback>
                <p:oleObj name="Chart" r:id="rId3" imgW="9540545" imgH="5859963"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352800"/>
                        <a:ext cx="7956550" cy="335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59" name="Object 3"/>
          <p:cNvGraphicFramePr>
            <a:graphicFrameLocks noChangeAspect="1"/>
          </p:cNvGraphicFramePr>
          <p:nvPr/>
        </p:nvGraphicFramePr>
        <p:xfrm>
          <a:off x="762000" y="0"/>
          <a:ext cx="7467600" cy="3352800"/>
        </p:xfrm>
        <a:graphic>
          <a:graphicData uri="http://schemas.openxmlformats.org/presentationml/2006/ole">
            <mc:AlternateContent xmlns:mc="http://schemas.openxmlformats.org/markup-compatibility/2006">
              <mc:Choice xmlns:v="urn:schemas-microsoft-com:vml" Requires="v">
                <p:oleObj spid="_x0000_s19495" name="Chart" r:id="rId5" imgW="9129065" imgH="5212324" progId="Excel.Chart.8">
                  <p:embed/>
                </p:oleObj>
              </mc:Choice>
              <mc:Fallback>
                <p:oleObj name="Chart" r:id="rId5" imgW="9129065" imgH="5212324" progId="Excel.Char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0"/>
                        <a:ext cx="7467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483" name="Group 27"/>
          <p:cNvGrpSpPr>
            <a:grpSpLocks/>
          </p:cNvGrpSpPr>
          <p:nvPr/>
        </p:nvGrpSpPr>
        <p:grpSpPr bwMode="auto">
          <a:xfrm>
            <a:off x="1905000" y="152400"/>
            <a:ext cx="5561013" cy="1143000"/>
            <a:chOff x="1200" y="96"/>
            <a:chExt cx="3503" cy="720"/>
          </a:xfrm>
        </p:grpSpPr>
        <p:sp>
          <p:nvSpPr>
            <p:cNvPr id="19470" name="Text Box 14"/>
            <p:cNvSpPr txBox="1">
              <a:spLocks noChangeArrowheads="1"/>
            </p:cNvSpPr>
            <p:nvPr/>
          </p:nvSpPr>
          <p:spPr bwMode="auto">
            <a:xfrm>
              <a:off x="2640" y="19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19482" name="Group 26"/>
            <p:cNvGrpSpPr>
              <a:grpSpLocks/>
            </p:cNvGrpSpPr>
            <p:nvPr/>
          </p:nvGrpSpPr>
          <p:grpSpPr bwMode="auto">
            <a:xfrm>
              <a:off x="1296" y="96"/>
              <a:ext cx="3407" cy="720"/>
              <a:chOff x="1296" y="96"/>
              <a:chExt cx="3407" cy="720"/>
            </a:xfrm>
          </p:grpSpPr>
          <p:sp>
            <p:nvSpPr>
              <p:cNvPr id="19469" name="Text Box 13"/>
              <p:cNvSpPr txBox="1">
                <a:spLocks noChangeArrowheads="1"/>
              </p:cNvSpPr>
              <p:nvPr/>
            </p:nvSpPr>
            <p:spPr bwMode="auto">
              <a:xfrm>
                <a:off x="1296" y="33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1" name="Text Box 15"/>
              <p:cNvSpPr txBox="1">
                <a:spLocks noChangeArrowheads="1"/>
              </p:cNvSpPr>
              <p:nvPr/>
            </p:nvSpPr>
            <p:spPr bwMode="auto">
              <a:xfrm>
                <a:off x="4416" y="9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2" name="Text Box 16"/>
              <p:cNvSpPr txBox="1">
                <a:spLocks noChangeArrowheads="1"/>
              </p:cNvSpPr>
              <p:nvPr/>
            </p:nvSpPr>
            <p:spPr bwMode="auto">
              <a:xfrm>
                <a:off x="4272" y="43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3" name="Text Box 17"/>
              <p:cNvSpPr txBox="1">
                <a:spLocks noChangeArrowheads="1"/>
              </p:cNvSpPr>
              <p:nvPr/>
            </p:nvSpPr>
            <p:spPr bwMode="auto">
              <a:xfrm>
                <a:off x="4176" y="432"/>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4" name="Text Box 18"/>
              <p:cNvSpPr txBox="1">
                <a:spLocks noChangeArrowheads="1"/>
              </p:cNvSpPr>
              <p:nvPr/>
            </p:nvSpPr>
            <p:spPr bwMode="auto">
              <a:xfrm>
                <a:off x="3888"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5" name="Text Box 19"/>
              <p:cNvSpPr txBox="1">
                <a:spLocks noChangeArrowheads="1"/>
              </p:cNvSpPr>
              <p:nvPr/>
            </p:nvSpPr>
            <p:spPr bwMode="auto">
              <a:xfrm>
                <a:off x="3265"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6" name="Text Box 20"/>
              <p:cNvSpPr txBox="1">
                <a:spLocks noChangeArrowheads="1"/>
              </p:cNvSpPr>
              <p:nvPr/>
            </p:nvSpPr>
            <p:spPr bwMode="auto">
              <a:xfrm>
                <a:off x="3120"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7" name="Text Box 21"/>
              <p:cNvSpPr txBox="1">
                <a:spLocks noChangeArrowheads="1"/>
              </p:cNvSpPr>
              <p:nvPr/>
            </p:nvSpPr>
            <p:spPr bwMode="auto">
              <a:xfrm>
                <a:off x="2928"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8" name="Text Box 22"/>
              <p:cNvSpPr txBox="1">
                <a:spLocks noChangeArrowheads="1"/>
              </p:cNvSpPr>
              <p:nvPr/>
            </p:nvSpPr>
            <p:spPr bwMode="auto">
              <a:xfrm>
                <a:off x="2784" y="52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sp>
            <p:nvSpPr>
              <p:cNvPr id="19479" name="Text Box 23"/>
              <p:cNvSpPr txBox="1">
                <a:spLocks noChangeArrowheads="1"/>
              </p:cNvSpPr>
              <p:nvPr/>
            </p:nvSpPr>
            <p:spPr bwMode="auto">
              <a:xfrm>
                <a:off x="2592" y="288"/>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sp>
          <p:nvSpPr>
            <p:cNvPr id="19480" name="Text Box 24"/>
            <p:cNvSpPr txBox="1">
              <a:spLocks noChangeArrowheads="1"/>
            </p:cNvSpPr>
            <p:nvPr/>
          </p:nvSpPr>
          <p:spPr bwMode="auto">
            <a:xfrm>
              <a:off x="1200" y="336"/>
              <a:ext cx="28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sp>
        <p:nvSpPr>
          <p:cNvPr id="19481" name="Text Box 25"/>
          <p:cNvSpPr txBox="1">
            <a:spLocks noChangeArrowheads="1"/>
          </p:cNvSpPr>
          <p:nvPr/>
        </p:nvSpPr>
        <p:spPr bwMode="auto">
          <a:xfrm>
            <a:off x="5105400" y="3733800"/>
            <a:ext cx="45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6600"/>
                </a:solidFill>
                <a:sym typeface="Wingdings 3" panose="05040102010807070707" pitchFamily="18" charset="2"/>
              </a:rPr>
              <a:t></a:t>
            </a:r>
            <a:endParaRPr lang="en-US" altLang="en-US"/>
          </a:p>
        </p:txBody>
      </p:sp>
      <p:grpSp>
        <p:nvGrpSpPr>
          <p:cNvPr id="19486" name="Group 30"/>
          <p:cNvGrpSpPr>
            <a:grpSpLocks/>
          </p:cNvGrpSpPr>
          <p:nvPr/>
        </p:nvGrpSpPr>
        <p:grpSpPr bwMode="auto">
          <a:xfrm>
            <a:off x="3505200" y="685800"/>
            <a:ext cx="2017713" cy="2514600"/>
            <a:chOff x="2208" y="432"/>
            <a:chExt cx="1271" cy="1584"/>
          </a:xfrm>
        </p:grpSpPr>
        <p:sp>
          <p:nvSpPr>
            <p:cNvPr id="19484" name="Rectangle 28"/>
            <p:cNvSpPr>
              <a:spLocks noChangeArrowheads="1"/>
            </p:cNvSpPr>
            <p:nvPr/>
          </p:nvSpPr>
          <p:spPr bwMode="auto">
            <a:xfrm>
              <a:off x="2736" y="432"/>
              <a:ext cx="96" cy="72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85" name="Text Box 29"/>
            <p:cNvSpPr txBox="1">
              <a:spLocks noChangeArrowheads="1"/>
            </p:cNvSpPr>
            <p:nvPr/>
          </p:nvSpPr>
          <p:spPr bwMode="auto">
            <a:xfrm>
              <a:off x="2208" y="1728"/>
              <a:ext cx="1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000000"/>
                    </a:outerShdw>
                  </a:effectLst>
                </a:rPr>
                <a:t>33 hours &gt;7 ºC</a:t>
              </a:r>
              <a:endParaRPr lang="en-US" altLang="en-US"/>
            </a:p>
          </p:txBody>
        </p:sp>
      </p:grpSp>
      <p:sp>
        <p:nvSpPr>
          <p:cNvPr id="19487" name="Text Box 31"/>
          <p:cNvSpPr txBox="1">
            <a:spLocks noChangeArrowheads="1"/>
          </p:cNvSpPr>
          <p:nvPr/>
        </p:nvSpPr>
        <p:spPr bwMode="auto">
          <a:xfrm>
            <a:off x="5754688" y="2792413"/>
            <a:ext cx="2398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Rock AWS, 550m asl</a:t>
            </a:r>
          </a:p>
        </p:txBody>
      </p:sp>
      <p:sp>
        <p:nvSpPr>
          <p:cNvPr id="19488" name="Text Box 32"/>
          <p:cNvSpPr txBox="1">
            <a:spLocks noChangeArrowheads="1"/>
          </p:cNvSpPr>
          <p:nvPr/>
        </p:nvSpPr>
        <p:spPr bwMode="auto">
          <a:xfrm>
            <a:off x="5122863" y="6019800"/>
            <a:ext cx="2954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Atlas Cove AWS, sea level</a:t>
            </a:r>
          </a:p>
        </p:txBody>
      </p:sp>
      <p:grpSp>
        <p:nvGrpSpPr>
          <p:cNvPr id="19491" name="Group 35"/>
          <p:cNvGrpSpPr>
            <a:grpSpLocks/>
          </p:cNvGrpSpPr>
          <p:nvPr/>
        </p:nvGrpSpPr>
        <p:grpSpPr bwMode="auto">
          <a:xfrm>
            <a:off x="1143000" y="2286000"/>
            <a:ext cx="6934200" cy="3276600"/>
            <a:chOff x="720" y="1440"/>
            <a:chExt cx="4368" cy="2064"/>
          </a:xfrm>
        </p:grpSpPr>
        <p:sp>
          <p:nvSpPr>
            <p:cNvPr id="19489" name="Line 33"/>
            <p:cNvSpPr>
              <a:spLocks noChangeShapeType="1"/>
            </p:cNvSpPr>
            <p:nvPr/>
          </p:nvSpPr>
          <p:spPr bwMode="auto">
            <a:xfrm>
              <a:off x="720" y="1440"/>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490" name="Line 34"/>
            <p:cNvSpPr>
              <a:spLocks noChangeShapeType="1"/>
            </p:cNvSpPr>
            <p:nvPr/>
          </p:nvSpPr>
          <p:spPr bwMode="auto">
            <a:xfrm>
              <a:off x="720" y="3504"/>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
        <p:nvSpPr>
          <p:cNvPr id="19493" name="Text Box 37"/>
          <p:cNvSpPr txBox="1">
            <a:spLocks noChangeArrowheads="1"/>
          </p:cNvSpPr>
          <p:nvPr/>
        </p:nvSpPr>
        <p:spPr bwMode="auto">
          <a:xfrm>
            <a:off x="1116013" y="869950"/>
            <a:ext cx="6992937" cy="1798638"/>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8800" i="1"/>
              <a:t>Föhn Winds</a:t>
            </a:r>
          </a:p>
          <a:p>
            <a:pPr algn="ct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91"/>
                                        </p:tgtEl>
                                        <p:attrNameLst>
                                          <p:attrName>style.visibility</p:attrName>
                                        </p:attrNameLst>
                                      </p:cBhvr>
                                      <p:to>
                                        <p:strVal val="visible"/>
                                      </p:to>
                                    </p:set>
                                    <p:anim calcmode="lin" valueType="num">
                                      <p:cBhvr additive="base">
                                        <p:cTn id="7" dur="500" fill="hold"/>
                                        <p:tgtEl>
                                          <p:spTgt spid="19491"/>
                                        </p:tgtEl>
                                        <p:attrNameLst>
                                          <p:attrName>ppt_x</p:attrName>
                                        </p:attrNameLst>
                                      </p:cBhvr>
                                      <p:tavLst>
                                        <p:tav tm="0">
                                          <p:val>
                                            <p:strVal val="0-#ppt_w/2"/>
                                          </p:val>
                                        </p:tav>
                                        <p:tav tm="100000">
                                          <p:val>
                                            <p:strVal val="#ppt_x"/>
                                          </p:val>
                                        </p:tav>
                                      </p:tavLst>
                                    </p:anim>
                                    <p:anim calcmode="lin" valueType="num">
                                      <p:cBhvr additive="base">
                                        <p:cTn id="8" dur="500" fill="hold"/>
                                        <p:tgtEl>
                                          <p:spTgt spid="194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948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948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19493"/>
                                        </p:tgtEl>
                                        <p:attrNameLst>
                                          <p:attrName>style.visibility</p:attrName>
                                        </p:attrNameLst>
                                      </p:cBhvr>
                                      <p:to>
                                        <p:strVal val="visible"/>
                                      </p:to>
                                    </p:set>
                                    <p:anim calcmode="lin" valueType="num">
                                      <p:cBhvr additive="base">
                                        <p:cTn id="21" dur="500" fill="hold"/>
                                        <p:tgtEl>
                                          <p:spTgt spid="19493"/>
                                        </p:tgtEl>
                                        <p:attrNameLst>
                                          <p:attrName>ppt_x</p:attrName>
                                        </p:attrNameLst>
                                      </p:cBhvr>
                                      <p:tavLst>
                                        <p:tav tm="0">
                                          <p:val>
                                            <p:strVal val="#ppt_x"/>
                                          </p:val>
                                        </p:tav>
                                        <p:tav tm="100000">
                                          <p:val>
                                            <p:strVal val="#ppt_x"/>
                                          </p:val>
                                        </p:tav>
                                      </p:tavLst>
                                    </p:anim>
                                    <p:anim calcmode="lin" valueType="num">
                                      <p:cBhvr additive="base">
                                        <p:cTn id="22" dur="500" fill="hold"/>
                                        <p:tgtEl>
                                          <p:spTgt spid="19493"/>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949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9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1" grpId="0" autoUpdateAnimBg="0"/>
      <p:bldP spid="19493"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62000" y="6477000"/>
            <a:ext cx="8382000"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3555" name="Rectangle 3"/>
          <p:cNvSpPr>
            <a:spLocks noChangeArrowheads="1"/>
          </p:cNvSpPr>
          <p:nvPr/>
        </p:nvSpPr>
        <p:spPr bwMode="auto">
          <a:xfrm>
            <a:off x="762000" y="3657600"/>
            <a:ext cx="304800" cy="2895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23556" name="Rectangle 4"/>
          <p:cNvSpPr>
            <a:spLocks noChangeArrowheads="1"/>
          </p:cNvSpPr>
          <p:nvPr/>
        </p:nvSpPr>
        <p:spPr bwMode="auto">
          <a:xfrm>
            <a:off x="762000" y="0"/>
            <a:ext cx="304800" cy="3657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57" name="Rectangle 5"/>
          <p:cNvSpPr>
            <a:spLocks noChangeArrowheads="1"/>
          </p:cNvSpPr>
          <p:nvPr/>
        </p:nvSpPr>
        <p:spPr bwMode="auto">
          <a:xfrm>
            <a:off x="3200400" y="3276600"/>
            <a:ext cx="28194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58" name="Rectangle 6"/>
          <p:cNvSpPr>
            <a:spLocks noChangeArrowheads="1"/>
          </p:cNvSpPr>
          <p:nvPr/>
        </p:nvSpPr>
        <p:spPr bwMode="auto">
          <a:xfrm>
            <a:off x="3124200" y="0"/>
            <a:ext cx="2743200" cy="381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aphicFrame>
        <p:nvGraphicFramePr>
          <p:cNvPr id="23560" name="Object 8"/>
          <p:cNvGraphicFramePr>
            <a:graphicFrameLocks noChangeAspect="1"/>
          </p:cNvGraphicFramePr>
          <p:nvPr/>
        </p:nvGraphicFramePr>
        <p:xfrm>
          <a:off x="762000" y="0"/>
          <a:ext cx="7467600" cy="3352800"/>
        </p:xfrm>
        <a:graphic>
          <a:graphicData uri="http://schemas.openxmlformats.org/presentationml/2006/ole">
            <mc:AlternateContent xmlns:mc="http://schemas.openxmlformats.org/markup-compatibility/2006">
              <mc:Choice xmlns:v="urn:schemas-microsoft-com:vml" Requires="v">
                <p:oleObj spid="_x0000_s23600" name="Chart" r:id="rId3" imgW="9129065" imgH="5212324" progId="Excel.Chart.8">
                  <p:embed/>
                </p:oleObj>
              </mc:Choice>
              <mc:Fallback>
                <p:oleObj name="Chart" r:id="rId3" imgW="9129065" imgH="5212324" progId="Excel.Chart.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0"/>
                        <a:ext cx="7467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9" name="Object 27"/>
          <p:cNvGraphicFramePr>
            <a:graphicFrameLocks noChangeAspect="1"/>
          </p:cNvGraphicFramePr>
          <p:nvPr/>
        </p:nvGraphicFramePr>
        <p:xfrm>
          <a:off x="628650" y="3276600"/>
          <a:ext cx="7981950" cy="3429000"/>
        </p:xfrm>
        <a:graphic>
          <a:graphicData uri="http://schemas.openxmlformats.org/presentationml/2006/ole">
            <mc:AlternateContent xmlns:mc="http://schemas.openxmlformats.org/markup-compatibility/2006">
              <mc:Choice xmlns:v="urn:schemas-microsoft-com:vml" Requires="v">
                <p:oleObj spid="_x0000_s23601" name="Chart" r:id="rId5" imgW="9296705" imgH="5783885" progId="Excel.Chart.8">
                  <p:embed/>
                </p:oleObj>
              </mc:Choice>
              <mc:Fallback>
                <p:oleObj name="Chart" r:id="rId5" imgW="9296705" imgH="5783885" progId="Excel.Chart.8">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0" y="3276600"/>
                        <a:ext cx="798195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90" name="Group 38"/>
          <p:cNvGrpSpPr>
            <a:grpSpLocks/>
          </p:cNvGrpSpPr>
          <p:nvPr/>
        </p:nvGrpSpPr>
        <p:grpSpPr bwMode="auto">
          <a:xfrm>
            <a:off x="4191000" y="533400"/>
            <a:ext cx="3200400" cy="5867400"/>
            <a:chOff x="2640" y="336"/>
            <a:chExt cx="2016" cy="3696"/>
          </a:xfrm>
        </p:grpSpPr>
        <p:grpSp>
          <p:nvGrpSpPr>
            <p:cNvPr id="23585" name="Group 33"/>
            <p:cNvGrpSpPr>
              <a:grpSpLocks/>
            </p:cNvGrpSpPr>
            <p:nvPr/>
          </p:nvGrpSpPr>
          <p:grpSpPr bwMode="auto">
            <a:xfrm>
              <a:off x="2640" y="336"/>
              <a:ext cx="2016" cy="1632"/>
              <a:chOff x="2640" y="336"/>
              <a:chExt cx="2016" cy="2976"/>
            </a:xfrm>
          </p:grpSpPr>
          <p:sp>
            <p:nvSpPr>
              <p:cNvPr id="23581" name="Rectangle 29"/>
              <p:cNvSpPr>
                <a:spLocks noChangeArrowheads="1"/>
              </p:cNvSpPr>
              <p:nvPr/>
            </p:nvSpPr>
            <p:spPr bwMode="auto">
              <a:xfrm>
                <a:off x="4512"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2" name="Rectangle 30"/>
              <p:cNvSpPr>
                <a:spLocks noChangeArrowheads="1"/>
              </p:cNvSpPr>
              <p:nvPr/>
            </p:nvSpPr>
            <p:spPr bwMode="auto">
              <a:xfrm>
                <a:off x="3360"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3" name="Rectangle 31"/>
              <p:cNvSpPr>
                <a:spLocks noChangeArrowheads="1"/>
              </p:cNvSpPr>
              <p:nvPr/>
            </p:nvSpPr>
            <p:spPr bwMode="auto">
              <a:xfrm>
                <a:off x="2640" y="336"/>
                <a:ext cx="192"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nvGrpSpPr>
            <p:cNvPr id="23586" name="Group 34"/>
            <p:cNvGrpSpPr>
              <a:grpSpLocks/>
            </p:cNvGrpSpPr>
            <p:nvPr/>
          </p:nvGrpSpPr>
          <p:grpSpPr bwMode="auto">
            <a:xfrm>
              <a:off x="2640" y="2400"/>
              <a:ext cx="2016" cy="1632"/>
              <a:chOff x="2640" y="336"/>
              <a:chExt cx="2016" cy="2976"/>
            </a:xfrm>
          </p:grpSpPr>
          <p:sp>
            <p:nvSpPr>
              <p:cNvPr id="23587" name="Rectangle 35"/>
              <p:cNvSpPr>
                <a:spLocks noChangeArrowheads="1"/>
              </p:cNvSpPr>
              <p:nvPr/>
            </p:nvSpPr>
            <p:spPr bwMode="auto">
              <a:xfrm>
                <a:off x="4512"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8" name="Rectangle 36"/>
              <p:cNvSpPr>
                <a:spLocks noChangeArrowheads="1"/>
              </p:cNvSpPr>
              <p:nvPr/>
            </p:nvSpPr>
            <p:spPr bwMode="auto">
              <a:xfrm>
                <a:off x="3360" y="336"/>
                <a:ext cx="144"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89" name="Rectangle 37"/>
              <p:cNvSpPr>
                <a:spLocks noChangeArrowheads="1"/>
              </p:cNvSpPr>
              <p:nvPr/>
            </p:nvSpPr>
            <p:spPr bwMode="auto">
              <a:xfrm>
                <a:off x="2640" y="336"/>
                <a:ext cx="192" cy="2976"/>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grpSp>
      <p:sp>
        <p:nvSpPr>
          <p:cNvPr id="23591" name="Text Box 39"/>
          <p:cNvSpPr txBox="1">
            <a:spLocks noChangeArrowheads="1"/>
          </p:cNvSpPr>
          <p:nvPr/>
        </p:nvSpPr>
        <p:spPr bwMode="auto">
          <a:xfrm>
            <a:off x="5754688" y="2792413"/>
            <a:ext cx="2398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Rock AWS, 550m asl</a:t>
            </a:r>
          </a:p>
        </p:txBody>
      </p:sp>
      <p:sp>
        <p:nvSpPr>
          <p:cNvPr id="23592" name="Text Box 40"/>
          <p:cNvSpPr txBox="1">
            <a:spLocks noChangeArrowheads="1"/>
          </p:cNvSpPr>
          <p:nvPr/>
        </p:nvSpPr>
        <p:spPr bwMode="auto">
          <a:xfrm>
            <a:off x="5410200" y="6019800"/>
            <a:ext cx="2700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effectLst>
                  <a:outerShdw blurRad="38100" dist="38100" dir="2700000" algn="tl">
                    <a:srgbClr val="000000"/>
                  </a:outerShdw>
                </a:effectLst>
              </a:rPr>
              <a:t>Spit Bay AWS, sea level</a:t>
            </a:r>
          </a:p>
        </p:txBody>
      </p:sp>
      <p:grpSp>
        <p:nvGrpSpPr>
          <p:cNvPr id="23599" name="Group 47"/>
          <p:cNvGrpSpPr>
            <a:grpSpLocks/>
          </p:cNvGrpSpPr>
          <p:nvPr/>
        </p:nvGrpSpPr>
        <p:grpSpPr bwMode="auto">
          <a:xfrm>
            <a:off x="1133475" y="2286000"/>
            <a:ext cx="6943725" cy="3243263"/>
            <a:chOff x="714" y="1440"/>
            <a:chExt cx="4374" cy="2043"/>
          </a:xfrm>
        </p:grpSpPr>
        <p:sp>
          <p:nvSpPr>
            <p:cNvPr id="23594" name="Line 42"/>
            <p:cNvSpPr>
              <a:spLocks noChangeShapeType="1"/>
            </p:cNvSpPr>
            <p:nvPr/>
          </p:nvSpPr>
          <p:spPr bwMode="auto">
            <a:xfrm>
              <a:off x="720" y="1440"/>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98" name="Line 46"/>
            <p:cNvSpPr>
              <a:spLocks noChangeShapeType="1"/>
            </p:cNvSpPr>
            <p:nvPr/>
          </p:nvSpPr>
          <p:spPr bwMode="auto">
            <a:xfrm>
              <a:off x="714" y="3483"/>
              <a:ext cx="4368" cy="0"/>
            </a:xfrm>
            <a:prstGeom prst="line">
              <a:avLst/>
            </a:prstGeom>
            <a:noFill/>
            <a:ln w="254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599"/>
                                        </p:tgtEl>
                                        <p:attrNameLst>
                                          <p:attrName>style.visibility</p:attrName>
                                        </p:attrNameLst>
                                      </p:cBhvr>
                                      <p:to>
                                        <p:strVal val="visible"/>
                                      </p:to>
                                    </p:set>
                                    <p:anim calcmode="lin" valueType="num">
                                      <p:cBhvr additive="base">
                                        <p:cTn id="7" dur="500" fill="hold"/>
                                        <p:tgtEl>
                                          <p:spTgt spid="23599"/>
                                        </p:tgtEl>
                                        <p:attrNameLst>
                                          <p:attrName>ppt_x</p:attrName>
                                        </p:attrNameLst>
                                      </p:cBhvr>
                                      <p:tavLst>
                                        <p:tav tm="0">
                                          <p:val>
                                            <p:strVal val="0-#ppt_w/2"/>
                                          </p:val>
                                        </p:tav>
                                        <p:tav tm="100000">
                                          <p:val>
                                            <p:strVal val="#ppt_x"/>
                                          </p:val>
                                        </p:tav>
                                      </p:tavLst>
                                    </p:anim>
                                    <p:anim calcmode="lin" valueType="num">
                                      <p:cBhvr additive="base">
                                        <p:cTn id="8" dur="500" fill="hold"/>
                                        <p:tgtEl>
                                          <p:spTgt spid="235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3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Text Box 1026"/>
          <p:cNvSpPr txBox="1">
            <a:spLocks noChangeArrowheads="1"/>
          </p:cNvSpPr>
          <p:nvPr/>
        </p:nvSpPr>
        <p:spPr bwMode="auto">
          <a:xfrm>
            <a:off x="401638" y="304800"/>
            <a:ext cx="35179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5400" i="1">
                <a:effectLst>
                  <a:outerShdw blurRad="38100" dist="38100" dir="2700000" algn="tl">
                    <a:srgbClr val="000000"/>
                  </a:outerShdw>
                </a:effectLst>
              </a:rPr>
              <a:t>Föhn Winds</a:t>
            </a:r>
          </a:p>
        </p:txBody>
      </p:sp>
      <p:sp>
        <p:nvSpPr>
          <p:cNvPr id="41990" name="Rectangle 1030"/>
          <p:cNvSpPr>
            <a:spLocks noGrp="1" noChangeArrowheads="1"/>
          </p:cNvSpPr>
          <p:nvPr>
            <p:ph type="body" idx="1"/>
          </p:nvPr>
        </p:nvSpPr>
        <p:spPr>
          <a:xfrm>
            <a:off x="685800" y="1246188"/>
            <a:ext cx="7772400" cy="4849812"/>
          </a:xfrm>
        </p:spPr>
        <p:txBody>
          <a:bodyPr/>
          <a:lstStyle/>
          <a:p>
            <a:r>
              <a:rPr kumimoji="0" lang="en-US" altLang="en-US" sz="2200"/>
              <a:t>strong, gusty, dry and warm winds which develop on the lee side of a mountain range when stable air is forced to flow over the barrier by the regional pressure gradient</a:t>
            </a:r>
            <a:endParaRPr lang="en-US" altLang="en-US" sz="2200"/>
          </a:p>
          <a:p>
            <a:r>
              <a:rPr lang="en-US" altLang="en-US" sz="2200"/>
              <a:t>Rises, loses moisture, cools at saturated adiabatic lapse rate (</a:t>
            </a:r>
            <a:r>
              <a:rPr kumimoji="0" lang="en-US" altLang="en-US" sz="2200"/>
              <a:t>0.65 °C per 100 m)</a:t>
            </a:r>
            <a:endParaRPr lang="en-US" altLang="en-US" sz="2200"/>
          </a:p>
          <a:p>
            <a:r>
              <a:rPr lang="en-US" altLang="en-US" sz="2200"/>
              <a:t>Decends, warms at dry adiabatic lapse rate </a:t>
            </a:r>
            <a:r>
              <a:rPr kumimoji="0" lang="en-US" altLang="en-US" sz="2200"/>
              <a:t>(1.0 °C per 100 m)</a:t>
            </a:r>
            <a:endParaRPr lang="en-US" altLang="en-US" sz="2200"/>
          </a:p>
          <a:p>
            <a:r>
              <a:rPr lang="en-US" altLang="en-US" sz="2200"/>
              <a:t>Heard Island e.g.: T difference as much as 13 </a:t>
            </a:r>
            <a:r>
              <a:rPr kumimoji="0" lang="en-US" altLang="en-US" sz="2200"/>
              <a:t>°C</a:t>
            </a:r>
            <a:r>
              <a:rPr lang="en-US" altLang="en-US" sz="2200"/>
              <a:t> at sea level after 2700 m</a:t>
            </a:r>
          </a:p>
          <a:p>
            <a:r>
              <a:rPr kumimoji="0" lang="en-US" altLang="en-US" sz="2200"/>
              <a:t>In many instances however, there may be no precipitation over the mountain, and in such cases the föhn effect is the result of standing wave motions forcing air from higher levels to descend (Barry &amp; Chorley, 1976)</a:t>
            </a:r>
            <a:endParaRPr kumimoji="0"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9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9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1" end="1"/>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99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2" end="2"/>
                                            </p:txEl>
                                          </p:spTgt>
                                        </p:tgtEl>
                                        <p:attrNameLst>
                                          <p:attrName>ppt_c</p:attrName>
                                        </p:attrNameLst>
                                      </p:cBhvr>
                                      <p:to>
                                        <a:schemeClr val="bg1"/>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199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3" end="3"/>
                                            </p:txEl>
                                          </p:spTgt>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199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90">
                                            <p:txEl>
                                              <p:pRg st="4" end="4"/>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401638" y="304800"/>
            <a:ext cx="32480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5400" i="1">
                <a:effectLst>
                  <a:outerShdw blurRad="38100" dist="38100" dir="2700000" algn="tl">
                    <a:srgbClr val="000000"/>
                  </a:outerShdw>
                </a:effectLst>
              </a:rPr>
              <a:t>Föhn Winds</a:t>
            </a:r>
          </a:p>
        </p:txBody>
      </p:sp>
      <p:graphicFrame>
        <p:nvGraphicFramePr>
          <p:cNvPr id="58371" name="Object 3"/>
          <p:cNvGraphicFramePr>
            <a:graphicFrameLocks noChangeAspect="1"/>
          </p:cNvGraphicFramePr>
          <p:nvPr/>
        </p:nvGraphicFramePr>
        <p:xfrm>
          <a:off x="-39688" y="1138238"/>
          <a:ext cx="9269413" cy="5503862"/>
        </p:xfrm>
        <a:graphic>
          <a:graphicData uri="http://schemas.openxmlformats.org/presentationml/2006/ole">
            <mc:AlternateContent xmlns:mc="http://schemas.openxmlformats.org/markup-compatibility/2006">
              <mc:Choice xmlns:v="urn:schemas-microsoft-com:vml" Requires="v">
                <p:oleObj spid="_x0000_s58372" name="Chart" r:id="rId4" imgW="6980225" imgH="4145605" progId="Excel.Chart.8">
                  <p:embed/>
                </p:oleObj>
              </mc:Choice>
              <mc:Fallback>
                <p:oleObj name="Chart" r:id="rId4" imgW="6980225" imgH="4145605"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88" y="1138238"/>
                        <a:ext cx="9269413" cy="550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Documents and Settings\dthost\My Documents\Heard2000part1\2017714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33400"/>
            <a:ext cx="7315200" cy="5486400"/>
          </a:xfrm>
          <a:prstGeom prst="rect">
            <a:avLst/>
          </a:prstGeom>
          <a:noFill/>
          <a:extLst>
            <a:ext uri="{909E8E84-426E-40DD-AFC4-6F175D3DCCD1}">
              <a14:hiddenFill xmlns:a14="http://schemas.microsoft.com/office/drawing/2010/main">
                <a:solidFill>
                  <a:srgbClr val="FFFFFF"/>
                </a:solidFill>
              </a14:hiddenFill>
            </a:ext>
          </a:extLst>
        </p:spPr>
      </p:pic>
      <p:sp>
        <p:nvSpPr>
          <p:cNvPr id="10243" name="Text Box 3"/>
          <p:cNvSpPr txBox="1">
            <a:spLocks noChangeArrowheads="1"/>
          </p:cNvSpPr>
          <p:nvPr/>
        </p:nvSpPr>
        <p:spPr bwMode="auto">
          <a:xfrm>
            <a:off x="3328988" y="5972175"/>
            <a:ext cx="28067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500"/>
              </a:spcBef>
              <a:spcAft>
                <a:spcPts val="500"/>
              </a:spcAft>
            </a:pPr>
            <a:r>
              <a:rPr lang="en-US" altLang="en-US"/>
              <a:t>von Karmen Vortices</a:t>
            </a:r>
          </a:p>
          <a:p>
            <a:endParaRPr lang="en-US" altLang="en-US"/>
          </a:p>
        </p:txBody>
      </p:sp>
      <p:sp>
        <p:nvSpPr>
          <p:cNvPr id="10244" name="Freeform 4"/>
          <p:cNvSpPr>
            <a:spLocks/>
          </p:cNvSpPr>
          <p:nvPr/>
        </p:nvSpPr>
        <p:spPr bwMode="auto">
          <a:xfrm>
            <a:off x="3605213" y="2590800"/>
            <a:ext cx="1060450" cy="931863"/>
          </a:xfrm>
          <a:custGeom>
            <a:avLst/>
            <a:gdLst>
              <a:gd name="T0" fmla="*/ 0 w 668"/>
              <a:gd name="T1" fmla="*/ 587 h 587"/>
              <a:gd name="T2" fmla="*/ 112 w 668"/>
              <a:gd name="T3" fmla="*/ 323 h 587"/>
              <a:gd name="T4" fmla="*/ 311 w 668"/>
              <a:gd name="T5" fmla="*/ 60 h 587"/>
              <a:gd name="T6" fmla="*/ 457 w 668"/>
              <a:gd name="T7" fmla="*/ 7 h 587"/>
              <a:gd name="T8" fmla="*/ 609 w 668"/>
              <a:gd name="T9" fmla="*/ 19 h 587"/>
              <a:gd name="T10" fmla="*/ 668 w 668"/>
              <a:gd name="T11" fmla="*/ 113 h 587"/>
            </a:gdLst>
            <a:ahLst/>
            <a:cxnLst>
              <a:cxn ang="0">
                <a:pos x="T0" y="T1"/>
              </a:cxn>
              <a:cxn ang="0">
                <a:pos x="T2" y="T3"/>
              </a:cxn>
              <a:cxn ang="0">
                <a:pos x="T4" y="T5"/>
              </a:cxn>
              <a:cxn ang="0">
                <a:pos x="T6" y="T7"/>
              </a:cxn>
              <a:cxn ang="0">
                <a:pos x="T8" y="T9"/>
              </a:cxn>
              <a:cxn ang="0">
                <a:pos x="T10" y="T11"/>
              </a:cxn>
            </a:cxnLst>
            <a:rect l="0" t="0" r="r" b="b"/>
            <a:pathLst>
              <a:path w="668" h="587">
                <a:moveTo>
                  <a:pt x="0" y="587"/>
                </a:moveTo>
                <a:cubicBezTo>
                  <a:pt x="30" y="499"/>
                  <a:pt x="60" y="411"/>
                  <a:pt x="112" y="323"/>
                </a:cubicBezTo>
                <a:cubicBezTo>
                  <a:pt x="164" y="235"/>
                  <a:pt x="253" y="113"/>
                  <a:pt x="311" y="60"/>
                </a:cubicBezTo>
                <a:cubicBezTo>
                  <a:pt x="369" y="7"/>
                  <a:pt x="407" y="14"/>
                  <a:pt x="457" y="7"/>
                </a:cubicBezTo>
                <a:cubicBezTo>
                  <a:pt x="507" y="0"/>
                  <a:pt x="574" y="1"/>
                  <a:pt x="609" y="19"/>
                </a:cubicBezTo>
                <a:cubicBezTo>
                  <a:pt x="644" y="37"/>
                  <a:pt x="658" y="97"/>
                  <a:pt x="668" y="11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5" name="Freeform 5"/>
          <p:cNvSpPr>
            <a:spLocks/>
          </p:cNvSpPr>
          <p:nvPr/>
        </p:nvSpPr>
        <p:spPr bwMode="auto">
          <a:xfrm>
            <a:off x="4860925" y="1062038"/>
            <a:ext cx="1117600" cy="1103312"/>
          </a:xfrm>
          <a:custGeom>
            <a:avLst/>
            <a:gdLst>
              <a:gd name="T0" fmla="*/ 0 w 704"/>
              <a:gd name="T1" fmla="*/ 695 h 695"/>
              <a:gd name="T2" fmla="*/ 46 w 704"/>
              <a:gd name="T3" fmla="*/ 443 h 695"/>
              <a:gd name="T4" fmla="*/ 193 w 704"/>
              <a:gd name="T5" fmla="*/ 186 h 695"/>
              <a:gd name="T6" fmla="*/ 316 w 704"/>
              <a:gd name="T7" fmla="*/ 74 h 695"/>
              <a:gd name="T8" fmla="*/ 427 w 704"/>
              <a:gd name="T9" fmla="*/ 10 h 695"/>
              <a:gd name="T10" fmla="*/ 608 w 704"/>
              <a:gd name="T11" fmla="*/ 16 h 695"/>
              <a:gd name="T12" fmla="*/ 679 w 704"/>
              <a:gd name="T13" fmla="*/ 86 h 695"/>
              <a:gd name="T14" fmla="*/ 696 w 704"/>
              <a:gd name="T15" fmla="*/ 186 h 695"/>
              <a:gd name="T16" fmla="*/ 632 w 704"/>
              <a:gd name="T17" fmla="*/ 320 h 695"/>
              <a:gd name="T18" fmla="*/ 503 w 704"/>
              <a:gd name="T19" fmla="*/ 396 h 695"/>
              <a:gd name="T20" fmla="*/ 404 w 704"/>
              <a:gd name="T21" fmla="*/ 391 h 695"/>
              <a:gd name="T22" fmla="*/ 322 w 704"/>
              <a:gd name="T23" fmla="*/ 326 h 695"/>
              <a:gd name="T24" fmla="*/ 339 w 704"/>
              <a:gd name="T25" fmla="*/ 203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4" h="695">
                <a:moveTo>
                  <a:pt x="0" y="695"/>
                </a:moveTo>
                <a:cubicBezTo>
                  <a:pt x="7" y="611"/>
                  <a:pt x="14" y="528"/>
                  <a:pt x="46" y="443"/>
                </a:cubicBezTo>
                <a:cubicBezTo>
                  <a:pt x="78" y="358"/>
                  <a:pt x="148" y="247"/>
                  <a:pt x="193" y="186"/>
                </a:cubicBezTo>
                <a:cubicBezTo>
                  <a:pt x="238" y="125"/>
                  <a:pt x="277" y="103"/>
                  <a:pt x="316" y="74"/>
                </a:cubicBezTo>
                <a:cubicBezTo>
                  <a:pt x="355" y="45"/>
                  <a:pt x="378" y="20"/>
                  <a:pt x="427" y="10"/>
                </a:cubicBezTo>
                <a:cubicBezTo>
                  <a:pt x="476" y="0"/>
                  <a:pt x="566" y="3"/>
                  <a:pt x="608" y="16"/>
                </a:cubicBezTo>
                <a:cubicBezTo>
                  <a:pt x="650" y="29"/>
                  <a:pt x="664" y="58"/>
                  <a:pt x="679" y="86"/>
                </a:cubicBezTo>
                <a:cubicBezTo>
                  <a:pt x="694" y="114"/>
                  <a:pt x="704" y="147"/>
                  <a:pt x="696" y="186"/>
                </a:cubicBezTo>
                <a:cubicBezTo>
                  <a:pt x="688" y="225"/>
                  <a:pt x="664" y="285"/>
                  <a:pt x="632" y="320"/>
                </a:cubicBezTo>
                <a:cubicBezTo>
                  <a:pt x="600" y="355"/>
                  <a:pt x="541" y="384"/>
                  <a:pt x="503" y="396"/>
                </a:cubicBezTo>
                <a:cubicBezTo>
                  <a:pt x="465" y="408"/>
                  <a:pt x="434" y="403"/>
                  <a:pt x="404" y="391"/>
                </a:cubicBezTo>
                <a:cubicBezTo>
                  <a:pt x="374" y="379"/>
                  <a:pt x="333" y="357"/>
                  <a:pt x="322" y="326"/>
                </a:cubicBezTo>
                <a:cubicBezTo>
                  <a:pt x="311" y="295"/>
                  <a:pt x="336" y="221"/>
                  <a:pt x="339" y="20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6" name="Freeform 6"/>
          <p:cNvSpPr>
            <a:spLocks/>
          </p:cNvSpPr>
          <p:nvPr/>
        </p:nvSpPr>
        <p:spPr bwMode="auto">
          <a:xfrm>
            <a:off x="3132138" y="3513138"/>
            <a:ext cx="1289050" cy="874712"/>
          </a:xfrm>
          <a:custGeom>
            <a:avLst/>
            <a:gdLst>
              <a:gd name="T0" fmla="*/ 0 w 812"/>
              <a:gd name="T1" fmla="*/ 445 h 551"/>
              <a:gd name="T2" fmla="*/ 222 w 812"/>
              <a:gd name="T3" fmla="*/ 515 h 551"/>
              <a:gd name="T4" fmla="*/ 468 w 812"/>
              <a:gd name="T5" fmla="*/ 533 h 551"/>
              <a:gd name="T6" fmla="*/ 708 w 812"/>
              <a:gd name="T7" fmla="*/ 404 h 551"/>
              <a:gd name="T8" fmla="*/ 755 w 812"/>
              <a:gd name="T9" fmla="*/ 322 h 551"/>
              <a:gd name="T10" fmla="*/ 784 w 812"/>
              <a:gd name="T11" fmla="*/ 228 h 551"/>
              <a:gd name="T12" fmla="*/ 808 w 812"/>
              <a:gd name="T13" fmla="*/ 117 h 551"/>
              <a:gd name="T14" fmla="*/ 808 w 812"/>
              <a:gd name="T15" fmla="*/ 0 h 5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2" h="551">
                <a:moveTo>
                  <a:pt x="0" y="445"/>
                </a:moveTo>
                <a:cubicBezTo>
                  <a:pt x="72" y="472"/>
                  <a:pt x="144" y="500"/>
                  <a:pt x="222" y="515"/>
                </a:cubicBezTo>
                <a:cubicBezTo>
                  <a:pt x="300" y="530"/>
                  <a:pt x="387" y="551"/>
                  <a:pt x="468" y="533"/>
                </a:cubicBezTo>
                <a:cubicBezTo>
                  <a:pt x="549" y="515"/>
                  <a:pt x="660" y="439"/>
                  <a:pt x="708" y="404"/>
                </a:cubicBezTo>
                <a:cubicBezTo>
                  <a:pt x="756" y="369"/>
                  <a:pt x="742" y="351"/>
                  <a:pt x="755" y="322"/>
                </a:cubicBezTo>
                <a:cubicBezTo>
                  <a:pt x="768" y="293"/>
                  <a:pt x="775" y="262"/>
                  <a:pt x="784" y="228"/>
                </a:cubicBezTo>
                <a:cubicBezTo>
                  <a:pt x="793" y="194"/>
                  <a:pt x="804" y="155"/>
                  <a:pt x="808" y="117"/>
                </a:cubicBezTo>
                <a:cubicBezTo>
                  <a:pt x="812" y="79"/>
                  <a:pt x="810" y="39"/>
                  <a:pt x="808" y="0"/>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7" name="Freeform 7"/>
          <p:cNvSpPr>
            <a:spLocks/>
          </p:cNvSpPr>
          <p:nvPr/>
        </p:nvSpPr>
        <p:spPr bwMode="auto">
          <a:xfrm>
            <a:off x="4552950" y="2228850"/>
            <a:ext cx="1008063" cy="1100138"/>
          </a:xfrm>
          <a:custGeom>
            <a:avLst/>
            <a:gdLst>
              <a:gd name="T0" fmla="*/ 0 w 635"/>
              <a:gd name="T1" fmla="*/ 668 h 693"/>
              <a:gd name="T2" fmla="*/ 199 w 635"/>
              <a:gd name="T3" fmla="*/ 692 h 693"/>
              <a:gd name="T4" fmla="*/ 363 w 635"/>
              <a:gd name="T5" fmla="*/ 663 h 693"/>
              <a:gd name="T6" fmla="*/ 480 w 635"/>
              <a:gd name="T7" fmla="*/ 586 h 693"/>
              <a:gd name="T8" fmla="*/ 586 w 635"/>
              <a:gd name="T9" fmla="*/ 452 h 693"/>
              <a:gd name="T10" fmla="*/ 627 w 635"/>
              <a:gd name="T11" fmla="*/ 311 h 693"/>
              <a:gd name="T12" fmla="*/ 627 w 635"/>
              <a:gd name="T13" fmla="*/ 147 h 693"/>
              <a:gd name="T14" fmla="*/ 580 w 635"/>
              <a:gd name="T15" fmla="*/ 48 h 693"/>
              <a:gd name="T16" fmla="*/ 475 w 635"/>
              <a:gd name="T17" fmla="*/ 13 h 693"/>
              <a:gd name="T18" fmla="*/ 387 w 635"/>
              <a:gd name="T19" fmla="*/ 13 h 693"/>
              <a:gd name="T20" fmla="*/ 305 w 635"/>
              <a:gd name="T21" fmla="*/ 89 h 693"/>
              <a:gd name="T22" fmla="*/ 293 w 635"/>
              <a:gd name="T23" fmla="*/ 183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5" h="693">
                <a:moveTo>
                  <a:pt x="0" y="668"/>
                </a:moveTo>
                <a:cubicBezTo>
                  <a:pt x="69" y="680"/>
                  <a:pt x="139" y="693"/>
                  <a:pt x="199" y="692"/>
                </a:cubicBezTo>
                <a:cubicBezTo>
                  <a:pt x="259" y="691"/>
                  <a:pt x="316" y="681"/>
                  <a:pt x="363" y="663"/>
                </a:cubicBezTo>
                <a:cubicBezTo>
                  <a:pt x="410" y="645"/>
                  <a:pt x="443" y="621"/>
                  <a:pt x="480" y="586"/>
                </a:cubicBezTo>
                <a:cubicBezTo>
                  <a:pt x="517" y="551"/>
                  <a:pt x="562" y="498"/>
                  <a:pt x="586" y="452"/>
                </a:cubicBezTo>
                <a:cubicBezTo>
                  <a:pt x="610" y="406"/>
                  <a:pt x="620" y="362"/>
                  <a:pt x="627" y="311"/>
                </a:cubicBezTo>
                <a:cubicBezTo>
                  <a:pt x="634" y="260"/>
                  <a:pt x="635" y="191"/>
                  <a:pt x="627" y="147"/>
                </a:cubicBezTo>
                <a:cubicBezTo>
                  <a:pt x="619" y="103"/>
                  <a:pt x="605" y="70"/>
                  <a:pt x="580" y="48"/>
                </a:cubicBezTo>
                <a:cubicBezTo>
                  <a:pt x="555" y="26"/>
                  <a:pt x="507" y="19"/>
                  <a:pt x="475" y="13"/>
                </a:cubicBezTo>
                <a:cubicBezTo>
                  <a:pt x="443" y="7"/>
                  <a:pt x="415" y="0"/>
                  <a:pt x="387" y="13"/>
                </a:cubicBezTo>
                <a:cubicBezTo>
                  <a:pt x="359" y="26"/>
                  <a:pt x="321" y="61"/>
                  <a:pt x="305" y="89"/>
                </a:cubicBezTo>
                <a:cubicBezTo>
                  <a:pt x="289" y="117"/>
                  <a:pt x="291" y="150"/>
                  <a:pt x="293" y="183"/>
                </a:cubicBezTo>
              </a:path>
            </a:pathLst>
          </a:custGeom>
          <a:noFill/>
          <a:ln w="25400">
            <a:solidFill>
              <a:srgbClr val="000000"/>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248" name="Freeform 8"/>
          <p:cNvSpPr>
            <a:spLocks/>
          </p:cNvSpPr>
          <p:nvPr/>
        </p:nvSpPr>
        <p:spPr bwMode="auto">
          <a:xfrm>
            <a:off x="2376488" y="3670300"/>
            <a:ext cx="665162" cy="555625"/>
          </a:xfrm>
          <a:custGeom>
            <a:avLst/>
            <a:gdLst>
              <a:gd name="T0" fmla="*/ 171 w 419"/>
              <a:gd name="T1" fmla="*/ 317 h 350"/>
              <a:gd name="T2" fmla="*/ 259 w 419"/>
              <a:gd name="T3" fmla="*/ 293 h 350"/>
              <a:gd name="T4" fmla="*/ 306 w 419"/>
              <a:gd name="T5" fmla="*/ 281 h 350"/>
              <a:gd name="T6" fmla="*/ 400 w 419"/>
              <a:gd name="T7" fmla="*/ 246 h 350"/>
              <a:gd name="T8" fmla="*/ 382 w 419"/>
              <a:gd name="T9" fmla="*/ 194 h 350"/>
              <a:gd name="T10" fmla="*/ 353 w 419"/>
              <a:gd name="T11" fmla="*/ 65 h 350"/>
              <a:gd name="T12" fmla="*/ 283 w 419"/>
              <a:gd name="T13" fmla="*/ 12 h 350"/>
              <a:gd name="T14" fmla="*/ 247 w 419"/>
              <a:gd name="T15" fmla="*/ 0 h 350"/>
              <a:gd name="T16" fmla="*/ 177 w 419"/>
              <a:gd name="T17" fmla="*/ 12 h 350"/>
              <a:gd name="T18" fmla="*/ 119 w 419"/>
              <a:gd name="T19" fmla="*/ 53 h 350"/>
              <a:gd name="T20" fmla="*/ 78 w 419"/>
              <a:gd name="T21" fmla="*/ 82 h 350"/>
              <a:gd name="T22" fmla="*/ 31 w 419"/>
              <a:gd name="T23" fmla="*/ 47 h 350"/>
              <a:gd name="T24" fmla="*/ 48 w 419"/>
              <a:gd name="T25" fmla="*/ 129 h 350"/>
              <a:gd name="T26" fmla="*/ 84 w 419"/>
              <a:gd name="T27" fmla="*/ 176 h 350"/>
              <a:gd name="T28" fmla="*/ 119 w 419"/>
              <a:gd name="T29" fmla="*/ 223 h 350"/>
              <a:gd name="T30" fmla="*/ 154 w 419"/>
              <a:gd name="T31" fmla="*/ 235 h 350"/>
              <a:gd name="T32" fmla="*/ 160 w 419"/>
              <a:gd name="T33" fmla="*/ 252 h 350"/>
              <a:gd name="T34" fmla="*/ 166 w 419"/>
              <a:gd name="T35" fmla="*/ 305 h 350"/>
              <a:gd name="T36" fmla="*/ 177 w 419"/>
              <a:gd name="T37" fmla="*/ 322 h 350"/>
              <a:gd name="T38" fmla="*/ 171 w 419"/>
              <a:gd name="T39" fmla="*/ 31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9" h="350">
                <a:moveTo>
                  <a:pt x="171" y="317"/>
                </a:moveTo>
                <a:cubicBezTo>
                  <a:pt x="225" y="350"/>
                  <a:pt x="221" y="307"/>
                  <a:pt x="259" y="293"/>
                </a:cubicBezTo>
                <a:cubicBezTo>
                  <a:pt x="274" y="287"/>
                  <a:pt x="291" y="288"/>
                  <a:pt x="306" y="281"/>
                </a:cubicBezTo>
                <a:cubicBezTo>
                  <a:pt x="339" y="265"/>
                  <a:pt x="363" y="253"/>
                  <a:pt x="400" y="246"/>
                </a:cubicBezTo>
                <a:cubicBezTo>
                  <a:pt x="419" y="217"/>
                  <a:pt x="405" y="216"/>
                  <a:pt x="382" y="194"/>
                </a:cubicBezTo>
                <a:cubicBezTo>
                  <a:pt x="372" y="153"/>
                  <a:pt x="386" y="97"/>
                  <a:pt x="353" y="65"/>
                </a:cubicBezTo>
                <a:cubicBezTo>
                  <a:pt x="337" y="50"/>
                  <a:pt x="302" y="18"/>
                  <a:pt x="283" y="12"/>
                </a:cubicBezTo>
                <a:cubicBezTo>
                  <a:pt x="271" y="8"/>
                  <a:pt x="247" y="0"/>
                  <a:pt x="247" y="0"/>
                </a:cubicBezTo>
                <a:cubicBezTo>
                  <a:pt x="247" y="0"/>
                  <a:pt x="187" y="6"/>
                  <a:pt x="177" y="12"/>
                </a:cubicBezTo>
                <a:cubicBezTo>
                  <a:pt x="156" y="24"/>
                  <a:pt x="144" y="44"/>
                  <a:pt x="119" y="53"/>
                </a:cubicBezTo>
                <a:cubicBezTo>
                  <a:pt x="92" y="93"/>
                  <a:pt x="108" y="93"/>
                  <a:pt x="78" y="82"/>
                </a:cubicBezTo>
                <a:cubicBezTo>
                  <a:pt x="64" y="62"/>
                  <a:pt x="53" y="55"/>
                  <a:pt x="31" y="47"/>
                </a:cubicBezTo>
                <a:cubicBezTo>
                  <a:pt x="8" y="82"/>
                  <a:pt x="0" y="117"/>
                  <a:pt x="48" y="129"/>
                </a:cubicBezTo>
                <a:cubicBezTo>
                  <a:pt x="69" y="143"/>
                  <a:pt x="70" y="156"/>
                  <a:pt x="84" y="176"/>
                </a:cubicBezTo>
                <a:cubicBezTo>
                  <a:pt x="90" y="197"/>
                  <a:pt x="97" y="213"/>
                  <a:pt x="119" y="223"/>
                </a:cubicBezTo>
                <a:cubicBezTo>
                  <a:pt x="130" y="228"/>
                  <a:pt x="154" y="235"/>
                  <a:pt x="154" y="235"/>
                </a:cubicBezTo>
                <a:cubicBezTo>
                  <a:pt x="156" y="241"/>
                  <a:pt x="159" y="246"/>
                  <a:pt x="160" y="252"/>
                </a:cubicBezTo>
                <a:cubicBezTo>
                  <a:pt x="163" y="270"/>
                  <a:pt x="162" y="288"/>
                  <a:pt x="166" y="305"/>
                </a:cubicBezTo>
                <a:cubicBezTo>
                  <a:pt x="168" y="312"/>
                  <a:pt x="174" y="316"/>
                  <a:pt x="177" y="322"/>
                </a:cubicBezTo>
                <a:cubicBezTo>
                  <a:pt x="178" y="324"/>
                  <a:pt x="173" y="319"/>
                  <a:pt x="171" y="317"/>
                </a:cubicBezTo>
                <a:close/>
              </a:path>
            </a:pathLst>
          </a:cu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2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246"/>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500"/>
                                  </p:stCondLst>
                                  <p:childTnLst>
                                    <p:set>
                                      <p:cBhvr>
                                        <p:cTn id="13" dur="1" fill="hold">
                                          <p:stCondLst>
                                            <p:cond delay="499"/>
                                          </p:stCondLst>
                                        </p:cTn>
                                        <p:tgtEl>
                                          <p:spTgt spid="10244"/>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nodeType="afterEffect">
                                  <p:stCondLst>
                                    <p:cond delay="500"/>
                                  </p:stCondLst>
                                  <p:childTnLst>
                                    <p:set>
                                      <p:cBhvr>
                                        <p:cTn id="16" dur="1" fill="hold">
                                          <p:stCondLst>
                                            <p:cond delay="499"/>
                                          </p:stCondLst>
                                        </p:cTn>
                                        <p:tgtEl>
                                          <p:spTgt spid="10247"/>
                                        </p:tgtEl>
                                        <p:attrNameLst>
                                          <p:attrName>style.visibility</p:attrName>
                                        </p:attrNameLst>
                                      </p:cBhvr>
                                      <p:to>
                                        <p:strVal val="visible"/>
                                      </p:to>
                                    </p:set>
                                  </p:childTnLst>
                                </p:cTn>
                              </p:par>
                            </p:childTnLst>
                          </p:cTn>
                        </p:par>
                        <p:par>
                          <p:cTn id="17" fill="hold" nodeType="afterGroup">
                            <p:stCondLst>
                              <p:cond delay="2500"/>
                            </p:stCondLst>
                            <p:childTnLst>
                              <p:par>
                                <p:cTn id="18" presetID="1" presetClass="entr" presetSubtype="0" fill="hold" nodeType="afterEffect">
                                  <p:stCondLst>
                                    <p:cond delay="500"/>
                                  </p:stCondLst>
                                  <p:childTnLst>
                                    <p:set>
                                      <p:cBhvr>
                                        <p:cTn id="19" dur="1" fill="hold">
                                          <p:stCondLst>
                                            <p:cond delay="499"/>
                                          </p:stCondLst>
                                        </p:cTn>
                                        <p:tgtEl>
                                          <p:spTgt spid="10245"/>
                                        </p:tgtEl>
                                        <p:attrNameLst>
                                          <p:attrName>style.visibility</p:attrName>
                                        </p:attrNameLst>
                                      </p:cBhvr>
                                      <p:to>
                                        <p:strVal val="visible"/>
                                      </p:to>
                                    </p:set>
                                  </p:childTnLst>
                                </p:cTn>
                              </p:par>
                            </p:childTnLst>
                          </p:cTn>
                        </p:par>
                        <p:par>
                          <p:cTn id="20" fill="hold" nodeType="afterGroup">
                            <p:stCondLst>
                              <p:cond delay="3500"/>
                            </p:stCondLst>
                            <p:childTnLst>
                              <p:par>
                                <p:cTn id="21" presetID="1" presetClass="entr" presetSubtype="0" fill="hold" grpId="0" nodeType="afterEffect">
                                  <p:stCondLst>
                                    <p:cond delay="500"/>
                                  </p:stCondLst>
                                  <p:childTnLst>
                                    <p:set>
                                      <p:cBhvr>
                                        <p:cTn id="22" dur="1" fill="hold">
                                          <p:stCondLst>
                                            <p:cond delay="499"/>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7" name="Object 9"/>
          <p:cNvGraphicFramePr>
            <a:graphicFrameLocks noChangeAspect="1"/>
          </p:cNvGraphicFramePr>
          <p:nvPr/>
        </p:nvGraphicFramePr>
        <p:xfrm>
          <a:off x="201613" y="727075"/>
          <a:ext cx="8678862" cy="5365750"/>
        </p:xfrm>
        <a:graphic>
          <a:graphicData uri="http://schemas.openxmlformats.org/presentationml/2006/ole">
            <mc:AlternateContent xmlns:mc="http://schemas.openxmlformats.org/markup-compatibility/2006">
              <mc:Choice xmlns:v="urn:schemas-microsoft-com:vml" Requires="v">
                <p:oleObj spid="_x0000_s37898" name="Chart" r:id="rId3" imgW="9471965" imgH="5852485" progId="Excel.Chart.8">
                  <p:embed/>
                </p:oleObj>
              </mc:Choice>
              <mc:Fallback>
                <p:oleObj name="Chart" r:id="rId3" imgW="9471965" imgH="5852485" progId="Excel.Chart.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3" y="727075"/>
                        <a:ext cx="8678862" cy="536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1027"/>
          <p:cNvSpPr>
            <a:spLocks noGrp="1" noChangeArrowheads="1"/>
          </p:cNvSpPr>
          <p:nvPr>
            <p:ph type="title"/>
          </p:nvPr>
        </p:nvSpPr>
        <p:spPr>
          <a:xfrm>
            <a:off x="228600" y="457200"/>
            <a:ext cx="4102100" cy="1143000"/>
          </a:xfrm>
        </p:spPr>
        <p:txBody>
          <a:bodyPr/>
          <a:lstStyle/>
          <a:p>
            <a:pPr algn="l"/>
            <a:r>
              <a:rPr lang="en-US" altLang="en-US" sz="5400" i="1">
                <a:latin typeface="Times New Roman" panose="02020603050405020304" pitchFamily="18" charset="0"/>
              </a:rPr>
              <a:t>Precipitation</a:t>
            </a:r>
            <a:endParaRPr lang="en-US" altLang="en-US"/>
          </a:p>
        </p:txBody>
      </p:sp>
      <p:sp>
        <p:nvSpPr>
          <p:cNvPr id="38917" name="Text Box 1029"/>
          <p:cNvSpPr txBox="1">
            <a:spLocks noChangeArrowheads="1"/>
          </p:cNvSpPr>
          <p:nvPr>
            <p:ph type="body" idx="1"/>
          </p:nvPr>
        </p:nvSpPr>
        <p:spPr>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2800"/>
              <a:t>0.75 m snow fall, 25 days in November = 0.45 m water equivalent for November</a:t>
            </a:r>
          </a:p>
          <a:p>
            <a:endParaRPr lang="en-US" altLang="en-US" sz="2800"/>
          </a:p>
          <a:p>
            <a:r>
              <a:rPr lang="en-US" altLang="en-US" sz="2800"/>
              <a:t>Precipitation data from 1948-54 dataset shows Nov. precip. 7% annual total</a:t>
            </a:r>
          </a:p>
          <a:p>
            <a:endParaRPr lang="en-US" altLang="en-US" sz="2800"/>
          </a:p>
          <a:p>
            <a:r>
              <a:rPr lang="en-US" altLang="en-US" sz="2800"/>
              <a:t>Gives average water equivalent  precipitation at BG35 of 6.20 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0" end="0"/>
                                            </p:txEl>
                                          </p:spTgt>
                                        </p:tgtEl>
                                        <p:attrNameLst>
                                          <p:attrName>ppt_c</p:attrName>
                                        </p:attrNameLst>
                                      </p:cBhvr>
                                      <p:to>
                                        <a:schemeClr val="bg1"/>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91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2" end="2"/>
                                            </p:txEl>
                                          </p:spTgt>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891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8917">
                                            <p:txEl>
                                              <p:pRg st="4" end="4"/>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2"/>
          <p:cNvGraphicFramePr>
            <a:graphicFrameLocks noChangeAspect="1"/>
          </p:cNvGraphicFramePr>
          <p:nvPr/>
        </p:nvGraphicFramePr>
        <p:xfrm>
          <a:off x="11113" y="522288"/>
          <a:ext cx="9123362" cy="5815012"/>
        </p:xfrm>
        <a:graphic>
          <a:graphicData uri="http://schemas.openxmlformats.org/presentationml/2006/ole">
            <mc:AlternateContent xmlns:mc="http://schemas.openxmlformats.org/markup-compatibility/2006">
              <mc:Choice xmlns:v="urn:schemas-microsoft-com:vml" Requires="v">
                <p:oleObj spid="_x0000_s39939" name="Chart" r:id="rId3" imgW="9121445" imgH="5814446" progId="Excel.Chart.8">
                  <p:embed/>
                </p:oleObj>
              </mc:Choice>
              <mc:Fallback>
                <p:oleObj name="Chart" r:id="rId3" imgW="9121445" imgH="5814446"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3" y="522288"/>
                        <a:ext cx="9123362" cy="581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solidFill>
                  <a:srgbClr val="FF0000"/>
                </a:solidFill>
              </a:rPr>
              <a:t>Glacier morphology</a:t>
            </a:r>
          </a:p>
        </p:txBody>
      </p:sp>
      <p:sp>
        <p:nvSpPr>
          <p:cNvPr id="45059" name="Text Box 3"/>
          <p:cNvSpPr txBox="1">
            <a:spLocks noChangeArrowheads="1"/>
          </p:cNvSpPr>
          <p:nvPr/>
        </p:nvSpPr>
        <p:spPr bwMode="auto">
          <a:xfrm>
            <a:off x="1066800" y="2057400"/>
            <a:ext cx="6264275" cy="421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50000"/>
              </a:lnSpc>
              <a:buFont typeface="Wingdings" panose="05000000000000000000" pitchFamily="2" charset="2"/>
              <a:buNone/>
            </a:pPr>
            <a:r>
              <a:rPr lang="en-US" altLang="en-US" sz="3600" b="1">
                <a:latin typeface="Tahoma" panose="020B0604030504040204" pitchFamily="34" charset="0"/>
              </a:rPr>
              <a:t>Surveying of</a:t>
            </a:r>
          </a:p>
          <a:p>
            <a:pPr eaLnBrk="1" hangingPunct="1">
              <a:lnSpc>
                <a:spcPct val="150000"/>
              </a:lnSpc>
              <a:buSzPct val="70000"/>
              <a:buFont typeface="Wingdings" panose="05000000000000000000" pitchFamily="2" charset="2"/>
              <a:buChar char="q"/>
            </a:pPr>
            <a:r>
              <a:rPr lang="en-US" altLang="en-US" sz="3600" b="1">
                <a:latin typeface="Tahoma" panose="020B0604030504040204" pitchFamily="34" charset="0"/>
              </a:rPr>
              <a:t> Profiles on the glacier</a:t>
            </a:r>
          </a:p>
          <a:p>
            <a:pPr eaLnBrk="1" hangingPunct="1">
              <a:lnSpc>
                <a:spcPct val="150000"/>
              </a:lnSpc>
              <a:buSzPct val="70000"/>
              <a:buFont typeface="Wingdings" panose="05000000000000000000" pitchFamily="2" charset="2"/>
              <a:buChar char="q"/>
            </a:pPr>
            <a:r>
              <a:rPr lang="en-US" altLang="en-US" sz="3600" b="1">
                <a:latin typeface="Tahoma" panose="020B0604030504040204" pitchFamily="34" charset="0"/>
              </a:rPr>
              <a:t> Old moraines</a:t>
            </a:r>
          </a:p>
          <a:p>
            <a:pPr eaLnBrk="1" hangingPunct="1">
              <a:lnSpc>
                <a:spcPct val="150000"/>
              </a:lnSpc>
              <a:buSzPct val="70000"/>
              <a:buFont typeface="Wingdings" panose="05000000000000000000" pitchFamily="2" charset="2"/>
              <a:buChar char="q"/>
            </a:pPr>
            <a:r>
              <a:rPr lang="en-US" altLang="en-US" sz="3600" b="1">
                <a:latin typeface="Tahoma" panose="020B0604030504040204" pitchFamily="34" charset="0"/>
              </a:rPr>
              <a:t> lagoon shoreline</a:t>
            </a:r>
          </a:p>
          <a:p>
            <a:pPr eaLnBrk="1" hangingPunct="1">
              <a:lnSpc>
                <a:spcPct val="150000"/>
              </a:lnSpc>
              <a:buSzPct val="70000"/>
              <a:buFont typeface="Wingdings" panose="05000000000000000000" pitchFamily="2" charset="2"/>
              <a:buChar char="q"/>
            </a:pPr>
            <a:r>
              <a:rPr lang="en-US" altLang="en-US" sz="3600" b="1">
                <a:latin typeface="Tahoma" panose="020B0604030504040204" pitchFamily="34" charset="0"/>
              </a:rPr>
              <a:t> lagoon depth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solidFill>
                  <a:srgbClr val="FF0000"/>
                </a:solidFill>
              </a:rPr>
              <a:t>Area and volume change</a:t>
            </a:r>
          </a:p>
        </p:txBody>
      </p:sp>
      <p:sp>
        <p:nvSpPr>
          <p:cNvPr id="47107" name="Text Box 3"/>
          <p:cNvSpPr txBox="1">
            <a:spLocks noChangeArrowheads="1"/>
          </p:cNvSpPr>
          <p:nvPr/>
        </p:nvSpPr>
        <p:spPr bwMode="auto">
          <a:xfrm>
            <a:off x="838200" y="2743200"/>
            <a:ext cx="79581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800">
                <a:latin typeface="Tahoma" panose="020B0604030504040204" pitchFamily="34" charset="0"/>
              </a:rPr>
              <a:t>Since 1947 Brown Glacier lost </a:t>
            </a:r>
            <a:r>
              <a:rPr lang="en-US" altLang="en-US" sz="2800">
                <a:latin typeface="Tahoma" panose="020B0604030504040204" pitchFamily="34" charset="0"/>
                <a:cs typeface="Times New Roman" panose="02020603050405020304" pitchFamily="18" charset="0"/>
              </a:rPr>
              <a:t>1.6</a:t>
            </a:r>
            <a:r>
              <a:rPr lang="en-US" altLang="en-US" sz="2800">
                <a:latin typeface="Tahoma" panose="020B0604030504040204" pitchFamily="34" charset="0"/>
                <a:cs typeface="Times New Roman" panose="02020603050405020304" pitchFamily="18" charset="0"/>
                <a:sym typeface="Symbol" panose="05050102010706020507" pitchFamily="18" charset="2"/>
              </a:rPr>
              <a:t></a:t>
            </a:r>
            <a:r>
              <a:rPr lang="en-US" altLang="en-US" sz="2800">
                <a:latin typeface="Tahoma" panose="020B0604030504040204" pitchFamily="34" charset="0"/>
                <a:cs typeface="Times New Roman" panose="02020603050405020304" pitchFamily="18" charset="0"/>
              </a:rPr>
              <a:t>10</a:t>
            </a:r>
            <a:r>
              <a:rPr lang="en-US" altLang="en-US" sz="2800" baseline="30000">
                <a:latin typeface="Tahoma" panose="020B0604030504040204" pitchFamily="34" charset="0"/>
                <a:cs typeface="Times New Roman" panose="02020603050405020304" pitchFamily="18" charset="0"/>
              </a:rPr>
              <a:t>8</a:t>
            </a:r>
            <a:r>
              <a:rPr lang="en-US" altLang="en-US" sz="2800">
                <a:latin typeface="Tahoma" panose="020B0604030504040204" pitchFamily="34" charset="0"/>
                <a:cs typeface="Times New Roman" panose="02020603050405020304" pitchFamily="18" charset="0"/>
              </a:rPr>
              <a:t> m</a:t>
            </a:r>
            <a:r>
              <a:rPr lang="en-US" altLang="en-US" sz="2800" baseline="30000">
                <a:latin typeface="Tahoma" panose="020B0604030504040204" pitchFamily="34" charset="0"/>
                <a:cs typeface="Times New Roman" panose="02020603050405020304" pitchFamily="18" charset="0"/>
              </a:rPr>
              <a:t>3</a:t>
            </a:r>
            <a:r>
              <a:rPr lang="en-US" altLang="en-US" sz="2800">
                <a:latin typeface="Tahoma" panose="020B0604030504040204" pitchFamily="34" charset="0"/>
                <a:cs typeface="Times New Roman" panose="02020603050405020304" pitchFamily="18" charset="0"/>
              </a:rPr>
              <a:t> (15%) of ice and reduced its area by 3.7</a:t>
            </a:r>
            <a:r>
              <a:rPr lang="en-US" altLang="en-US" sz="2800">
                <a:latin typeface="Tahoma" panose="020B0604030504040204" pitchFamily="34" charset="0"/>
                <a:cs typeface="Times New Roman" panose="02020603050405020304" pitchFamily="18" charset="0"/>
                <a:sym typeface="Symbol" panose="05050102010706020507" pitchFamily="18" charset="2"/>
              </a:rPr>
              <a:t></a:t>
            </a:r>
            <a:r>
              <a:rPr lang="en-US" altLang="en-US" sz="2800">
                <a:latin typeface="Tahoma" panose="020B0604030504040204" pitchFamily="34" charset="0"/>
                <a:cs typeface="Times New Roman" panose="02020603050405020304" pitchFamily="18" charset="0"/>
              </a:rPr>
              <a:t>10</a:t>
            </a:r>
            <a:r>
              <a:rPr lang="en-US" altLang="en-US" sz="2800" baseline="30000">
                <a:latin typeface="Tahoma" panose="020B0604030504040204" pitchFamily="34" charset="0"/>
                <a:cs typeface="Times New Roman" panose="02020603050405020304" pitchFamily="18" charset="0"/>
              </a:rPr>
              <a:t>6</a:t>
            </a:r>
            <a:r>
              <a:rPr lang="en-US" altLang="en-US" sz="2800">
                <a:latin typeface="Tahoma" panose="020B0604030504040204" pitchFamily="34" charset="0"/>
                <a:cs typeface="Times New Roman" panose="02020603050405020304" pitchFamily="18" charset="0"/>
              </a:rPr>
              <a:t> m</a:t>
            </a:r>
            <a:r>
              <a:rPr lang="en-US" altLang="en-US" sz="2800" baseline="30000">
                <a:latin typeface="Tahoma" panose="020B0604030504040204" pitchFamily="34" charset="0"/>
                <a:cs typeface="Times New Roman" panose="02020603050405020304" pitchFamily="18" charset="0"/>
              </a:rPr>
              <a:t>2  </a:t>
            </a:r>
            <a:r>
              <a:rPr lang="en-US" altLang="en-US" sz="2800">
                <a:latin typeface="Tahoma" panose="020B0604030504040204" pitchFamily="34" charset="0"/>
                <a:cs typeface="Times New Roman" panose="02020603050405020304" pitchFamily="18" charset="0"/>
              </a:rPr>
              <a:t>(33%)</a:t>
            </a:r>
            <a:r>
              <a:rPr lang="en-US" altLang="en-US" sz="2800">
                <a:latin typeface="Tahoma" panose="020B0604030504040204" pitchFamily="34" charset="0"/>
              </a:rPr>
              <a:t> </a:t>
            </a:r>
          </a:p>
        </p:txBody>
      </p:sp>
      <p:sp>
        <p:nvSpPr>
          <p:cNvPr id="47108" name="Text Box 4"/>
          <p:cNvSpPr txBox="1">
            <a:spLocks noChangeArrowheads="1"/>
          </p:cNvSpPr>
          <p:nvPr/>
        </p:nvSpPr>
        <p:spPr bwMode="auto">
          <a:xfrm>
            <a:off x="838200" y="4562475"/>
            <a:ext cx="802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a:latin typeface="Tahoma" panose="020B0604030504040204" pitchFamily="34" charset="0"/>
              </a:rPr>
              <a:t>Average thickness change since 1947: -0.55 m a</a:t>
            </a:r>
            <a:r>
              <a:rPr lang="en-US" altLang="en-US" sz="2800" baseline="30000">
                <a:latin typeface="Tahoma" panose="020B0604030504040204" pitchFamily="34" charset="0"/>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90513" y="231775"/>
            <a:ext cx="8534400" cy="785813"/>
          </a:xfrm>
        </p:spPr>
        <p:txBody>
          <a:bodyPr/>
          <a:lstStyle/>
          <a:p>
            <a:r>
              <a:rPr lang="en-US" altLang="en-US">
                <a:solidFill>
                  <a:srgbClr val="FF0000"/>
                </a:solidFill>
              </a:rPr>
              <a:t>Comparison with Alaskan Glaciers</a:t>
            </a:r>
          </a:p>
        </p:txBody>
      </p:sp>
      <p:graphicFrame>
        <p:nvGraphicFramePr>
          <p:cNvPr id="48131" name="Object 3"/>
          <p:cNvGraphicFramePr>
            <a:graphicFrameLocks noChangeAspect="1"/>
          </p:cNvGraphicFramePr>
          <p:nvPr/>
        </p:nvGraphicFramePr>
        <p:xfrm>
          <a:off x="762000" y="1136650"/>
          <a:ext cx="6962775" cy="5721350"/>
        </p:xfrm>
        <a:graphic>
          <a:graphicData uri="http://schemas.openxmlformats.org/presentationml/2006/ole">
            <mc:AlternateContent xmlns:mc="http://schemas.openxmlformats.org/markup-compatibility/2006">
              <mc:Choice xmlns:v="urn:schemas-microsoft-com:vml" Requires="v">
                <p:oleObj spid="_x0000_s48135" name="SPW 6.0 Graph" r:id="rId3" imgW="8286120" imgH="6808320" progId="SigmaPlotGraphicObject.4">
                  <p:embed/>
                </p:oleObj>
              </mc:Choice>
              <mc:Fallback>
                <p:oleObj name="SPW 6.0 Graph" r:id="rId3" imgW="8286120" imgH="6808320" progId="SigmaPlotGraphicObjec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136650"/>
                        <a:ext cx="6962775" cy="572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Line 4"/>
          <p:cNvSpPr>
            <a:spLocks noChangeShapeType="1"/>
          </p:cNvSpPr>
          <p:nvPr/>
        </p:nvSpPr>
        <p:spPr bwMode="auto">
          <a:xfrm flipH="1">
            <a:off x="7696200" y="3962400"/>
            <a:ext cx="83820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8133" name="Text Box 5"/>
          <p:cNvSpPr txBox="1">
            <a:spLocks noChangeArrowheads="1"/>
          </p:cNvSpPr>
          <p:nvPr/>
        </p:nvSpPr>
        <p:spPr bwMode="auto">
          <a:xfrm>
            <a:off x="7696200" y="4191000"/>
            <a:ext cx="1311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b="1">
                <a:solidFill>
                  <a:schemeClr val="accent2"/>
                </a:solidFill>
              </a:rPr>
              <a:t>Brown Glacier</a:t>
            </a:r>
          </a:p>
        </p:txBody>
      </p:sp>
      <p:sp>
        <p:nvSpPr>
          <p:cNvPr id="48134" name="Line 6"/>
          <p:cNvSpPr>
            <a:spLocks noChangeShapeType="1"/>
          </p:cNvSpPr>
          <p:nvPr/>
        </p:nvSpPr>
        <p:spPr bwMode="auto">
          <a:xfrm>
            <a:off x="1371600" y="3962400"/>
            <a:ext cx="6172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74688" y="185738"/>
            <a:ext cx="7772400" cy="819150"/>
          </a:xfrm>
        </p:spPr>
        <p:txBody>
          <a:bodyPr/>
          <a:lstStyle/>
          <a:p>
            <a:r>
              <a:rPr lang="en-US" altLang="en-US">
                <a:solidFill>
                  <a:srgbClr val="FF0000"/>
                </a:solidFill>
              </a:rPr>
              <a:t>Glacier dynamics</a:t>
            </a:r>
          </a:p>
        </p:txBody>
      </p:sp>
      <p:pic>
        <p:nvPicPr>
          <p:cNvPr id="49155" name="Picture 3" descr="E:\MyDocuments\Brown\long.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14425"/>
            <a:ext cx="7950200" cy="5743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8600" y="0"/>
            <a:ext cx="7772400" cy="1143000"/>
          </a:xfrm>
        </p:spPr>
        <p:txBody>
          <a:bodyPr/>
          <a:lstStyle/>
          <a:p>
            <a:r>
              <a:rPr lang="en-US" altLang="en-US" b="1">
                <a:solidFill>
                  <a:srgbClr val="FF0000"/>
                </a:solidFill>
                <a:latin typeface="Arial" panose="020B0604020202020204" pitchFamily="34" charset="0"/>
              </a:rPr>
              <a:t>Ice Flux</a:t>
            </a:r>
          </a:p>
        </p:txBody>
      </p:sp>
      <p:sp>
        <p:nvSpPr>
          <p:cNvPr id="50179" name="Line 3"/>
          <p:cNvSpPr>
            <a:spLocks noChangeShapeType="1"/>
          </p:cNvSpPr>
          <p:nvPr/>
        </p:nvSpPr>
        <p:spPr bwMode="auto">
          <a:xfrm>
            <a:off x="4495800" y="3276600"/>
            <a:ext cx="38100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0180" name="Line 4"/>
          <p:cNvSpPr>
            <a:spLocks noChangeShapeType="1"/>
          </p:cNvSpPr>
          <p:nvPr/>
        </p:nvSpPr>
        <p:spPr bwMode="auto">
          <a:xfrm flipV="1">
            <a:off x="4724400" y="3657600"/>
            <a:ext cx="685800" cy="762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solidFill>
                  <a:srgbClr val="FF0000"/>
                </a:solidFill>
              </a:rPr>
              <a:t>Ice Flux</a:t>
            </a:r>
          </a:p>
        </p:txBody>
      </p:sp>
      <p:sp>
        <p:nvSpPr>
          <p:cNvPr id="51203" name="Text Box 3"/>
          <p:cNvSpPr txBox="1">
            <a:spLocks noChangeArrowheads="1"/>
          </p:cNvSpPr>
          <p:nvPr/>
        </p:nvSpPr>
        <p:spPr bwMode="auto">
          <a:xfrm>
            <a:off x="914400" y="2438400"/>
            <a:ext cx="79279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50000"/>
              </a:lnSpc>
            </a:pPr>
            <a:r>
              <a:rPr lang="en-US" altLang="en-US" sz="2800">
                <a:latin typeface="Tahoma" panose="020B0604030504040204" pitchFamily="34" charset="0"/>
              </a:rPr>
              <a:t>Ice flux at BG35: </a:t>
            </a:r>
            <a:r>
              <a:rPr lang="en-US" altLang="en-US" sz="2800">
                <a:latin typeface="Tahoma" panose="020B0604030504040204" pitchFamily="34" charset="0"/>
                <a:cs typeface="Times New Roman" panose="02020603050405020304" pitchFamily="18" charset="0"/>
              </a:rPr>
              <a:t>1.9</a:t>
            </a:r>
            <a:r>
              <a:rPr lang="en-US" altLang="en-US" sz="2800">
                <a:latin typeface="Tahoma" panose="020B0604030504040204" pitchFamily="34" charset="0"/>
                <a:cs typeface="Times New Roman" panose="02020603050405020304" pitchFamily="18" charset="0"/>
                <a:sym typeface="Symbol" panose="05050102010706020507" pitchFamily="18" charset="2"/>
              </a:rPr>
              <a:t></a:t>
            </a:r>
            <a:r>
              <a:rPr lang="en-US" altLang="en-US" sz="2800">
                <a:latin typeface="Tahoma" panose="020B0604030504040204" pitchFamily="34" charset="0"/>
                <a:cs typeface="Times New Roman" panose="02020603050405020304" pitchFamily="18" charset="0"/>
              </a:rPr>
              <a:t>10</a:t>
            </a:r>
            <a:r>
              <a:rPr lang="en-US" altLang="en-US" sz="2800" baseline="30000">
                <a:latin typeface="Tahoma" panose="020B0604030504040204" pitchFamily="34" charset="0"/>
                <a:cs typeface="Times New Roman" panose="02020603050405020304" pitchFamily="18" charset="0"/>
              </a:rPr>
              <a:t>6 </a:t>
            </a:r>
            <a:r>
              <a:rPr lang="en-US" altLang="en-US" sz="2800">
                <a:latin typeface="Tahoma" panose="020B0604030504040204" pitchFamily="34" charset="0"/>
                <a:cs typeface="Times New Roman" panose="02020603050405020304" pitchFamily="18" charset="0"/>
              </a:rPr>
              <a:t>m</a:t>
            </a:r>
            <a:r>
              <a:rPr lang="en-US" altLang="en-US" sz="2800" baseline="30000">
                <a:latin typeface="Tahoma" panose="020B0604030504040204" pitchFamily="34" charset="0"/>
                <a:cs typeface="Times New Roman" panose="02020603050405020304" pitchFamily="18" charset="0"/>
              </a:rPr>
              <a:t>3</a:t>
            </a:r>
            <a:r>
              <a:rPr lang="en-US" altLang="en-US" sz="2800">
                <a:latin typeface="Tahoma" panose="020B0604030504040204" pitchFamily="34" charset="0"/>
                <a:cs typeface="Times New Roman" panose="02020603050405020304" pitchFamily="18" charset="0"/>
              </a:rPr>
              <a:t>a</a:t>
            </a:r>
            <a:r>
              <a:rPr lang="en-US" altLang="en-US" sz="2800" baseline="30000">
                <a:latin typeface="Tahoma" panose="020B0604030504040204" pitchFamily="34" charset="0"/>
                <a:cs typeface="Times New Roman" panose="02020603050405020304" pitchFamily="18" charset="0"/>
              </a:rPr>
              <a:t>-1</a:t>
            </a:r>
            <a:r>
              <a:rPr lang="en-US" altLang="en-US" sz="2800">
                <a:latin typeface="Tahoma" panose="020B0604030504040204" pitchFamily="34" charset="0"/>
              </a:rPr>
              <a:t> </a:t>
            </a:r>
          </a:p>
          <a:p>
            <a:pPr eaLnBrk="1" hangingPunct="1">
              <a:lnSpc>
                <a:spcPct val="150000"/>
              </a:lnSpc>
              <a:buFont typeface="Wingdings" panose="05000000000000000000" pitchFamily="2" charset="2"/>
              <a:buChar char="Ø"/>
            </a:pPr>
            <a:r>
              <a:rPr lang="en-US" altLang="en-US" sz="2800">
                <a:latin typeface="Tahoma" panose="020B0604030504040204" pitchFamily="34" charset="0"/>
              </a:rPr>
              <a:t> </a:t>
            </a:r>
            <a:r>
              <a:rPr lang="en-US" altLang="en-US" sz="2800">
                <a:latin typeface="Tahoma" panose="020B0604030504040204" pitchFamily="34" charset="0"/>
                <a:cs typeface="Times New Roman" panose="02020603050405020304" pitchFamily="18" charset="0"/>
              </a:rPr>
              <a:t>0.7 m</a:t>
            </a:r>
            <a:r>
              <a:rPr lang="en-US" altLang="en-US" sz="2800" baseline="30000">
                <a:latin typeface="Tahoma" panose="020B0604030504040204" pitchFamily="34" charset="0"/>
                <a:cs typeface="Times New Roman" panose="02020603050405020304" pitchFamily="18" charset="0"/>
              </a:rPr>
              <a:t> </a:t>
            </a:r>
            <a:r>
              <a:rPr lang="en-US" altLang="en-US" sz="2800">
                <a:latin typeface="Tahoma" panose="020B0604030504040204" pitchFamily="34" charset="0"/>
                <a:cs typeface="Times New Roman" panose="02020603050405020304" pitchFamily="18" charset="0"/>
              </a:rPr>
              <a:t>a</a:t>
            </a:r>
            <a:r>
              <a:rPr lang="en-US" altLang="en-US" sz="2800" baseline="30000">
                <a:latin typeface="Tahoma" panose="020B0604030504040204" pitchFamily="34" charset="0"/>
                <a:cs typeface="Times New Roman" panose="02020603050405020304" pitchFamily="18" charset="0"/>
              </a:rPr>
              <a:t>-1</a:t>
            </a:r>
            <a:r>
              <a:rPr lang="en-US" altLang="en-US" sz="2800">
                <a:latin typeface="Tahoma" panose="020B0604030504040204" pitchFamily="34" charset="0"/>
                <a:cs typeface="Times New Roman" panose="02020603050405020304" pitchFamily="18" charset="0"/>
              </a:rPr>
              <a:t> of average accumulation above BG35</a:t>
            </a:r>
          </a:p>
          <a:p>
            <a:pPr eaLnBrk="1" hangingPunct="1">
              <a:lnSpc>
                <a:spcPct val="150000"/>
              </a:lnSpc>
              <a:buFont typeface="Wingdings" panose="05000000000000000000" pitchFamily="2" charset="2"/>
              <a:buChar char="Ø"/>
            </a:pPr>
            <a:r>
              <a:rPr lang="en-US" altLang="en-US" sz="2800">
                <a:latin typeface="Tahoma" panose="020B0604030504040204" pitchFamily="34" charset="0"/>
                <a:cs typeface="Times New Roman" panose="02020603050405020304" pitchFamily="18" charset="0"/>
              </a:rPr>
              <a:t> 2.0 m a</a:t>
            </a:r>
            <a:r>
              <a:rPr lang="en-US" altLang="en-US" sz="2800" baseline="30000">
                <a:latin typeface="Tahoma" panose="020B0604030504040204" pitchFamily="34" charset="0"/>
                <a:cs typeface="Times New Roman" panose="02020603050405020304" pitchFamily="18" charset="0"/>
              </a:rPr>
              <a:t>-1</a:t>
            </a:r>
            <a:r>
              <a:rPr lang="en-US" altLang="en-US" sz="2800">
                <a:latin typeface="Tahoma" panose="020B0604030504040204" pitchFamily="34" charset="0"/>
                <a:cs typeface="Times New Roman" panose="02020603050405020304" pitchFamily="18" charset="0"/>
              </a:rPr>
              <a:t> of average ablation below BG35</a:t>
            </a:r>
          </a:p>
          <a:p>
            <a:pPr eaLnBrk="1" hangingPunct="1">
              <a:lnSpc>
                <a:spcPct val="150000"/>
              </a:lnSpc>
            </a:pPr>
            <a:r>
              <a:rPr lang="en-US" altLang="en-US" sz="2800">
                <a:latin typeface="Tahoma" panose="020B0604030504040204" pitchFamily="34" charset="0"/>
                <a:cs typeface="Times New Roman" panose="02020603050405020304" pitchFamily="18" charset="0"/>
              </a:rPr>
              <a:t>BG35 is in the upper ablation area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solidFill>
                  <a:srgbClr val="FF0000"/>
                </a:solidFill>
              </a:rPr>
              <a:t>Ice thickness</a:t>
            </a:r>
          </a:p>
        </p:txBody>
      </p:sp>
      <p:sp>
        <p:nvSpPr>
          <p:cNvPr id="52227" name="Text Box 3"/>
          <p:cNvSpPr txBox="1">
            <a:spLocks noChangeArrowheads="1"/>
          </p:cNvSpPr>
          <p:nvPr/>
        </p:nvSpPr>
        <p:spPr bwMode="auto">
          <a:xfrm>
            <a:off x="341313" y="2092325"/>
            <a:ext cx="86423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200000"/>
              </a:lnSpc>
              <a:buFontTx/>
              <a:buChar char="•"/>
            </a:pPr>
            <a:r>
              <a:rPr lang="en-US" altLang="en-US" sz="2800">
                <a:latin typeface="Tahoma" panose="020B0604030504040204" pitchFamily="34" charset="0"/>
              </a:rPr>
              <a:t> Measured at low elevations with a portable RES</a:t>
            </a:r>
          </a:p>
          <a:p>
            <a:pPr eaLnBrk="1" hangingPunct="1">
              <a:lnSpc>
                <a:spcPct val="200000"/>
              </a:lnSpc>
              <a:buFontTx/>
              <a:buChar char="•"/>
            </a:pPr>
            <a:r>
              <a:rPr lang="en-US" altLang="en-US" sz="2800">
                <a:latin typeface="Tahoma" panose="020B0604030504040204" pitchFamily="34" charset="0"/>
              </a:rPr>
              <a:t> Calculated by assuming no sliding at high elevations</a:t>
            </a:r>
          </a:p>
          <a:p>
            <a:pPr eaLnBrk="1" hangingPunct="1">
              <a:lnSpc>
                <a:spcPct val="200000"/>
              </a:lnSpc>
            </a:pPr>
            <a:r>
              <a:rPr lang="en-US" altLang="en-US" sz="2800">
                <a:latin typeface="Tahoma" panose="020B0604030504040204" pitchFamily="34" charset="0"/>
              </a:rPr>
              <a:t>   </a:t>
            </a:r>
          </a:p>
        </p:txBody>
      </p:sp>
      <p:graphicFrame>
        <p:nvGraphicFramePr>
          <p:cNvPr id="52229" name="Object 5"/>
          <p:cNvGraphicFramePr>
            <a:graphicFrameLocks noChangeAspect="1"/>
          </p:cNvGraphicFramePr>
          <p:nvPr/>
        </p:nvGraphicFramePr>
        <p:xfrm>
          <a:off x="992188" y="4329113"/>
          <a:ext cx="4953000" cy="685800"/>
        </p:xfrm>
        <a:graphic>
          <a:graphicData uri="http://schemas.openxmlformats.org/presentationml/2006/ole">
            <mc:AlternateContent xmlns:mc="http://schemas.openxmlformats.org/markup-compatibility/2006">
              <mc:Choice xmlns:v="urn:schemas-microsoft-com:vml" Requires="v">
                <p:oleObj spid="_x0000_s52230" name="Equation" r:id="rId3" imgW="1650960" imgH="228600" progId="Equation.3">
                  <p:embed/>
                </p:oleObj>
              </mc:Choice>
              <mc:Fallback>
                <p:oleObj name="Equation" r:id="rId3" imgW="165096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188" y="4329113"/>
                        <a:ext cx="4953000" cy="685800"/>
                      </a:xfrm>
                      <a:prstGeom prst="rect">
                        <a:avLst/>
                      </a:prstGeom>
                      <a:solidFill>
                        <a:schemeClr val="hlink"/>
                      </a:solidFill>
                      <a:ln>
                        <a:noFill/>
                      </a:ln>
                      <a:effectLst>
                        <a:outerShdw dist="99190" dir="238833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2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65163" y="144463"/>
            <a:ext cx="7772400" cy="841375"/>
          </a:xfrm>
        </p:spPr>
        <p:txBody>
          <a:bodyPr/>
          <a:lstStyle/>
          <a:p>
            <a:r>
              <a:rPr lang="en-US" altLang="en-US">
                <a:solidFill>
                  <a:srgbClr val="FF0000"/>
                </a:solidFill>
              </a:rPr>
              <a:t>Ice thickness profile</a:t>
            </a:r>
          </a:p>
        </p:txBody>
      </p:sp>
      <p:pic>
        <p:nvPicPr>
          <p:cNvPr id="53251" name="Picture 3" descr="E:\MyDocuments\Brown\profile.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30288"/>
            <a:ext cx="8066088" cy="58277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solidFill>
                  <a:srgbClr val="FF0000"/>
                </a:solidFill>
              </a:rPr>
              <a:t>Flux divergence and mass balance</a:t>
            </a:r>
          </a:p>
        </p:txBody>
      </p:sp>
      <p:sp>
        <p:nvSpPr>
          <p:cNvPr id="54275" name="Freeform 3"/>
          <p:cNvSpPr>
            <a:spLocks/>
          </p:cNvSpPr>
          <p:nvPr/>
        </p:nvSpPr>
        <p:spPr bwMode="auto">
          <a:xfrm>
            <a:off x="1103313" y="2654300"/>
            <a:ext cx="3925887" cy="927100"/>
          </a:xfrm>
          <a:custGeom>
            <a:avLst/>
            <a:gdLst>
              <a:gd name="T0" fmla="*/ 0 w 2473"/>
              <a:gd name="T1" fmla="*/ 0 h 584"/>
              <a:gd name="T2" fmla="*/ 366 w 2473"/>
              <a:gd name="T3" fmla="*/ 56 h 584"/>
              <a:gd name="T4" fmla="*/ 977 w 2473"/>
              <a:gd name="T5" fmla="*/ 239 h 584"/>
              <a:gd name="T6" fmla="*/ 1138 w 2473"/>
              <a:gd name="T7" fmla="*/ 253 h 584"/>
              <a:gd name="T8" fmla="*/ 1166 w 2473"/>
              <a:gd name="T9" fmla="*/ 267 h 584"/>
              <a:gd name="T10" fmla="*/ 1300 w 2473"/>
              <a:gd name="T11" fmla="*/ 302 h 584"/>
              <a:gd name="T12" fmla="*/ 1433 w 2473"/>
              <a:gd name="T13" fmla="*/ 309 h 584"/>
              <a:gd name="T14" fmla="*/ 1581 w 2473"/>
              <a:gd name="T15" fmla="*/ 351 h 584"/>
              <a:gd name="T16" fmla="*/ 1686 w 2473"/>
              <a:gd name="T17" fmla="*/ 393 h 584"/>
              <a:gd name="T18" fmla="*/ 1904 w 2473"/>
              <a:gd name="T19" fmla="*/ 421 h 584"/>
              <a:gd name="T20" fmla="*/ 2073 w 2473"/>
              <a:gd name="T21" fmla="*/ 492 h 584"/>
              <a:gd name="T22" fmla="*/ 2143 w 2473"/>
              <a:gd name="T23" fmla="*/ 541 h 584"/>
              <a:gd name="T24" fmla="*/ 2382 w 2473"/>
              <a:gd name="T25" fmla="*/ 576 h 584"/>
              <a:gd name="T26" fmla="*/ 2473 w 2473"/>
              <a:gd name="T27" fmla="*/ 584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73" h="584">
                <a:moveTo>
                  <a:pt x="0" y="0"/>
                </a:moveTo>
                <a:cubicBezTo>
                  <a:pt x="123" y="15"/>
                  <a:pt x="245" y="30"/>
                  <a:pt x="366" y="56"/>
                </a:cubicBezTo>
                <a:cubicBezTo>
                  <a:pt x="557" y="151"/>
                  <a:pt x="765" y="215"/>
                  <a:pt x="977" y="239"/>
                </a:cubicBezTo>
                <a:cubicBezTo>
                  <a:pt x="1051" y="264"/>
                  <a:pt x="938" y="228"/>
                  <a:pt x="1138" y="253"/>
                </a:cubicBezTo>
                <a:cubicBezTo>
                  <a:pt x="1148" y="254"/>
                  <a:pt x="1156" y="263"/>
                  <a:pt x="1166" y="267"/>
                </a:cubicBezTo>
                <a:cubicBezTo>
                  <a:pt x="1204" y="283"/>
                  <a:pt x="1260" y="298"/>
                  <a:pt x="1300" y="302"/>
                </a:cubicBezTo>
                <a:cubicBezTo>
                  <a:pt x="1344" y="306"/>
                  <a:pt x="1389" y="307"/>
                  <a:pt x="1433" y="309"/>
                </a:cubicBezTo>
                <a:cubicBezTo>
                  <a:pt x="1483" y="321"/>
                  <a:pt x="1533" y="333"/>
                  <a:pt x="1581" y="351"/>
                </a:cubicBezTo>
                <a:cubicBezTo>
                  <a:pt x="1615" y="364"/>
                  <a:pt x="1650" y="386"/>
                  <a:pt x="1686" y="393"/>
                </a:cubicBezTo>
                <a:cubicBezTo>
                  <a:pt x="1757" y="407"/>
                  <a:pt x="1832" y="414"/>
                  <a:pt x="1904" y="421"/>
                </a:cubicBezTo>
                <a:cubicBezTo>
                  <a:pt x="1959" y="435"/>
                  <a:pt x="2026" y="460"/>
                  <a:pt x="2073" y="492"/>
                </a:cubicBezTo>
                <a:cubicBezTo>
                  <a:pt x="2099" y="509"/>
                  <a:pt x="2112" y="529"/>
                  <a:pt x="2143" y="541"/>
                </a:cubicBezTo>
                <a:cubicBezTo>
                  <a:pt x="2221" y="570"/>
                  <a:pt x="2299" y="576"/>
                  <a:pt x="2382" y="576"/>
                </a:cubicBezTo>
                <a:lnTo>
                  <a:pt x="2473" y="584"/>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76" name="Freeform 4"/>
          <p:cNvSpPr>
            <a:spLocks/>
          </p:cNvSpPr>
          <p:nvPr/>
        </p:nvSpPr>
        <p:spPr bwMode="auto">
          <a:xfrm>
            <a:off x="925513" y="4405313"/>
            <a:ext cx="4043362" cy="925512"/>
          </a:xfrm>
          <a:custGeom>
            <a:avLst/>
            <a:gdLst>
              <a:gd name="T0" fmla="*/ 0 w 2547"/>
              <a:gd name="T1" fmla="*/ 0 h 583"/>
              <a:gd name="T2" fmla="*/ 337 w 2547"/>
              <a:gd name="T3" fmla="*/ 42 h 583"/>
              <a:gd name="T4" fmla="*/ 372 w 2547"/>
              <a:gd name="T5" fmla="*/ 56 h 583"/>
              <a:gd name="T6" fmla="*/ 429 w 2547"/>
              <a:gd name="T7" fmla="*/ 70 h 583"/>
              <a:gd name="T8" fmla="*/ 604 w 2547"/>
              <a:gd name="T9" fmla="*/ 147 h 583"/>
              <a:gd name="T10" fmla="*/ 702 w 2547"/>
              <a:gd name="T11" fmla="*/ 168 h 583"/>
              <a:gd name="T12" fmla="*/ 780 w 2547"/>
              <a:gd name="T13" fmla="*/ 210 h 583"/>
              <a:gd name="T14" fmla="*/ 1110 w 2547"/>
              <a:gd name="T15" fmla="*/ 245 h 583"/>
              <a:gd name="T16" fmla="*/ 1363 w 2547"/>
              <a:gd name="T17" fmla="*/ 274 h 583"/>
              <a:gd name="T18" fmla="*/ 1644 w 2547"/>
              <a:gd name="T19" fmla="*/ 302 h 583"/>
              <a:gd name="T20" fmla="*/ 1777 w 2547"/>
              <a:gd name="T21" fmla="*/ 330 h 583"/>
              <a:gd name="T22" fmla="*/ 2086 w 2547"/>
              <a:gd name="T23" fmla="*/ 428 h 583"/>
              <a:gd name="T24" fmla="*/ 2269 w 2547"/>
              <a:gd name="T25" fmla="*/ 442 h 583"/>
              <a:gd name="T26" fmla="*/ 2402 w 2547"/>
              <a:gd name="T27" fmla="*/ 491 h 583"/>
              <a:gd name="T28" fmla="*/ 2508 w 2547"/>
              <a:gd name="T29" fmla="*/ 541 h 583"/>
              <a:gd name="T30" fmla="*/ 2522 w 2547"/>
              <a:gd name="T31" fmla="*/ 562 h 583"/>
              <a:gd name="T32" fmla="*/ 2543 w 2547"/>
              <a:gd name="T33" fmla="*/ 583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47" h="583">
                <a:moveTo>
                  <a:pt x="0" y="0"/>
                </a:moveTo>
                <a:cubicBezTo>
                  <a:pt x="114" y="7"/>
                  <a:pt x="223" y="32"/>
                  <a:pt x="337" y="42"/>
                </a:cubicBezTo>
                <a:cubicBezTo>
                  <a:pt x="349" y="47"/>
                  <a:pt x="360" y="52"/>
                  <a:pt x="372" y="56"/>
                </a:cubicBezTo>
                <a:cubicBezTo>
                  <a:pt x="391" y="62"/>
                  <a:pt x="429" y="70"/>
                  <a:pt x="429" y="70"/>
                </a:cubicBezTo>
                <a:cubicBezTo>
                  <a:pt x="479" y="95"/>
                  <a:pt x="550" y="131"/>
                  <a:pt x="604" y="147"/>
                </a:cubicBezTo>
                <a:cubicBezTo>
                  <a:pt x="636" y="156"/>
                  <a:pt x="671" y="155"/>
                  <a:pt x="702" y="168"/>
                </a:cubicBezTo>
                <a:cubicBezTo>
                  <a:pt x="729" y="179"/>
                  <a:pt x="751" y="204"/>
                  <a:pt x="780" y="210"/>
                </a:cubicBezTo>
                <a:cubicBezTo>
                  <a:pt x="880" y="231"/>
                  <a:pt x="1007" y="237"/>
                  <a:pt x="1110" y="245"/>
                </a:cubicBezTo>
                <a:cubicBezTo>
                  <a:pt x="1213" y="269"/>
                  <a:pt x="1215" y="268"/>
                  <a:pt x="1363" y="274"/>
                </a:cubicBezTo>
                <a:cubicBezTo>
                  <a:pt x="1461" y="288"/>
                  <a:pt x="1538" y="294"/>
                  <a:pt x="1644" y="302"/>
                </a:cubicBezTo>
                <a:cubicBezTo>
                  <a:pt x="1689" y="311"/>
                  <a:pt x="1733" y="321"/>
                  <a:pt x="1777" y="330"/>
                </a:cubicBezTo>
                <a:cubicBezTo>
                  <a:pt x="1874" y="378"/>
                  <a:pt x="1977" y="419"/>
                  <a:pt x="2086" y="428"/>
                </a:cubicBezTo>
                <a:cubicBezTo>
                  <a:pt x="2171" y="435"/>
                  <a:pt x="2194" y="432"/>
                  <a:pt x="2269" y="442"/>
                </a:cubicBezTo>
                <a:cubicBezTo>
                  <a:pt x="2320" y="449"/>
                  <a:pt x="2353" y="481"/>
                  <a:pt x="2402" y="491"/>
                </a:cubicBezTo>
                <a:cubicBezTo>
                  <a:pt x="2426" y="507"/>
                  <a:pt x="2479" y="530"/>
                  <a:pt x="2508" y="541"/>
                </a:cubicBezTo>
                <a:cubicBezTo>
                  <a:pt x="2513" y="548"/>
                  <a:pt x="2515" y="557"/>
                  <a:pt x="2522" y="562"/>
                </a:cubicBezTo>
                <a:cubicBezTo>
                  <a:pt x="2547" y="582"/>
                  <a:pt x="2543" y="554"/>
                  <a:pt x="2543" y="583"/>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77" name="Line 5"/>
          <p:cNvSpPr>
            <a:spLocks noChangeShapeType="1"/>
          </p:cNvSpPr>
          <p:nvPr/>
        </p:nvSpPr>
        <p:spPr bwMode="auto">
          <a:xfrm>
            <a:off x="2133600" y="2895600"/>
            <a:ext cx="0" cy="1828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78" name="Line 6"/>
          <p:cNvSpPr>
            <a:spLocks noChangeShapeType="1"/>
          </p:cNvSpPr>
          <p:nvPr/>
        </p:nvSpPr>
        <p:spPr bwMode="auto">
          <a:xfrm>
            <a:off x="3962400" y="3276600"/>
            <a:ext cx="0" cy="1752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79" name="Line 7"/>
          <p:cNvSpPr>
            <a:spLocks noChangeShapeType="1"/>
          </p:cNvSpPr>
          <p:nvPr/>
        </p:nvSpPr>
        <p:spPr bwMode="auto">
          <a:xfrm>
            <a:off x="914400" y="3581400"/>
            <a:ext cx="1066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80" name="Line 8"/>
          <p:cNvSpPr>
            <a:spLocks noChangeShapeType="1"/>
          </p:cNvSpPr>
          <p:nvPr/>
        </p:nvSpPr>
        <p:spPr bwMode="auto">
          <a:xfrm>
            <a:off x="4191000" y="4267200"/>
            <a:ext cx="1600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81" name="Line 9"/>
          <p:cNvSpPr>
            <a:spLocks noChangeShapeType="1"/>
          </p:cNvSpPr>
          <p:nvPr/>
        </p:nvSpPr>
        <p:spPr bwMode="auto">
          <a:xfrm>
            <a:off x="3048000" y="2286000"/>
            <a:ext cx="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54282" name="Text Box 10"/>
          <p:cNvSpPr txBox="1">
            <a:spLocks noChangeArrowheads="1"/>
          </p:cNvSpPr>
          <p:nvPr/>
        </p:nvSpPr>
        <p:spPr bwMode="auto">
          <a:xfrm>
            <a:off x="898525" y="3622675"/>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t>q(x)</a:t>
            </a:r>
          </a:p>
        </p:txBody>
      </p:sp>
      <p:sp>
        <p:nvSpPr>
          <p:cNvPr id="54283" name="Text Box 11"/>
          <p:cNvSpPr txBox="1">
            <a:spLocks noChangeArrowheads="1"/>
          </p:cNvSpPr>
          <p:nvPr/>
        </p:nvSpPr>
        <p:spPr bwMode="auto">
          <a:xfrm>
            <a:off x="4327525" y="4308475"/>
            <a:ext cx="116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t>q(x+dx)</a:t>
            </a:r>
          </a:p>
        </p:txBody>
      </p:sp>
      <p:sp>
        <p:nvSpPr>
          <p:cNvPr id="54284" name="Text Box 12"/>
          <p:cNvSpPr txBox="1">
            <a:spLocks noChangeArrowheads="1"/>
          </p:cNvSpPr>
          <p:nvPr/>
        </p:nvSpPr>
        <p:spPr bwMode="auto">
          <a:xfrm>
            <a:off x="3260725" y="21748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a:p>
        </p:txBody>
      </p:sp>
      <p:graphicFrame>
        <p:nvGraphicFramePr>
          <p:cNvPr id="54285" name="Object 13"/>
          <p:cNvGraphicFramePr>
            <a:graphicFrameLocks noChangeAspect="1"/>
          </p:cNvGraphicFramePr>
          <p:nvPr/>
        </p:nvGraphicFramePr>
        <p:xfrm>
          <a:off x="3276600" y="2133600"/>
          <a:ext cx="762000" cy="674688"/>
        </p:xfrm>
        <a:graphic>
          <a:graphicData uri="http://schemas.openxmlformats.org/presentationml/2006/ole">
            <mc:AlternateContent xmlns:mc="http://schemas.openxmlformats.org/markup-compatibility/2006">
              <mc:Choice xmlns:v="urn:schemas-microsoft-com:vml" Requires="v">
                <p:oleObj spid="_x0000_s54287" name="Equation" r:id="rId3" imgW="444240" imgH="393480" progId="Equation.3">
                  <p:embed/>
                </p:oleObj>
              </mc:Choice>
              <mc:Fallback>
                <p:oleObj name="Equation" r:id="rId3" imgW="444240" imgH="39348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133600"/>
                        <a:ext cx="762000"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6" name="Object 14"/>
          <p:cNvGraphicFramePr>
            <a:graphicFrameLocks noChangeAspect="1"/>
          </p:cNvGraphicFramePr>
          <p:nvPr/>
        </p:nvGraphicFramePr>
        <p:xfrm>
          <a:off x="2514600" y="5410200"/>
          <a:ext cx="2895600" cy="1247775"/>
        </p:xfrm>
        <a:graphic>
          <a:graphicData uri="http://schemas.openxmlformats.org/presentationml/2006/ole">
            <mc:AlternateContent xmlns:mc="http://schemas.openxmlformats.org/markup-compatibility/2006">
              <mc:Choice xmlns:v="urn:schemas-microsoft-com:vml" Requires="v">
                <p:oleObj spid="_x0000_s54288" name="Equation" r:id="rId5" imgW="914400" imgH="393480" progId="Equation.3">
                  <p:embed/>
                </p:oleObj>
              </mc:Choice>
              <mc:Fallback>
                <p:oleObj name="Equation" r:id="rId5" imgW="914400" imgH="39348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5410200"/>
                        <a:ext cx="2895600" cy="1247775"/>
                      </a:xfrm>
                      <a:prstGeom prst="rect">
                        <a:avLst/>
                      </a:prstGeom>
                      <a:solidFill>
                        <a:schemeClr val="tx2"/>
                      </a:solidFill>
                      <a:ln>
                        <a:noFill/>
                      </a:ln>
                      <a:effectLst>
                        <a:outerShdw dist="107763"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4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E:\MyDocuments\Brown\fluxdivergence.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492125"/>
            <a:ext cx="8128000" cy="5873750"/>
          </a:xfrm>
          <a:prstGeom prst="rect">
            <a:avLst/>
          </a:prstGeom>
          <a:noFill/>
          <a:extLst>
            <a:ext uri="{909E8E84-426E-40DD-AFC4-6F175D3DCCD1}">
              <a14:hiddenFill xmlns:a14="http://schemas.microsoft.com/office/drawing/2010/main">
                <a:solidFill>
                  <a:srgbClr val="FFFFFF"/>
                </a:solidFill>
              </a14:hiddenFill>
            </a:ext>
          </a:extLst>
        </p:spPr>
      </p:pic>
      <p:sp>
        <p:nvSpPr>
          <p:cNvPr id="55299" name="AutoShape 3"/>
          <p:cNvSpPr>
            <a:spLocks noChangeArrowheads="1"/>
          </p:cNvSpPr>
          <p:nvPr/>
        </p:nvSpPr>
        <p:spPr bwMode="auto">
          <a:xfrm>
            <a:off x="7827963" y="1338263"/>
            <a:ext cx="201612" cy="211137"/>
          </a:xfrm>
          <a:prstGeom prst="star5">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61925" y="0"/>
            <a:ext cx="7772400" cy="1143000"/>
          </a:xfrm>
        </p:spPr>
        <p:txBody>
          <a:bodyPr/>
          <a:lstStyle/>
          <a:p>
            <a:r>
              <a:rPr lang="en-US" altLang="en-US">
                <a:solidFill>
                  <a:srgbClr val="FF0000"/>
                </a:solidFill>
              </a:rPr>
              <a:t>Conclusions</a:t>
            </a:r>
          </a:p>
        </p:txBody>
      </p:sp>
      <p:sp>
        <p:nvSpPr>
          <p:cNvPr id="56323" name="Text Box 3"/>
          <p:cNvSpPr txBox="1">
            <a:spLocks noChangeArrowheads="1"/>
          </p:cNvSpPr>
          <p:nvPr/>
        </p:nvSpPr>
        <p:spPr bwMode="auto">
          <a:xfrm>
            <a:off x="733425" y="1314450"/>
            <a:ext cx="8116888" cy="517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FontTx/>
              <a:buChar char="•"/>
            </a:pPr>
            <a:r>
              <a:rPr lang="en-US" altLang="en-US" sz="3200">
                <a:latin typeface="Tahoma" panose="020B0604030504040204" pitchFamily="34" charset="0"/>
              </a:rPr>
              <a:t> </a:t>
            </a:r>
            <a:r>
              <a:rPr lang="en-US" altLang="en-US" sz="2800" b="1">
                <a:latin typeface="Tahoma" panose="020B0604030504040204" pitchFamily="34" charset="0"/>
              </a:rPr>
              <a:t>Variability of climate</a:t>
            </a:r>
          </a:p>
          <a:p>
            <a:pPr>
              <a:lnSpc>
                <a:spcPct val="130000"/>
              </a:lnSpc>
              <a:buFontTx/>
              <a:buChar char="•"/>
            </a:pPr>
            <a:r>
              <a:rPr lang="en-US" altLang="en-US" sz="2800" b="1">
                <a:latin typeface="Tahoma" panose="020B0604030504040204" pitchFamily="34" charset="0"/>
              </a:rPr>
              <a:t> 0.8</a:t>
            </a:r>
            <a:r>
              <a:rPr lang="en-US" altLang="en-US" sz="2800" b="1" baseline="30000">
                <a:latin typeface="Tahoma" panose="020B0604030504040204" pitchFamily="34" charset="0"/>
              </a:rPr>
              <a:t>o</a:t>
            </a:r>
            <a:r>
              <a:rPr lang="en-US" altLang="en-US" sz="2800" b="1">
                <a:latin typeface="Tahoma" panose="020B0604030504040204" pitchFamily="34" charset="0"/>
              </a:rPr>
              <a:t>C warming in last 50 years</a:t>
            </a:r>
          </a:p>
          <a:p>
            <a:pPr>
              <a:lnSpc>
                <a:spcPct val="130000"/>
              </a:lnSpc>
              <a:buFontTx/>
              <a:buChar char="•"/>
            </a:pPr>
            <a:r>
              <a:rPr lang="en-US" altLang="en-US" sz="2800" b="1">
                <a:latin typeface="Tahoma" panose="020B0604030504040204" pitchFamily="34" charset="0"/>
              </a:rPr>
              <a:t> Glacier retreat of land terminating glaciers</a:t>
            </a:r>
          </a:p>
          <a:p>
            <a:pPr>
              <a:lnSpc>
                <a:spcPct val="130000"/>
              </a:lnSpc>
              <a:buFontTx/>
              <a:buChar char="•"/>
            </a:pPr>
            <a:r>
              <a:rPr lang="en-US" altLang="en-US" sz="2800" b="1">
                <a:latin typeface="Tahoma" panose="020B0604030504040204" pitchFamily="34" charset="0"/>
              </a:rPr>
              <a:t> Brown Glacier lost 15% of its volume and</a:t>
            </a:r>
          </a:p>
          <a:p>
            <a:pPr>
              <a:lnSpc>
                <a:spcPct val="130000"/>
              </a:lnSpc>
            </a:pPr>
            <a:r>
              <a:rPr lang="en-US" altLang="en-US" sz="2800" b="1">
                <a:latin typeface="Tahoma" panose="020B0604030504040204" pitchFamily="34" charset="0"/>
              </a:rPr>
              <a:t>   33% of its area since 1947</a:t>
            </a:r>
          </a:p>
          <a:p>
            <a:pPr>
              <a:lnSpc>
                <a:spcPct val="130000"/>
              </a:lnSpc>
              <a:buFontTx/>
              <a:buChar char="•"/>
            </a:pPr>
            <a:r>
              <a:rPr lang="en-US" altLang="en-US" sz="2800" b="1">
                <a:latin typeface="Tahoma" panose="020B0604030504040204" pitchFamily="34" charset="0"/>
              </a:rPr>
              <a:t> Indications for current thickening at high</a:t>
            </a:r>
          </a:p>
          <a:p>
            <a:pPr>
              <a:lnSpc>
                <a:spcPct val="130000"/>
              </a:lnSpc>
            </a:pPr>
            <a:r>
              <a:rPr lang="en-US" altLang="en-US" sz="2800" b="1">
                <a:latin typeface="Tahoma" panose="020B0604030504040204" pitchFamily="34" charset="0"/>
              </a:rPr>
              <a:t>   elevations and thinning at low elevations</a:t>
            </a:r>
          </a:p>
          <a:p>
            <a:pPr>
              <a:lnSpc>
                <a:spcPct val="130000"/>
              </a:lnSpc>
              <a:buFontTx/>
              <a:buChar char="•"/>
            </a:pPr>
            <a:r>
              <a:rPr lang="en-US" altLang="en-US" sz="2800" b="1">
                <a:latin typeface="Tahoma" panose="020B0604030504040204" pitchFamily="34" charset="0"/>
              </a:rPr>
              <a:t> This could be an effect of warming with</a:t>
            </a:r>
          </a:p>
          <a:p>
            <a:pPr>
              <a:lnSpc>
                <a:spcPct val="130000"/>
              </a:lnSpc>
            </a:pPr>
            <a:r>
              <a:rPr lang="en-US" altLang="en-US" sz="2800" b="1">
                <a:latin typeface="Tahoma" panose="020B0604030504040204" pitchFamily="34" charset="0"/>
              </a:rPr>
              <a:t>   an increase in precipitation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6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3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63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63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63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632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632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63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6867" name="Picture 3" descr="C:\Documents and Settings\dthost\My Documents\My Pictures\SMH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675" y="266700"/>
            <a:ext cx="6438900" cy="629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1747" name="Picture 3" descr="C:\Documents and Settings\dthost\My Documents\My Pictures\HI_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63" y="630238"/>
            <a:ext cx="8572500" cy="56435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Whirlpool">
  <a:themeElements>
    <a:clrScheme name="Whirlpool 1">
      <a:dk1>
        <a:srgbClr val="000066"/>
      </a:dk1>
      <a:lt1>
        <a:srgbClr val="CCECFF"/>
      </a:lt1>
      <a:dk2>
        <a:srgbClr val="0000CC"/>
      </a:dk2>
      <a:lt2>
        <a:srgbClr val="CCFFFF"/>
      </a:lt2>
      <a:accent1>
        <a:srgbClr val="CC99FF"/>
      </a:accent1>
      <a:accent2>
        <a:srgbClr val="9999FF"/>
      </a:accent2>
      <a:accent3>
        <a:srgbClr val="AAAAE2"/>
      </a:accent3>
      <a:accent4>
        <a:srgbClr val="AEC9DA"/>
      </a:accent4>
      <a:accent5>
        <a:srgbClr val="E2CAFF"/>
      </a:accent5>
      <a:accent6>
        <a:srgbClr val="8A8AE7"/>
      </a:accent6>
      <a:hlink>
        <a:srgbClr val="99CCFF"/>
      </a:hlink>
      <a:folHlink>
        <a:srgbClr val="0066FF"/>
      </a:folHlink>
    </a:clrScheme>
    <a:fontScheme name="Whirlpool">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Whirlpool 1">
        <a:dk1>
          <a:srgbClr val="000066"/>
        </a:dk1>
        <a:lt1>
          <a:srgbClr val="CCECFF"/>
        </a:lt1>
        <a:dk2>
          <a:srgbClr val="0000CC"/>
        </a:dk2>
        <a:lt2>
          <a:srgbClr val="CCFFFF"/>
        </a:lt2>
        <a:accent1>
          <a:srgbClr val="CC99FF"/>
        </a:accent1>
        <a:accent2>
          <a:srgbClr val="9999FF"/>
        </a:accent2>
        <a:accent3>
          <a:srgbClr val="AAAAE2"/>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 2">
        <a:dk1>
          <a:srgbClr val="000066"/>
        </a:dk1>
        <a:lt1>
          <a:srgbClr val="CCECFF"/>
        </a:lt1>
        <a:dk2>
          <a:srgbClr val="6699FF"/>
        </a:dk2>
        <a:lt2>
          <a:srgbClr val="CCFFFF"/>
        </a:lt2>
        <a:accent1>
          <a:srgbClr val="CC99FF"/>
        </a:accent1>
        <a:accent2>
          <a:srgbClr val="9999FF"/>
        </a:accent2>
        <a:accent3>
          <a:srgbClr val="B8CAFF"/>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Whirlpoo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Designs\Whirlpool.pot</Template>
  <TotalTime>2263</TotalTime>
  <Words>518</Words>
  <Application>Microsoft Office PowerPoint</Application>
  <PresentationFormat>On-screen Show (4:3)</PresentationFormat>
  <Paragraphs>111</Paragraphs>
  <Slides>45</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45</vt:i4>
      </vt:variant>
    </vt:vector>
  </HeadingPairs>
  <TitlesOfParts>
    <vt:vector size="57" baseType="lpstr">
      <vt:lpstr>Times New Roman</vt:lpstr>
      <vt:lpstr>Tahoma</vt:lpstr>
      <vt:lpstr>Monotype Sorts</vt:lpstr>
      <vt:lpstr>Smudger LET</vt:lpstr>
      <vt:lpstr>Arial</vt:lpstr>
      <vt:lpstr>Wingdings 3</vt:lpstr>
      <vt:lpstr>Wingdings</vt:lpstr>
      <vt:lpstr>Symbol</vt:lpstr>
      <vt:lpstr>Whirlpool</vt:lpstr>
      <vt:lpstr>Microsoft Excel Chart</vt:lpstr>
      <vt:lpstr>SigmaPlot 6.0 Graph</vt:lpstr>
      <vt:lpstr>Microsoft Equation 3.0</vt:lpstr>
      <vt:lpstr>PowerPoint Presentation</vt:lpstr>
      <vt:lpstr>PowerPoint Presentation</vt:lpstr>
      <vt:lpstr>Heard Island 2000</vt:lpstr>
      <vt:lpstr>Heard Island 2000</vt:lpstr>
      <vt:lpstr>Heard Island 2000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Precipitation</vt:lpstr>
      <vt:lpstr>PowerPoint Presentation</vt:lpstr>
      <vt:lpstr>Glacier morphology</vt:lpstr>
      <vt:lpstr>PowerPoint Presentation</vt:lpstr>
      <vt:lpstr>Area and volume change</vt:lpstr>
      <vt:lpstr>Comparison with Alaskan Glaciers</vt:lpstr>
      <vt:lpstr>Glacier dynamics</vt:lpstr>
      <vt:lpstr>Ice Flux</vt:lpstr>
      <vt:lpstr>Ice Flux</vt:lpstr>
      <vt:lpstr>Ice thickness</vt:lpstr>
      <vt:lpstr>Ice thickness profile</vt:lpstr>
      <vt:lpstr>Flux divergence and mass balance</vt:lpstr>
      <vt:lpstr>PowerPoint Presentation</vt:lpstr>
      <vt:lpstr>Conclusions</vt:lpstr>
      <vt:lpstr>PowerPoint Presentation</vt:lpstr>
      <vt:lpstr>PowerPoint Presentation</vt:lpstr>
    </vt:vector>
  </TitlesOfParts>
  <Company>aaa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Heard Island 2000</dc:title>
  <dc:creator>doug</dc:creator>
  <cp:lastModifiedBy>Dave Connell</cp:lastModifiedBy>
  <cp:revision>28</cp:revision>
  <dcterms:created xsi:type="dcterms:W3CDTF">2001-04-24T00:54:22Z</dcterms:created>
  <dcterms:modified xsi:type="dcterms:W3CDTF">2020-12-11T05:10:32Z</dcterms:modified>
</cp:coreProperties>
</file>